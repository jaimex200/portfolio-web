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Work Sans"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1 minuto. Presentarse y dejar claro el propósito: no es una charla técnica, es una charla sobre cómo cambia el trabajo de la sala. Avisar de que habrá dos demos cortas y tiempo para preguntas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 rápido, 30 segundos. Lo importante es que vean que hay dos demos y que el último bloque va de lo que necesitamos de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 apertura, 2 minutos. El perito o el investigador con 20 años de experiencia tiene intuiciones que el modelo tarda en aprender: nuestro trabajo es formalizarlas, no sustituirlas. Enganchar con un ejemplo real de la sala si lo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y medio. Responde a la pregunta que nadie hará en voz alta: ¿esto me sustituye? No. Sin cifras del sector ni nombres de proveedores. Las tres capacidades de arriba son las que usará el asistente del tramitador del final; la de abajo es la que nunca tocará.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clave, 2 minutos. Todo lo que viene después se cuelga de aquí. Señalar los tres productos en el ciclo y, sobre todo, la flecha de vuelta: el trabajo de la sala alimenta el sistema. Volver a esta slide mentalmente en cada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Sustituir los ejemplos por tres reglas reales del catálogo que la sala reconozca. Dejar la pregunta final abierta: enlaza con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Rellenar con los porcentajes reales de dos reglas del catálogo; si no se pueden compartir, dejar el contraste cualitativo. La sala entiende esto al instante porque lo vive a diario.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Nada de algoritmo, nada de métricas: entrada, salida y qué cambia. Insistir en el mensaje de abajo: es la primera de las tres peticiones del final. Si el jefe de data pregunta por el método, remitir a una sesión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Cierre del bloque. Confirmar la periodicidad real de recálculo antes de 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Si alguien de la sala ha sufrido la limpieza manual, pedirle que lo cuente en 20 segundos: vale más que la slide. No mencionar la tecnología con la que está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directo, 3 minutos máximo, con el vídeo grabado a mano por si falla. Elegir un caso donde la red se vea a la primera: un taller y una clínica compartidos por tres o cuatro siniestros. Si vas justo de tiempo, enseñar solo el antes y el después en dos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Punto delicado: la palabra "monitorización" se oye como vigilancia. Abrir con lo que gana el investigador: ver su propia cartera y poder defender su carga con datos. Los objetivos de tramitación, una frase y seguir; si se alarga, la sala lo vivirá como cuotas.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guiada por preguntas, no por pantallas: cada pregunta, un clic, una respuesta. No enseñar filtros ni menús. Terminar con la vista de reglas: enlaza con el modelo de pesos y con la petición de reportar reglas que saltan sin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Rellenar con el roadmap real y borrar la frase de guía de abajo. No prometer fechas que no estén cerradas con el jefe de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Es la única parte de la charla pensada para los tramitadores: hablarles a ellos. Evitar "agente investigador" delante de investigadores. Ninguna fecha que no esté cerrada con el jefe de data; si preguntan, "en definición, os contaremos cuando haya piloto". Cerrar enlazando con la siguiente: la petición número uno también alimenta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Esta es la slide con la que tienen que salir de la sala. Decir el canal en voz alta y dejarlo escrito. Si solo recuerdan una cosa, que sea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minutos de preguntas. Si nadie arranca, lanzar una: "¿Qué regla os hace perder más tiempo hoy?". Cerrar repitiendo las tres peticiones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262626"/>
                </a:solidFill>
                <a:latin typeface="Work Sans" pitchFamily="34" charset="0"/>
                <a:ea typeface="Work Sans" pitchFamily="34" charset="-122"/>
                <a:cs typeface="Work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26262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262626"/>
                </a:solidFill>
                <a:latin typeface="Work Sans" pitchFamily="34" charset="0"/>
                <a:ea typeface="Work Sans" pitchFamily="34" charset="-122"/>
                <a:cs typeface="Work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26262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3"/>
        </a:solidFill>
      </p:bgPr>
    </p:bg>
    <p:spTree>
      <p:nvGrpSpPr>
        <p:cNvPr id="1" name=""/>
        <p:cNvGrpSpPr/>
        <p:nvPr/>
      </p:nvGrpSpPr>
      <p:grpSpPr>
        <a:xfrm>
          <a:off x="0" y="0"/>
          <a:ext cx="0" cy="0"/>
          <a:chOff x="0" y="0"/>
          <a:chExt cx="0" cy="0"/>
        </a:xfrm>
      </p:grpSpPr>
      <p:sp>
        <p:nvSpPr>
          <p:cNvPr id="2" name="Shape 0"/>
          <p:cNvSpPr/>
          <p:nvPr/>
        </p:nvSpPr>
        <p:spPr>
          <a:xfrm>
            <a:off x="0" y="0"/>
            <a:ext cx="4064000" cy="6858000"/>
          </a:xfrm>
          <a:prstGeom prst="rect">
            <a:avLst/>
          </a:prstGeom>
          <a:solidFill>
            <a:srgbClr val="D81E05"/>
          </a:solidFill>
          <a:ln/>
        </p:spPr>
      </p:sp>
      <p:sp>
        <p:nvSpPr>
          <p:cNvPr id="3" name="Text 1"/>
          <p:cNvSpPr/>
          <p:nvPr/>
        </p:nvSpPr>
        <p:spPr>
          <a:xfrm>
            <a:off x="609600" y="812800"/>
            <a:ext cx="2930144" cy="345380"/>
          </a:xfrm>
          <a:prstGeom prst="rect">
            <a:avLst/>
          </a:prstGeom>
          <a:noFill/>
          <a:ln/>
        </p:spPr>
        <p:txBody>
          <a:bodyPr wrap="square" lIns="0" tIns="0" rIns="0" bIns="0" rtlCol="0" anchor="t">
            <a:normAutofit/>
          </a:bodyPr>
          <a:lstStyle/>
          <a:p>
            <a:pPr algn="l" indent="0" marL="0">
              <a:lnSpc>
                <a:spcPts val="2520"/>
              </a:lnSpc>
              <a:buNone/>
            </a:pPr>
            <a:r>
              <a:rPr lang="en-US" sz="1800" b="1" spc="400" kern="0" dirty="0">
                <a:solidFill>
                  <a:srgbClr val="FCFBFA"/>
                </a:solidFill>
                <a:latin typeface="Work Sans" pitchFamily="34" charset="0"/>
                <a:ea typeface="Work Sans" pitchFamily="34" charset="-122"/>
                <a:cs typeface="Work Sans" pitchFamily="34" charset="-120"/>
              </a:rPr>
              <a:t>MAPFRE</a:t>
            </a:r>
            <a:endParaRPr lang="en-US" sz="1800" dirty="0"/>
          </a:p>
        </p:txBody>
      </p:sp>
      <p:sp>
        <p:nvSpPr>
          <p:cNvPr id="4" name="Text 2"/>
          <p:cNvSpPr/>
          <p:nvPr/>
        </p:nvSpPr>
        <p:spPr>
          <a:xfrm>
            <a:off x="609600" y="493018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D5CF"/>
                </a:solidFill>
                <a:latin typeface="IBM Plex Sans" pitchFamily="34" charset="0"/>
                <a:ea typeface="IBM Plex Sans" pitchFamily="34" charset="-122"/>
                <a:cs typeface="IBM Plex Sans" pitchFamily="34" charset="-120"/>
              </a:rPr>
              <a:t>FORMACIÓN INTERNA · 45 MIN</a:t>
            </a:r>
            <a:endParaRPr lang="en-US" sz="1200" dirty="0"/>
          </a:p>
        </p:txBody>
      </p:sp>
      <p:sp>
        <p:nvSpPr>
          <p:cNvPr id="5" name="Text 3"/>
          <p:cNvSpPr/>
          <p:nvPr/>
        </p:nvSpPr>
        <p:spPr>
          <a:xfrm>
            <a:off x="609600" y="5245100"/>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CFBFA"/>
                </a:solidFill>
                <a:latin typeface="IBM Plex Sans" pitchFamily="34" charset="0"/>
                <a:ea typeface="IBM Plex Sans" pitchFamily="34" charset="-122"/>
                <a:cs typeface="IBM Plex Sans" pitchFamily="34" charset="-120"/>
              </a:rPr>
              <a:t>Investigadores, tramitadores, coordinadores y expertos en fraude</a:t>
            </a:r>
            <a:endParaRPr lang="en-US" sz="1500" dirty="0"/>
          </a:p>
        </p:txBody>
      </p:sp>
      <p:sp>
        <p:nvSpPr>
          <p:cNvPr id="6" name="Text 4"/>
          <p:cNvSpPr/>
          <p:nvPr/>
        </p:nvSpPr>
        <p:spPr>
          <a:xfrm>
            <a:off x="4876800" y="1927920"/>
            <a:ext cx="66974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FRAUDE EN SEGUROS DE AUTO</a:t>
            </a:r>
            <a:endParaRPr lang="en-US" sz="1200" dirty="0"/>
          </a:p>
        </p:txBody>
      </p:sp>
      <p:sp>
        <p:nvSpPr>
          <p:cNvPr id="7" name="Text 5"/>
          <p:cNvSpPr/>
          <p:nvPr>
            <p:ph type="title"/>
          </p:nvPr>
        </p:nvSpPr>
        <p:spPr>
          <a:xfrm>
            <a:off x="4876800" y="2395240"/>
            <a:ext cx="6697472"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262626"/>
                </a:solidFill>
                <a:latin typeface="Work Sans" pitchFamily="34" charset="0"/>
                <a:ea typeface="Work Sans" pitchFamily="34" charset="-122"/>
                <a:cs typeface="Work Sans" pitchFamily="34" charset="-120"/>
              </a:rPr>
              <a:t>Data e IA en la lucha contra el fraude</a:t>
            </a:r>
            <a:endParaRPr lang="en-US" sz="4800" dirty="0"/>
          </a:p>
        </p:txBody>
      </p:sp>
      <p:sp>
        <p:nvSpPr>
          <p:cNvPr id="8" name="Text 6"/>
          <p:cNvSpPr/>
          <p:nvPr/>
        </p:nvSpPr>
        <p:spPr>
          <a:xfrm>
            <a:off x="4876800" y="3929360"/>
            <a:ext cx="669747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Qué hemos construido, qué cambia en vuestro trabajo y qué necesitamos de vosotros</a:t>
            </a:r>
            <a:endParaRPr lang="en-US" sz="1500" dirty="0"/>
          </a:p>
        </p:txBody>
      </p:sp>
      <p:sp>
        <p:nvSpPr>
          <p:cNvPr id="9" name="Text 7"/>
          <p:cNvSpPr/>
          <p:nvPr/>
        </p:nvSpPr>
        <p:spPr>
          <a:xfrm>
            <a:off x="4876800" y="4716760"/>
            <a:ext cx="66974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[Fecha] · [Ponente] · Área Data &amp; 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Seis bloques en 45 minutos</a:t>
            </a:r>
            <a:endParaRPr lang="en-US" sz="3200" dirty="0"/>
          </a:p>
        </p:txBody>
      </p:sp>
      <p:sp>
        <p:nvSpPr>
          <p:cNvPr id="4" name="Shape 2"/>
          <p:cNvSpPr/>
          <p:nvPr/>
        </p:nvSpPr>
        <p:spPr>
          <a:xfrm>
            <a:off x="812800" y="1857276"/>
            <a:ext cx="10566400" cy="0"/>
          </a:xfrm>
          <a:prstGeom prst="line">
            <a:avLst/>
          </a:prstGeom>
          <a:noFill/>
          <a:ln w="6350">
            <a:solidFill>
              <a:srgbClr val="DDD8D3"/>
            </a:solidFill>
            <a:prstDash val="solid"/>
          </a:ln>
        </p:spPr>
      </p:sp>
      <p:sp>
        <p:nvSpPr>
          <p:cNvPr id="5" name="Text 3"/>
          <p:cNvSpPr/>
          <p:nvPr/>
        </p:nvSpPr>
        <p:spPr>
          <a:xfrm>
            <a:off x="812800" y="212080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0–5 min</a:t>
            </a:r>
            <a:endParaRPr lang="en-US" sz="1500" dirty="0"/>
          </a:p>
        </p:txBody>
      </p:sp>
      <p:sp>
        <p:nvSpPr>
          <p:cNvPr id="6" name="Text 4"/>
          <p:cNvSpPr/>
          <p:nvPr/>
        </p:nvSpPr>
        <p:spPr>
          <a:xfrm>
            <a:off x="2336800" y="212080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Por qué estamos aquí</a:t>
            </a:r>
            <a:endParaRPr lang="en-US" sz="1500" dirty="0"/>
          </a:p>
        </p:txBody>
      </p:sp>
      <p:sp>
        <p:nvSpPr>
          <p:cNvPr id="7" name="Text 5"/>
          <p:cNvSpPr/>
          <p:nvPr/>
        </p:nvSpPr>
        <p:spPr>
          <a:xfrm>
            <a:off x="6400800" y="1987451"/>
            <a:ext cx="51277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El ciclo de un siniestro sospechoso y dónde entra cada producto</a:t>
            </a:r>
            <a:endParaRPr lang="en-US" sz="1500" dirty="0"/>
          </a:p>
        </p:txBody>
      </p:sp>
      <p:sp>
        <p:nvSpPr>
          <p:cNvPr id="8" name="Shape 6"/>
          <p:cNvSpPr/>
          <p:nvPr/>
        </p:nvSpPr>
        <p:spPr>
          <a:xfrm>
            <a:off x="812800" y="2651026"/>
            <a:ext cx="10566400" cy="0"/>
          </a:xfrm>
          <a:prstGeom prst="line">
            <a:avLst/>
          </a:prstGeom>
          <a:noFill/>
          <a:ln w="6350">
            <a:solidFill>
              <a:srgbClr val="DDD8D3"/>
            </a:solidFill>
            <a:prstDash val="solid"/>
          </a:ln>
        </p:spPr>
      </p:sp>
      <p:sp>
        <p:nvSpPr>
          <p:cNvPr id="9" name="Text 7"/>
          <p:cNvSpPr/>
          <p:nvPr/>
        </p:nvSpPr>
        <p:spPr>
          <a:xfrm>
            <a:off x="812800" y="278120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5–15 min</a:t>
            </a:r>
            <a:endParaRPr lang="en-US" sz="1500" dirty="0"/>
          </a:p>
        </p:txBody>
      </p:sp>
      <p:sp>
        <p:nvSpPr>
          <p:cNvPr id="10" name="Text 8"/>
          <p:cNvSpPr/>
          <p:nvPr/>
        </p:nvSpPr>
        <p:spPr>
          <a:xfrm>
            <a:off x="2336800" y="278120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Reglas de detección y modelo de pesos</a:t>
            </a:r>
            <a:endParaRPr lang="en-US" sz="1500" dirty="0"/>
          </a:p>
        </p:txBody>
      </p:sp>
      <p:sp>
        <p:nvSpPr>
          <p:cNvPr id="11" name="Text 9"/>
          <p:cNvSpPr/>
          <p:nvPr/>
        </p:nvSpPr>
        <p:spPr>
          <a:xfrm>
            <a:off x="6400800" y="2781201"/>
            <a:ext cx="51277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Por qué no todas las alertas valen lo mismo</a:t>
            </a:r>
            <a:endParaRPr lang="en-US" sz="1500" dirty="0"/>
          </a:p>
        </p:txBody>
      </p:sp>
      <p:sp>
        <p:nvSpPr>
          <p:cNvPr id="12" name="Shape 10"/>
          <p:cNvSpPr/>
          <p:nvPr/>
        </p:nvSpPr>
        <p:spPr>
          <a:xfrm>
            <a:off x="812800" y="3178076"/>
            <a:ext cx="10566400" cy="0"/>
          </a:xfrm>
          <a:prstGeom prst="line">
            <a:avLst/>
          </a:prstGeom>
          <a:noFill/>
          <a:ln w="6350">
            <a:solidFill>
              <a:srgbClr val="DDD8D3"/>
            </a:solidFill>
            <a:prstDash val="solid"/>
          </a:ln>
        </p:spPr>
      </p:sp>
      <p:sp>
        <p:nvSpPr>
          <p:cNvPr id="13" name="Text 11"/>
          <p:cNvSpPr/>
          <p:nvPr/>
        </p:nvSpPr>
        <p:spPr>
          <a:xfrm>
            <a:off x="812800" y="330825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15–23 min</a:t>
            </a:r>
            <a:endParaRPr lang="en-US" sz="1500" dirty="0"/>
          </a:p>
        </p:txBody>
      </p:sp>
      <p:sp>
        <p:nvSpPr>
          <p:cNvPr id="14" name="Text 12"/>
          <p:cNvSpPr/>
          <p:nvPr/>
        </p:nvSpPr>
        <p:spPr>
          <a:xfrm>
            <a:off x="2336800" y="330825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Herramienta de carga para i2</a:t>
            </a:r>
            <a:endParaRPr lang="en-US" sz="1500" dirty="0"/>
          </a:p>
        </p:txBody>
      </p:sp>
      <p:sp>
        <p:nvSpPr>
          <p:cNvPr id="15" name="Text 13"/>
          <p:cNvSpPr/>
          <p:nvPr/>
        </p:nvSpPr>
        <p:spPr>
          <a:xfrm>
            <a:off x="6400800" y="3308251"/>
            <a:ext cx="51277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De un Excel sucio a una red en tres minutos · demo</a:t>
            </a:r>
            <a:endParaRPr lang="en-US" sz="1500" dirty="0"/>
          </a:p>
        </p:txBody>
      </p:sp>
      <p:sp>
        <p:nvSpPr>
          <p:cNvPr id="16" name="Shape 14"/>
          <p:cNvSpPr/>
          <p:nvPr/>
        </p:nvSpPr>
        <p:spPr>
          <a:xfrm>
            <a:off x="812800" y="3705126"/>
            <a:ext cx="10566400" cy="0"/>
          </a:xfrm>
          <a:prstGeom prst="line">
            <a:avLst/>
          </a:prstGeom>
          <a:noFill/>
          <a:ln w="6350">
            <a:solidFill>
              <a:srgbClr val="DDD8D3"/>
            </a:solidFill>
            <a:prstDash val="solid"/>
          </a:ln>
        </p:spPr>
      </p:sp>
      <p:sp>
        <p:nvSpPr>
          <p:cNvPr id="17" name="Text 15"/>
          <p:cNvSpPr/>
          <p:nvPr/>
        </p:nvSpPr>
        <p:spPr>
          <a:xfrm>
            <a:off x="812800" y="396865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23–34 min</a:t>
            </a:r>
            <a:endParaRPr lang="en-US" sz="1500" dirty="0"/>
          </a:p>
        </p:txBody>
      </p:sp>
      <p:sp>
        <p:nvSpPr>
          <p:cNvPr id="18" name="Text 16"/>
          <p:cNvSpPr/>
          <p:nvPr/>
        </p:nvSpPr>
        <p:spPr>
          <a:xfrm>
            <a:off x="2336800" y="396865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Dashboard de seguimiento</a:t>
            </a:r>
            <a:endParaRPr lang="en-US" sz="1500" dirty="0"/>
          </a:p>
        </p:txBody>
      </p:sp>
      <p:sp>
        <p:nvSpPr>
          <p:cNvPr id="19" name="Text 17"/>
          <p:cNvSpPr/>
          <p:nvPr/>
        </p:nvSpPr>
        <p:spPr>
          <a:xfrm>
            <a:off x="6400800" y="3835301"/>
            <a:ext cx="51277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Carga, tiempos, resultados y objetivos de tramitación · demo</a:t>
            </a:r>
            <a:endParaRPr lang="en-US" sz="1500" dirty="0"/>
          </a:p>
        </p:txBody>
      </p:sp>
      <p:sp>
        <p:nvSpPr>
          <p:cNvPr id="20" name="Shape 18"/>
          <p:cNvSpPr/>
          <p:nvPr/>
        </p:nvSpPr>
        <p:spPr>
          <a:xfrm>
            <a:off x="812800" y="4498876"/>
            <a:ext cx="10566400" cy="0"/>
          </a:xfrm>
          <a:prstGeom prst="line">
            <a:avLst/>
          </a:prstGeom>
          <a:noFill/>
          <a:ln w="6350">
            <a:solidFill>
              <a:srgbClr val="DDD8D3"/>
            </a:solidFill>
            <a:prstDash val="solid"/>
          </a:ln>
        </p:spPr>
      </p:sp>
      <p:sp>
        <p:nvSpPr>
          <p:cNvPr id="21" name="Text 19"/>
          <p:cNvSpPr/>
          <p:nvPr/>
        </p:nvSpPr>
        <p:spPr>
          <a:xfrm>
            <a:off x="812800" y="462905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34–39 min</a:t>
            </a:r>
            <a:endParaRPr lang="en-US" sz="1500" dirty="0"/>
          </a:p>
        </p:txBody>
      </p:sp>
      <p:sp>
        <p:nvSpPr>
          <p:cNvPr id="22" name="Text 20"/>
          <p:cNvSpPr/>
          <p:nvPr/>
        </p:nvSpPr>
        <p:spPr>
          <a:xfrm>
            <a:off x="2336800" y="462905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Lo que viene y lo que necesitamos</a:t>
            </a:r>
            <a:endParaRPr lang="en-US" sz="1500" dirty="0"/>
          </a:p>
        </p:txBody>
      </p:sp>
      <p:sp>
        <p:nvSpPr>
          <p:cNvPr id="23" name="Text 21"/>
          <p:cNvSpPr/>
          <p:nvPr/>
        </p:nvSpPr>
        <p:spPr>
          <a:xfrm>
            <a:off x="6400800" y="4629051"/>
            <a:ext cx="51277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Roadmap y tres peticiones concretas</a:t>
            </a:r>
            <a:endParaRPr lang="en-US" sz="1500" dirty="0"/>
          </a:p>
        </p:txBody>
      </p:sp>
      <p:sp>
        <p:nvSpPr>
          <p:cNvPr id="24" name="Shape 22"/>
          <p:cNvSpPr/>
          <p:nvPr/>
        </p:nvSpPr>
        <p:spPr>
          <a:xfrm>
            <a:off x="812800" y="5025926"/>
            <a:ext cx="10566400" cy="0"/>
          </a:xfrm>
          <a:prstGeom prst="line">
            <a:avLst/>
          </a:prstGeom>
          <a:noFill/>
          <a:ln w="6350">
            <a:solidFill>
              <a:srgbClr val="DDD8D3"/>
            </a:solidFill>
            <a:prstDash val="solid"/>
          </a:ln>
        </p:spPr>
      </p:sp>
      <p:sp>
        <p:nvSpPr>
          <p:cNvPr id="25" name="Shape 23"/>
          <p:cNvSpPr/>
          <p:nvPr/>
        </p:nvSpPr>
        <p:spPr>
          <a:xfrm>
            <a:off x="812800" y="5552976"/>
            <a:ext cx="10566400" cy="0"/>
          </a:xfrm>
          <a:prstGeom prst="line">
            <a:avLst/>
          </a:prstGeom>
          <a:noFill/>
          <a:ln w="6350">
            <a:solidFill>
              <a:srgbClr val="DDD8D3"/>
            </a:solidFill>
            <a:prstDash val="solid"/>
          </a:ln>
        </p:spPr>
      </p:sp>
      <p:sp>
        <p:nvSpPr>
          <p:cNvPr id="26" name="Text 24"/>
          <p:cNvSpPr/>
          <p:nvPr/>
        </p:nvSpPr>
        <p:spPr>
          <a:xfrm>
            <a:off x="812800" y="515610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81E05"/>
                </a:solidFill>
                <a:latin typeface="IBM Plex Sans" pitchFamily="34" charset="0"/>
                <a:ea typeface="IBM Plex Sans" pitchFamily="34" charset="-122"/>
                <a:cs typeface="IBM Plex Sans" pitchFamily="34" charset="-120"/>
              </a:rPr>
              <a:t>39–45 min</a:t>
            </a:r>
            <a:endParaRPr lang="en-US" sz="1500" dirty="0"/>
          </a:p>
        </p:txBody>
      </p:sp>
      <p:sp>
        <p:nvSpPr>
          <p:cNvPr id="27" name="Text 25"/>
          <p:cNvSpPr/>
          <p:nvPr/>
        </p:nvSpPr>
        <p:spPr>
          <a:xfrm>
            <a:off x="2336800" y="5156101"/>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Preguntas</a:t>
            </a:r>
            <a:endParaRPr lang="en-US" sz="1500" dirty="0"/>
          </a:p>
        </p:txBody>
      </p:sp>
      <p:sp>
        <p:nvSpPr>
          <p:cNvPr id="28" name="Text 26"/>
          <p:cNvSpPr/>
          <p:nvPr/>
        </p:nvSpPr>
        <p:spPr>
          <a:xfrm>
            <a:off x="6400800" y="5156101"/>
            <a:ext cx="51277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Abierto a toda la sala</a:t>
            </a:r>
            <a:endParaRPr lang="en-US" sz="15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30" name="Text 2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POR QUÉ ESTAMOS AQUÍ</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Los datos no sustituyen al investigador: le quitan trabajo mecánico y le dan visibilidad</a:t>
            </a:r>
            <a:endParaRPr lang="en-US" sz="3200" dirty="0"/>
          </a:p>
        </p:txBody>
      </p:sp>
      <p:sp>
        <p:nvSpPr>
          <p:cNvPr id="4" name="Shape 2"/>
          <p:cNvSpPr/>
          <p:nvPr/>
        </p:nvSpPr>
        <p:spPr>
          <a:xfrm>
            <a:off x="812800" y="3484959"/>
            <a:ext cx="3386634" cy="2357041"/>
          </a:xfrm>
          <a:prstGeom prst="roundRect">
            <a:avLst>
              <a:gd name="adj" fmla="val 4310"/>
            </a:avLst>
          </a:prstGeom>
          <a:solidFill>
            <a:srgbClr val="FCFBFA"/>
          </a:solidFill>
          <a:ln/>
        </p:spPr>
      </p:sp>
      <p:pic>
        <p:nvPicPr>
          <p:cNvPr id="5" name="Image 0" descr="Search">    </p:cNvPr>
          <p:cNvPicPr>
            <a:picLocks noChangeAspect="1"/>
          </p:cNvPicPr>
          <p:nvPr/>
        </p:nvPicPr>
        <p:blipFill>
          <a:blip r:embed="rId1"/>
          <a:srcRect l="0" r="0" t="0" b="0"/>
          <a:stretch/>
        </p:blipFill>
        <p:spPr>
          <a:xfrm>
            <a:off x="1066800" y="3738959"/>
            <a:ext cx="304800" cy="304800"/>
          </a:xfrm>
          <a:prstGeom prst="rect">
            <a:avLst/>
          </a:prstGeom>
        </p:spPr>
      </p:pic>
      <p:sp>
        <p:nvSpPr>
          <p:cNvPr id="6" name="Text 3"/>
          <p:cNvSpPr/>
          <p:nvPr/>
        </p:nvSpPr>
        <p:spPr>
          <a:xfrm>
            <a:off x="1066800" y="4145359"/>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Lo que detecta</a:t>
            </a:r>
            <a:endParaRPr lang="en-US" sz="1800" dirty="0"/>
          </a:p>
        </p:txBody>
      </p:sp>
      <p:sp>
        <p:nvSpPr>
          <p:cNvPr id="7" name="Text 4"/>
          <p:cNvSpPr/>
          <p:nvPr/>
        </p:nvSpPr>
        <p:spPr>
          <a:xfrm>
            <a:off x="1066800" y="4521200"/>
            <a:ext cx="296499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Patrones que un ojo experto ve en 30 segundos, aplicados a todos los siniestros, todos los días</a:t>
            </a:r>
            <a:endParaRPr lang="en-US" sz="1500" dirty="0"/>
          </a:p>
        </p:txBody>
      </p:sp>
      <p:sp>
        <p:nvSpPr>
          <p:cNvPr id="8" name="Shape 5"/>
          <p:cNvSpPr/>
          <p:nvPr/>
        </p:nvSpPr>
        <p:spPr>
          <a:xfrm>
            <a:off x="4402634" y="3484959"/>
            <a:ext cx="3386634" cy="2357041"/>
          </a:xfrm>
          <a:prstGeom prst="roundRect">
            <a:avLst>
              <a:gd name="adj" fmla="val 4310"/>
            </a:avLst>
          </a:prstGeom>
          <a:solidFill>
            <a:srgbClr val="FCFBFA"/>
          </a:solidFill>
          <a:ln/>
        </p:spPr>
      </p:sp>
      <p:pic>
        <p:nvPicPr>
          <p:cNvPr id="9" name="Image 1" descr="Clock">    </p:cNvPr>
          <p:cNvPicPr>
            <a:picLocks noChangeAspect="1"/>
          </p:cNvPicPr>
          <p:nvPr/>
        </p:nvPicPr>
        <p:blipFill>
          <a:blip r:embed="rId2"/>
          <a:srcRect l="0" r="0" t="0" b="0"/>
          <a:stretch/>
        </p:blipFill>
        <p:spPr>
          <a:xfrm>
            <a:off x="4656634" y="3738959"/>
            <a:ext cx="304800" cy="304800"/>
          </a:xfrm>
          <a:prstGeom prst="rect">
            <a:avLst/>
          </a:prstGeom>
        </p:spPr>
      </p:pic>
      <p:sp>
        <p:nvSpPr>
          <p:cNvPr id="10" name="Text 6"/>
          <p:cNvSpPr/>
          <p:nvPr/>
        </p:nvSpPr>
        <p:spPr>
          <a:xfrm>
            <a:off x="4656634" y="4145359"/>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Lo que ahorra</a:t>
            </a:r>
            <a:endParaRPr lang="en-US" sz="1800" dirty="0"/>
          </a:p>
        </p:txBody>
      </p:sp>
      <p:sp>
        <p:nvSpPr>
          <p:cNvPr id="11" name="Text 7"/>
          <p:cNvSpPr/>
          <p:nvPr/>
        </p:nvSpPr>
        <p:spPr>
          <a:xfrm>
            <a:off x="4656634" y="45212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Horas de limpieza de Excel, alertas vacías y expedientes que se abren sin indicios</a:t>
            </a:r>
            <a:endParaRPr lang="en-US" sz="1500" dirty="0"/>
          </a:p>
        </p:txBody>
      </p:sp>
      <p:sp>
        <p:nvSpPr>
          <p:cNvPr id="12" name="Shape 8"/>
          <p:cNvSpPr/>
          <p:nvPr/>
        </p:nvSpPr>
        <p:spPr>
          <a:xfrm>
            <a:off x="7992467" y="3484959"/>
            <a:ext cx="3386634" cy="2357041"/>
          </a:xfrm>
          <a:prstGeom prst="roundRect">
            <a:avLst>
              <a:gd name="adj" fmla="val 4310"/>
            </a:avLst>
          </a:prstGeom>
          <a:solidFill>
            <a:srgbClr val="FCFBFA"/>
          </a:solidFill>
          <a:ln/>
        </p:spPr>
      </p:sp>
      <p:pic>
        <p:nvPicPr>
          <p:cNvPr id="13" name="Image 2" descr="Chart">    </p:cNvPr>
          <p:cNvPicPr>
            <a:picLocks noChangeAspect="1"/>
          </p:cNvPicPr>
          <p:nvPr/>
        </p:nvPicPr>
        <p:blipFill>
          <a:blip r:embed="rId3"/>
          <a:srcRect l="0" r="0" t="0" b="0"/>
          <a:stretch/>
        </p:blipFill>
        <p:spPr>
          <a:xfrm>
            <a:off x="8246467" y="3738959"/>
            <a:ext cx="304800" cy="304800"/>
          </a:xfrm>
          <a:prstGeom prst="rect">
            <a:avLst/>
          </a:prstGeom>
        </p:spPr>
      </p:pic>
      <p:sp>
        <p:nvSpPr>
          <p:cNvPr id="14" name="Text 9"/>
          <p:cNvSpPr/>
          <p:nvPr/>
        </p:nvSpPr>
        <p:spPr>
          <a:xfrm>
            <a:off x="8246467" y="4145359"/>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Lo que muestra</a:t>
            </a:r>
            <a:endParaRPr lang="en-US" sz="1800" dirty="0"/>
          </a:p>
        </p:txBody>
      </p:sp>
      <p:sp>
        <p:nvSpPr>
          <p:cNvPr id="15" name="Text 10"/>
          <p:cNvSpPr/>
          <p:nvPr/>
        </p:nvSpPr>
        <p:spPr>
          <a:xfrm>
            <a:off x="8246467" y="45212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Cuánto trabajo hay, cómo se reparte, qué reglas aciertan y dónde se atasca la tramitación</a:t>
            </a:r>
            <a:endParaRPr lang="en-US" sz="15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CONTEXTO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Qué hace hoy la IA en antifraude, y qué no</a:t>
            </a:r>
            <a:endParaRPr lang="en-US" sz="3200" dirty="0"/>
          </a:p>
        </p:txBody>
      </p:sp>
      <p:sp>
        <p:nvSpPr>
          <p:cNvPr id="4" name="Shape 2"/>
          <p:cNvSpPr/>
          <p:nvPr/>
        </p:nvSpPr>
        <p:spPr>
          <a:xfrm>
            <a:off x="819150" y="2086570"/>
            <a:ext cx="3373934" cy="2278261"/>
          </a:xfrm>
          <a:prstGeom prst="roundRect">
            <a:avLst>
              <a:gd name="adj" fmla="val 4181"/>
            </a:avLst>
          </a:prstGeom>
          <a:solidFill>
            <a:srgbClr val="FCFBFA"/>
          </a:solidFill>
          <a:ln w="12700">
            <a:solidFill>
              <a:srgbClr val="DDD8D3"/>
            </a:solidFill>
            <a:prstDash val="solid"/>
          </a:ln>
        </p:spPr>
      </p:sp>
      <p:sp>
        <p:nvSpPr>
          <p:cNvPr id="5" name="Text 3"/>
          <p:cNvSpPr/>
          <p:nvPr/>
        </p:nvSpPr>
        <p:spPr>
          <a:xfrm>
            <a:off x="1079500" y="234692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HACE BIEN</a:t>
            </a:r>
            <a:endParaRPr lang="en-US" sz="1200" dirty="0"/>
          </a:p>
        </p:txBody>
      </p:sp>
      <p:sp>
        <p:nvSpPr>
          <p:cNvPr id="6" name="Text 4"/>
          <p:cNvSpPr/>
          <p:nvPr/>
        </p:nvSpPr>
        <p:spPr>
          <a:xfrm>
            <a:off x="1079500" y="2661841"/>
            <a:ext cx="29388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Ver patrones en volumen</a:t>
            </a:r>
            <a:endParaRPr lang="en-US" sz="1800" dirty="0"/>
          </a:p>
        </p:txBody>
      </p:sp>
      <p:sp>
        <p:nvSpPr>
          <p:cNvPr id="7" name="Text 5"/>
          <p:cNvSpPr/>
          <p:nvPr/>
        </p:nvSpPr>
        <p:spPr>
          <a:xfrm>
            <a:off x="1079500" y="3037681"/>
            <a:ext cx="293883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Revisa todos los siniestros del día con las mismas reglas, sin cansarse ni saltarse ninguno</a:t>
            </a:r>
            <a:endParaRPr lang="en-US" sz="1500" dirty="0"/>
          </a:p>
        </p:txBody>
      </p:sp>
      <p:sp>
        <p:nvSpPr>
          <p:cNvPr id="8" name="Shape 6"/>
          <p:cNvSpPr/>
          <p:nvPr/>
        </p:nvSpPr>
        <p:spPr>
          <a:xfrm>
            <a:off x="4408984" y="2086570"/>
            <a:ext cx="3373934" cy="2278261"/>
          </a:xfrm>
          <a:prstGeom prst="roundRect">
            <a:avLst>
              <a:gd name="adj" fmla="val 4181"/>
            </a:avLst>
          </a:prstGeom>
          <a:solidFill>
            <a:srgbClr val="FCFBFA"/>
          </a:solidFill>
          <a:ln w="12700">
            <a:solidFill>
              <a:srgbClr val="DDD8D3"/>
            </a:solidFill>
            <a:prstDash val="solid"/>
          </a:ln>
        </p:spPr>
      </p:sp>
      <p:sp>
        <p:nvSpPr>
          <p:cNvPr id="9" name="Text 7"/>
          <p:cNvSpPr/>
          <p:nvPr/>
        </p:nvSpPr>
        <p:spPr>
          <a:xfrm>
            <a:off x="4669334" y="234692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HACE BIEN</a:t>
            </a:r>
            <a:endParaRPr lang="en-US" sz="1200" dirty="0"/>
          </a:p>
        </p:txBody>
      </p:sp>
      <p:sp>
        <p:nvSpPr>
          <p:cNvPr id="10" name="Text 8"/>
          <p:cNvSpPr/>
          <p:nvPr/>
        </p:nvSpPr>
        <p:spPr>
          <a:xfrm>
            <a:off x="4669334" y="2661841"/>
            <a:ext cx="29388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Leer documentos</a:t>
            </a:r>
            <a:endParaRPr lang="en-US" sz="1800" dirty="0"/>
          </a:p>
        </p:txBody>
      </p:sp>
      <p:sp>
        <p:nvSpPr>
          <p:cNvPr id="11" name="Text 9"/>
          <p:cNvSpPr/>
          <p:nvPr/>
        </p:nvSpPr>
        <p:spPr>
          <a:xfrm>
            <a:off x="4669334" y="3037681"/>
            <a:ext cx="293883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Saca los datos de partes, informes periciales y facturas que hasta ahora se leían a mano</a:t>
            </a:r>
            <a:endParaRPr lang="en-US" sz="1500" dirty="0"/>
          </a:p>
        </p:txBody>
      </p:sp>
      <p:sp>
        <p:nvSpPr>
          <p:cNvPr id="12" name="Shape 10"/>
          <p:cNvSpPr/>
          <p:nvPr/>
        </p:nvSpPr>
        <p:spPr>
          <a:xfrm>
            <a:off x="7998817" y="2086570"/>
            <a:ext cx="3373934" cy="2278261"/>
          </a:xfrm>
          <a:prstGeom prst="roundRect">
            <a:avLst>
              <a:gd name="adj" fmla="val 4181"/>
            </a:avLst>
          </a:prstGeom>
          <a:solidFill>
            <a:srgbClr val="FCFBFA"/>
          </a:solidFill>
          <a:ln w="12700">
            <a:solidFill>
              <a:srgbClr val="DDD8D3"/>
            </a:solidFill>
            <a:prstDash val="solid"/>
          </a:ln>
        </p:spPr>
      </p:sp>
      <p:sp>
        <p:nvSpPr>
          <p:cNvPr id="13" name="Text 11"/>
          <p:cNvSpPr/>
          <p:nvPr/>
        </p:nvSpPr>
        <p:spPr>
          <a:xfrm>
            <a:off x="8259167" y="234692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HACE BIEN</a:t>
            </a:r>
            <a:endParaRPr lang="en-US" sz="1200" dirty="0"/>
          </a:p>
        </p:txBody>
      </p:sp>
      <p:sp>
        <p:nvSpPr>
          <p:cNvPr id="14" name="Text 12"/>
          <p:cNvSpPr/>
          <p:nvPr/>
        </p:nvSpPr>
        <p:spPr>
          <a:xfrm>
            <a:off x="8259167" y="2661841"/>
            <a:ext cx="29388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Relacionar entidades</a:t>
            </a:r>
            <a:endParaRPr lang="en-US" sz="1800" dirty="0"/>
          </a:p>
        </p:txBody>
      </p:sp>
      <p:sp>
        <p:nvSpPr>
          <p:cNvPr id="15" name="Text 13"/>
          <p:cNvSpPr/>
          <p:nvPr/>
        </p:nvSpPr>
        <p:spPr>
          <a:xfrm>
            <a:off x="8259167" y="3037681"/>
            <a:ext cx="293883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Conecta matrículas, teléfonos, talleres y clínicas entre expedientes que nadie había puesto juntos</a:t>
            </a:r>
            <a:endParaRPr lang="en-US" sz="1500" dirty="0"/>
          </a:p>
        </p:txBody>
      </p:sp>
      <p:sp>
        <p:nvSpPr>
          <p:cNvPr id="16" name="Shape 14"/>
          <p:cNvSpPr/>
          <p:nvPr/>
        </p:nvSpPr>
        <p:spPr>
          <a:xfrm>
            <a:off x="812800" y="4902101"/>
            <a:ext cx="10566400" cy="939800"/>
          </a:xfrm>
          <a:prstGeom prst="roundRect">
            <a:avLst>
              <a:gd name="adj" fmla="val 10811"/>
            </a:avLst>
          </a:prstGeom>
          <a:solidFill>
            <a:srgbClr val="262626"/>
          </a:solidFill>
          <a:ln/>
        </p:spPr>
      </p:sp>
      <p:sp>
        <p:nvSpPr>
          <p:cNvPr id="17" name="Text 15"/>
          <p:cNvSpPr/>
          <p:nvPr/>
        </p:nvSpPr>
        <p:spPr>
          <a:xfrm>
            <a:off x="1066800" y="5265341"/>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D5CF"/>
                </a:solidFill>
                <a:latin typeface="IBM Plex Sans" pitchFamily="34" charset="0"/>
                <a:ea typeface="IBM Plex Sans" pitchFamily="34" charset="-122"/>
                <a:cs typeface="IBM Plex Sans" pitchFamily="34" charset="-120"/>
              </a:rPr>
              <a:t>NO HACE</a:t>
            </a:r>
            <a:endParaRPr lang="en-US" sz="1200" dirty="0"/>
          </a:p>
        </p:txBody>
      </p:sp>
      <p:sp>
        <p:nvSpPr>
          <p:cNvPr id="18" name="Text 16"/>
          <p:cNvSpPr/>
          <p:nvPr/>
        </p:nvSpPr>
        <p:spPr>
          <a:xfrm>
            <a:off x="2540000" y="5105301"/>
            <a:ext cx="884275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5F3"/>
                </a:solidFill>
                <a:latin typeface="IBM Plex Sans" pitchFamily="34" charset="0"/>
                <a:ea typeface="IBM Plex Sans" pitchFamily="34" charset="-122"/>
                <a:cs typeface="IBM Plex Sans" pitchFamily="34" charset="-120"/>
              </a:rPr>
              <a:t>Decidir.</a:t>
            </a:r>
            <a:r>
              <a:rPr lang="en-US" sz="1500" dirty="0">
                <a:solidFill>
                  <a:srgbClr val="F7F5F3"/>
                </a:solidFill>
                <a:latin typeface="IBM Plex Sans" pitchFamily="34" charset="0"/>
                <a:ea typeface="IBM Plex Sans" pitchFamily="34" charset="-122"/>
                <a:cs typeface="IBM Plex Sans" pitchFamily="34" charset="-120"/>
              </a:rPr>
              <a:t> La calificación de un siniestro como fraude sigue siendo de una persona. La IA señala; vosotros concluís.</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EL HILO CONDUCTOR</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El recorrido de un siniestro sospechoso</a:t>
            </a:r>
            <a:endParaRPr lang="en-US" sz="3200" dirty="0"/>
          </a:p>
        </p:txBody>
      </p:sp>
      <p:sp>
        <p:nvSpPr>
          <p:cNvPr id="4" name="Shape 2"/>
          <p:cNvSpPr/>
          <p:nvPr/>
        </p:nvSpPr>
        <p:spPr>
          <a:xfrm>
            <a:off x="819150" y="1809651"/>
            <a:ext cx="2171700" cy="2001838"/>
          </a:xfrm>
          <a:prstGeom prst="roundRect">
            <a:avLst>
              <a:gd name="adj" fmla="val 4758"/>
            </a:avLst>
          </a:prstGeom>
          <a:solidFill>
            <a:srgbClr val="FCFBFA"/>
          </a:solidFill>
          <a:ln w="12700">
            <a:solidFill>
              <a:srgbClr val="DDD8D3"/>
            </a:solidFill>
            <a:prstDash val="solid"/>
          </a:ln>
        </p:spPr>
      </p:sp>
      <p:sp>
        <p:nvSpPr>
          <p:cNvPr id="5" name="Text 3"/>
          <p:cNvSpPr/>
          <p:nvPr/>
        </p:nvSpPr>
        <p:spPr>
          <a:xfrm>
            <a:off x="1028700" y="2019201"/>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28700" y="2308721"/>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El siniestro entra</a:t>
            </a:r>
            <a:endParaRPr lang="en-US" sz="1800" dirty="0"/>
          </a:p>
        </p:txBody>
      </p:sp>
      <p:sp>
        <p:nvSpPr>
          <p:cNvPr id="7" name="Text 5"/>
          <p:cNvSpPr/>
          <p:nvPr/>
        </p:nvSpPr>
        <p:spPr>
          <a:xfrm>
            <a:off x="1028700" y="2933402"/>
            <a:ext cx="18051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Parte, peritaje, lesionados, taller, clínica</a:t>
            </a:r>
            <a:endParaRPr lang="en-US" sz="1300" dirty="0"/>
          </a:p>
        </p:txBody>
      </p:sp>
      <p:pic>
        <p:nvPicPr>
          <p:cNvPr id="8" name="Image 0" descr="arrow-right">    </p:cNvPr>
          <p:cNvPicPr>
            <a:picLocks noChangeAspect="1"/>
          </p:cNvPicPr>
          <p:nvPr/>
        </p:nvPicPr>
        <p:blipFill>
          <a:blip r:embed="rId1"/>
          <a:srcRect l="0" r="0" t="0" b="0"/>
          <a:stretch/>
        </p:blipFill>
        <p:spPr>
          <a:xfrm>
            <a:off x="3124200" y="2721670"/>
            <a:ext cx="355600" cy="177800"/>
          </a:xfrm>
          <a:prstGeom prst="rect">
            <a:avLst/>
          </a:prstGeom>
        </p:spPr>
      </p:pic>
      <p:sp>
        <p:nvSpPr>
          <p:cNvPr id="9" name="Shape 6"/>
          <p:cNvSpPr/>
          <p:nvPr/>
        </p:nvSpPr>
        <p:spPr>
          <a:xfrm>
            <a:off x="3613150" y="1809651"/>
            <a:ext cx="2171700" cy="2001838"/>
          </a:xfrm>
          <a:prstGeom prst="roundRect">
            <a:avLst>
              <a:gd name="adj" fmla="val 4758"/>
            </a:avLst>
          </a:prstGeom>
          <a:solidFill>
            <a:srgbClr val="FCFBFA"/>
          </a:solidFill>
          <a:ln w="12700">
            <a:solidFill>
              <a:srgbClr val="D81E05"/>
            </a:solidFill>
            <a:prstDash val="solid"/>
          </a:ln>
        </p:spPr>
      </p:sp>
      <p:sp>
        <p:nvSpPr>
          <p:cNvPr id="10" name="Text 7"/>
          <p:cNvSpPr/>
          <p:nvPr/>
        </p:nvSpPr>
        <p:spPr>
          <a:xfrm>
            <a:off x="3822700" y="2019201"/>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02</a:t>
            </a:r>
            <a:endParaRPr lang="en-US" sz="1200" dirty="0"/>
          </a:p>
        </p:txBody>
      </p:sp>
      <p:sp>
        <p:nvSpPr>
          <p:cNvPr id="11" name="Text 8"/>
          <p:cNvSpPr/>
          <p:nvPr/>
        </p:nvSpPr>
        <p:spPr>
          <a:xfrm>
            <a:off x="3822700" y="2308721"/>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Las reglas lo marcan</a:t>
            </a:r>
            <a:endParaRPr lang="en-US" sz="1800" dirty="0"/>
          </a:p>
        </p:txBody>
      </p:sp>
      <p:sp>
        <p:nvSpPr>
          <p:cNvPr id="12" name="Text 9"/>
          <p:cNvSpPr/>
          <p:nvPr/>
        </p:nvSpPr>
        <p:spPr>
          <a:xfrm>
            <a:off x="3822700" y="2933402"/>
            <a:ext cx="18051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Cada regla que salta suma, con el peso que le toca</a:t>
            </a:r>
            <a:endParaRPr lang="en-US" sz="1300" dirty="0"/>
          </a:p>
        </p:txBody>
      </p:sp>
      <p:pic>
        <p:nvPicPr>
          <p:cNvPr id="13" name="Image 1" descr="arrow-right">    </p:cNvPr>
          <p:cNvPicPr>
            <a:picLocks noChangeAspect="1"/>
          </p:cNvPicPr>
          <p:nvPr/>
        </p:nvPicPr>
        <p:blipFill>
          <a:blip r:embed="rId2"/>
          <a:srcRect l="0" r="0" t="0" b="0"/>
          <a:stretch/>
        </p:blipFill>
        <p:spPr>
          <a:xfrm>
            <a:off x="5918200" y="2721670"/>
            <a:ext cx="355600" cy="177800"/>
          </a:xfrm>
          <a:prstGeom prst="rect">
            <a:avLst/>
          </a:prstGeom>
        </p:spPr>
      </p:pic>
      <p:sp>
        <p:nvSpPr>
          <p:cNvPr id="14" name="Shape 10"/>
          <p:cNvSpPr/>
          <p:nvPr/>
        </p:nvSpPr>
        <p:spPr>
          <a:xfrm>
            <a:off x="6407150" y="1809651"/>
            <a:ext cx="2171700" cy="2001838"/>
          </a:xfrm>
          <a:prstGeom prst="roundRect">
            <a:avLst>
              <a:gd name="adj" fmla="val 4758"/>
            </a:avLst>
          </a:prstGeom>
          <a:solidFill>
            <a:srgbClr val="FCFBFA"/>
          </a:solidFill>
          <a:ln w="12700">
            <a:solidFill>
              <a:srgbClr val="D81E05"/>
            </a:solidFill>
            <a:prstDash val="solid"/>
          </a:ln>
        </p:spPr>
      </p:sp>
      <p:sp>
        <p:nvSpPr>
          <p:cNvPr id="15" name="Text 11"/>
          <p:cNvSpPr/>
          <p:nvPr/>
        </p:nvSpPr>
        <p:spPr>
          <a:xfrm>
            <a:off x="6616700" y="2019201"/>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03</a:t>
            </a:r>
            <a:endParaRPr lang="en-US" sz="1200" dirty="0"/>
          </a:p>
        </p:txBody>
      </p:sp>
      <p:sp>
        <p:nvSpPr>
          <p:cNvPr id="16" name="Text 12"/>
          <p:cNvSpPr/>
          <p:nvPr/>
        </p:nvSpPr>
        <p:spPr>
          <a:xfrm>
            <a:off x="6616700" y="2308721"/>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Se tramita e investiga</a:t>
            </a:r>
            <a:endParaRPr lang="en-US" sz="1800" dirty="0"/>
          </a:p>
        </p:txBody>
      </p:sp>
      <p:sp>
        <p:nvSpPr>
          <p:cNvPr id="17" name="Text 13"/>
          <p:cNvSpPr/>
          <p:nvPr/>
        </p:nvSpPr>
        <p:spPr>
          <a:xfrm>
            <a:off x="6616700" y="2933402"/>
            <a:ext cx="180517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Y si hay red detrás, se ve en el grafo</a:t>
            </a:r>
            <a:endParaRPr lang="en-US" sz="1300" dirty="0"/>
          </a:p>
        </p:txBody>
      </p:sp>
      <p:pic>
        <p:nvPicPr>
          <p:cNvPr id="18" name="Image 2" descr="arrow-right">    </p:cNvPr>
          <p:cNvPicPr>
            <a:picLocks noChangeAspect="1"/>
          </p:cNvPicPr>
          <p:nvPr/>
        </p:nvPicPr>
        <p:blipFill>
          <a:blip r:embed="rId3"/>
          <a:srcRect l="0" r="0" t="0" b="0"/>
          <a:stretch/>
        </p:blipFill>
        <p:spPr>
          <a:xfrm>
            <a:off x="8712200" y="2721670"/>
            <a:ext cx="355600" cy="177800"/>
          </a:xfrm>
          <a:prstGeom prst="rect">
            <a:avLst/>
          </a:prstGeom>
        </p:spPr>
      </p:pic>
      <p:sp>
        <p:nvSpPr>
          <p:cNvPr id="19" name="Shape 14"/>
          <p:cNvSpPr/>
          <p:nvPr/>
        </p:nvSpPr>
        <p:spPr>
          <a:xfrm>
            <a:off x="9201150" y="1809651"/>
            <a:ext cx="2171700" cy="2001838"/>
          </a:xfrm>
          <a:prstGeom prst="roundRect">
            <a:avLst>
              <a:gd name="adj" fmla="val 4758"/>
            </a:avLst>
          </a:prstGeom>
          <a:solidFill>
            <a:srgbClr val="FCFBFA"/>
          </a:solidFill>
          <a:ln w="12700">
            <a:solidFill>
              <a:srgbClr val="D81E05"/>
            </a:solidFill>
            <a:prstDash val="solid"/>
          </a:ln>
        </p:spPr>
      </p:sp>
      <p:sp>
        <p:nvSpPr>
          <p:cNvPr id="20" name="Text 15"/>
          <p:cNvSpPr/>
          <p:nvPr/>
        </p:nvSpPr>
        <p:spPr>
          <a:xfrm>
            <a:off x="9410700" y="2019201"/>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04</a:t>
            </a:r>
            <a:endParaRPr lang="en-US" sz="1200" dirty="0"/>
          </a:p>
        </p:txBody>
      </p:sp>
      <p:sp>
        <p:nvSpPr>
          <p:cNvPr id="21" name="Text 16"/>
          <p:cNvSpPr/>
          <p:nvPr/>
        </p:nvSpPr>
        <p:spPr>
          <a:xfrm>
            <a:off x="9410700" y="2308721"/>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Se cierra con resultado</a:t>
            </a:r>
            <a:endParaRPr lang="en-US" sz="1800" dirty="0"/>
          </a:p>
        </p:txBody>
      </p:sp>
      <p:sp>
        <p:nvSpPr>
          <p:cNvPr id="22" name="Text 17"/>
          <p:cNvSpPr/>
          <p:nvPr/>
        </p:nvSpPr>
        <p:spPr>
          <a:xfrm>
            <a:off x="9410700" y="2933402"/>
            <a:ext cx="18051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Y se mide: tiempos, carga, aciertos por regla</a:t>
            </a:r>
            <a:endParaRPr lang="en-US" sz="1300" dirty="0"/>
          </a:p>
        </p:txBody>
      </p:sp>
      <p:sp>
        <p:nvSpPr>
          <p:cNvPr id="23" name="Text 18"/>
          <p:cNvSpPr/>
          <p:nvPr/>
        </p:nvSpPr>
        <p:spPr>
          <a:xfrm>
            <a:off x="3378200" y="4071838"/>
            <a:ext cx="2260600" cy="365720"/>
          </a:xfrm>
          <a:prstGeom prst="roundRect">
            <a:avLst>
              <a:gd name="adj" fmla="val 50000"/>
            </a:avLst>
          </a:prstGeom>
          <a:solidFill>
            <a:srgbClr val="D81E05"/>
          </a:solidFill>
          <a:ln/>
        </p:spPr>
        <p:txBody>
          <a:bodyPr wrap="square" lIns="69505" tIns="22642" rIns="69505" bIns="0" rtlCol="0" anchor="t">
            <a:normAutofit/>
          </a:bodyPr>
          <a:lstStyle/>
          <a:p>
            <a:pPr algn="ctr" indent="0" marL="0">
              <a:lnSpc>
                <a:spcPts val="1680"/>
              </a:lnSpc>
              <a:buNone/>
            </a:pPr>
            <a:r>
              <a:rPr lang="en-US" sz="1200" b="1" dirty="0">
                <a:solidFill>
                  <a:srgbClr val="FCFBFA"/>
                </a:solidFill>
                <a:latin typeface="IBM Plex Sans" pitchFamily="34" charset="0"/>
                <a:ea typeface="IBM Plex Sans" pitchFamily="34" charset="-122"/>
                <a:cs typeface="IBM Plex Sans" pitchFamily="34" charset="-120"/>
              </a:rPr>
              <a:t>Reglas + modelo de pesos</a:t>
            </a:r>
            <a:endParaRPr lang="en-US" sz="1200" dirty="0"/>
          </a:p>
        </p:txBody>
      </p:sp>
      <p:sp>
        <p:nvSpPr>
          <p:cNvPr id="24" name="Text 19"/>
          <p:cNvSpPr/>
          <p:nvPr/>
        </p:nvSpPr>
        <p:spPr>
          <a:xfrm>
            <a:off x="6248400" y="4071838"/>
            <a:ext cx="2260600" cy="365720"/>
          </a:xfrm>
          <a:prstGeom prst="roundRect">
            <a:avLst>
              <a:gd name="adj" fmla="val 50000"/>
            </a:avLst>
          </a:prstGeom>
          <a:solidFill>
            <a:srgbClr val="D81E05"/>
          </a:solidFill>
          <a:ln/>
        </p:spPr>
        <p:txBody>
          <a:bodyPr wrap="square" lIns="69505" tIns="22642" rIns="69505" bIns="0" rtlCol="0" anchor="t">
            <a:normAutofit/>
          </a:bodyPr>
          <a:lstStyle/>
          <a:p>
            <a:pPr algn="ctr" indent="0" marL="0">
              <a:lnSpc>
                <a:spcPts val="1680"/>
              </a:lnSpc>
              <a:buNone/>
            </a:pPr>
            <a:r>
              <a:rPr lang="en-US" sz="1200" b="1" dirty="0">
                <a:solidFill>
                  <a:srgbClr val="FCFBFA"/>
                </a:solidFill>
                <a:latin typeface="IBM Plex Sans" pitchFamily="34" charset="0"/>
                <a:ea typeface="IBM Plex Sans" pitchFamily="34" charset="-122"/>
                <a:cs typeface="IBM Plex Sans" pitchFamily="34" charset="-120"/>
              </a:rPr>
              <a:t>Herramienta de carga i2</a:t>
            </a:r>
            <a:endParaRPr lang="en-US" sz="1200" dirty="0"/>
          </a:p>
        </p:txBody>
      </p:sp>
      <p:sp>
        <p:nvSpPr>
          <p:cNvPr id="25" name="Text 20"/>
          <p:cNvSpPr/>
          <p:nvPr/>
        </p:nvSpPr>
        <p:spPr>
          <a:xfrm>
            <a:off x="9118600" y="4071838"/>
            <a:ext cx="2260600" cy="365720"/>
          </a:xfrm>
          <a:prstGeom prst="roundRect">
            <a:avLst>
              <a:gd name="adj" fmla="val 50000"/>
            </a:avLst>
          </a:prstGeom>
          <a:solidFill>
            <a:srgbClr val="D81E05"/>
          </a:solidFill>
          <a:ln/>
        </p:spPr>
        <p:txBody>
          <a:bodyPr wrap="square" lIns="69505" tIns="22642" rIns="69505" bIns="0" rtlCol="0" anchor="t">
            <a:normAutofit/>
          </a:bodyPr>
          <a:lstStyle/>
          <a:p>
            <a:pPr algn="ctr" indent="0" marL="0">
              <a:lnSpc>
                <a:spcPts val="1680"/>
              </a:lnSpc>
              <a:buNone/>
            </a:pPr>
            <a:r>
              <a:rPr lang="en-US" sz="1200" b="1" dirty="0">
                <a:solidFill>
                  <a:srgbClr val="FCFBFA"/>
                </a:solidFill>
                <a:latin typeface="IBM Plex Sans" pitchFamily="34" charset="0"/>
                <a:ea typeface="IBM Plex Sans" pitchFamily="34" charset="-122"/>
                <a:cs typeface="IBM Plex Sans" pitchFamily="34" charset="-120"/>
              </a:rPr>
              <a:t>Dashboard</a:t>
            </a:r>
            <a:endParaRPr lang="en-US" sz="1200" dirty="0"/>
          </a:p>
        </p:txBody>
      </p:sp>
      <p:sp>
        <p:nvSpPr>
          <p:cNvPr id="26" name="Shape 21"/>
          <p:cNvSpPr/>
          <p:nvPr/>
        </p:nvSpPr>
        <p:spPr>
          <a:xfrm>
            <a:off x="812800" y="4691559"/>
            <a:ext cx="10566400" cy="571500"/>
          </a:xfrm>
          <a:prstGeom prst="roundRect">
            <a:avLst>
              <a:gd name="adj" fmla="val 17778"/>
            </a:avLst>
          </a:prstGeom>
          <a:solidFill>
            <a:srgbClr val="EDEAE6"/>
          </a:solidFill>
          <a:ln/>
        </p:spPr>
      </p:sp>
      <p:pic>
        <p:nvPicPr>
          <p:cNvPr id="27" name="Image 3" descr="arrow-left">    </p:cNvPr>
          <p:cNvPicPr>
            <a:picLocks noChangeAspect="1"/>
          </p:cNvPicPr>
          <p:nvPr/>
        </p:nvPicPr>
        <p:blipFill>
          <a:blip r:embed="rId4"/>
          <a:srcRect l="0" r="0" t="0" b="0"/>
          <a:stretch/>
        </p:blipFill>
        <p:spPr>
          <a:xfrm>
            <a:off x="1016000" y="4875709"/>
            <a:ext cx="406400" cy="203200"/>
          </a:xfrm>
          <a:prstGeom prst="rect">
            <a:avLst/>
          </a:prstGeom>
        </p:spPr>
      </p:pic>
      <p:sp>
        <p:nvSpPr>
          <p:cNvPr id="28" name="Text 22"/>
          <p:cNvSpPr/>
          <p:nvPr/>
        </p:nvSpPr>
        <p:spPr>
          <a:xfrm>
            <a:off x="1574800" y="4843959"/>
            <a:ext cx="9889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2626"/>
                </a:solidFill>
                <a:latin typeface="IBM Plex Sans" pitchFamily="34" charset="0"/>
                <a:ea typeface="IBM Plex Sans" pitchFamily="34" charset="-122"/>
                <a:cs typeface="IBM Plex Sans" pitchFamily="34" charset="-120"/>
              </a:rPr>
              <a:t>El cierre vuelve al inicio:</a:t>
            </a:r>
            <a:r>
              <a:rPr lang="en-US" sz="1500" dirty="0">
                <a:solidFill>
                  <a:srgbClr val="262626"/>
                </a:solidFill>
                <a:latin typeface="IBM Plex Sans" pitchFamily="34" charset="0"/>
                <a:ea typeface="IBM Plex Sans" pitchFamily="34" charset="-122"/>
                <a:cs typeface="IBM Plex Sans" pitchFamily="34" charset="-120"/>
              </a:rPr>
              <a:t> el resultado de cada expediente ajusta el peso de las reglas para la siguiente alerta</a:t>
            </a:r>
            <a:endParaRPr lang="en-US" sz="1500" dirty="0"/>
          </a:p>
        </p:txBody>
      </p:sp>
      <p:sp>
        <p:nvSpPr>
          <p:cNvPr id="29"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30"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81E05"/>
        </a:solidFill>
      </p:bgPr>
    </p:bg>
    <p:spTree>
      <p:nvGrpSpPr>
        <p:cNvPr id="1" name=""/>
        <p:cNvGrpSpPr/>
        <p:nvPr/>
      </p:nvGrpSpPr>
      <p:grpSpPr>
        <a:xfrm>
          <a:off x="0" y="0"/>
          <a:ext cx="0" cy="0"/>
          <a:chOff x="0" y="0"/>
          <a:chExt cx="0" cy="0"/>
        </a:xfrm>
      </p:grpSpPr>
      <p:sp>
        <p:nvSpPr>
          <p:cNvPr id="2" name="Text 0"/>
          <p:cNvSpPr/>
          <p:nvPr/>
        </p:nvSpPr>
        <p:spPr>
          <a:xfrm>
            <a:off x="812800" y="812800"/>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D5CF"/>
                </a:solidFill>
                <a:latin typeface="Work Sans" pitchFamily="34" charset="0"/>
                <a:ea typeface="Work Sans" pitchFamily="34" charset="-122"/>
                <a:cs typeface="Work Sans" pitchFamily="34" charset="-120"/>
              </a:rPr>
              <a:t>01</a:t>
            </a:r>
            <a:endParaRPr lang="en-US" sz="4800" dirty="0"/>
          </a:p>
        </p:txBody>
      </p:sp>
      <p:sp>
        <p:nvSpPr>
          <p:cNvPr id="3" name="Text 1"/>
          <p:cNvSpPr/>
          <p:nvPr>
            <p:ph type="title"/>
          </p:nvPr>
        </p:nvSpPr>
        <p:spPr>
          <a:xfrm>
            <a:off x="812800" y="5179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CFBFA"/>
                </a:solidFill>
                <a:latin typeface="Work Sans" pitchFamily="34" charset="0"/>
                <a:ea typeface="Work Sans" pitchFamily="34" charset="-122"/>
                <a:cs typeface="Work Sans" pitchFamily="34" charset="-120"/>
              </a:rPr>
              <a:t>Reglas de detección y modelo de pesos</a:t>
            </a:r>
            <a:endParaRPr lang="en-US" sz="3200" dirty="0"/>
          </a:p>
        </p:txBody>
      </p:sp>
      <p:sp>
        <p:nvSpPr>
          <p:cNvPr id="4" name="Text 2"/>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D5CF"/>
                </a:solidFill>
                <a:latin typeface="IBM Plex Sans" pitchFamily="34" charset="0"/>
                <a:ea typeface="IBM Plex Sans" pitchFamily="34" charset="-122"/>
                <a:cs typeface="IBM Plex Sans" pitchFamily="34" charset="-120"/>
              </a:rPr>
              <a:t>Cómo se marca un siniestro y por qué no todas las alertas valen lo mismo · 10 min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REGLAS DE DETECCIÓN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Una regla es una pregunta con respuesta sí o no</a:t>
            </a:r>
            <a:endParaRPr lang="en-US" sz="3200" dirty="0"/>
          </a:p>
        </p:txBody>
      </p:sp>
      <p:sp>
        <p:nvSpPr>
          <p:cNvPr id="4" name="Shape 2"/>
          <p:cNvSpPr/>
          <p:nvPr/>
        </p:nvSpPr>
        <p:spPr>
          <a:xfrm>
            <a:off x="819150" y="2599730"/>
            <a:ext cx="3373934" cy="1658342"/>
          </a:xfrm>
          <a:prstGeom prst="roundRect">
            <a:avLst>
              <a:gd name="adj" fmla="val 5744"/>
            </a:avLst>
          </a:prstGeom>
          <a:solidFill>
            <a:srgbClr val="FCFBFA"/>
          </a:solidFill>
          <a:ln w="12700">
            <a:solidFill>
              <a:srgbClr val="DDD8D3"/>
            </a:solidFill>
            <a:prstDash val="solid"/>
          </a:ln>
        </p:spPr>
      </p:sp>
      <p:sp>
        <p:nvSpPr>
          <p:cNvPr id="5" name="Text 3"/>
          <p:cNvSpPr/>
          <p:nvPr/>
        </p:nvSpPr>
        <p:spPr>
          <a:xfrm>
            <a:off x="1079500" y="286008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7A7A"/>
                </a:solidFill>
                <a:latin typeface="IBM Plex Sans" pitchFamily="34" charset="0"/>
                <a:ea typeface="IBM Plex Sans" pitchFamily="34" charset="-122"/>
                <a:cs typeface="IBM Plex Sans" pitchFamily="34" charset="-120"/>
              </a:rPr>
              <a:t>SOBRE EL SINIESTRO</a:t>
            </a:r>
            <a:endParaRPr lang="en-US" sz="1200" dirty="0"/>
          </a:p>
        </p:txBody>
      </p:sp>
      <p:sp>
        <p:nvSpPr>
          <p:cNvPr id="6" name="Text 4"/>
          <p:cNvSpPr/>
          <p:nvPr/>
        </p:nvSpPr>
        <p:spPr>
          <a:xfrm>
            <a:off x="1079500" y="3175000"/>
            <a:ext cx="293883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¿Se comunicó más de [__] días después de ocurrir?</a:t>
            </a:r>
            <a:endParaRPr lang="en-US" sz="1800" dirty="0"/>
          </a:p>
        </p:txBody>
      </p:sp>
      <p:sp>
        <p:nvSpPr>
          <p:cNvPr id="7" name="Shape 5"/>
          <p:cNvSpPr/>
          <p:nvPr/>
        </p:nvSpPr>
        <p:spPr>
          <a:xfrm>
            <a:off x="4408984" y="2599730"/>
            <a:ext cx="3373934" cy="1658342"/>
          </a:xfrm>
          <a:prstGeom prst="roundRect">
            <a:avLst>
              <a:gd name="adj" fmla="val 5744"/>
            </a:avLst>
          </a:prstGeom>
          <a:solidFill>
            <a:srgbClr val="FCFBFA"/>
          </a:solidFill>
          <a:ln w="12700">
            <a:solidFill>
              <a:srgbClr val="DDD8D3"/>
            </a:solidFill>
            <a:prstDash val="solid"/>
          </a:ln>
        </p:spPr>
      </p:sp>
      <p:sp>
        <p:nvSpPr>
          <p:cNvPr id="8" name="Text 6"/>
          <p:cNvSpPr/>
          <p:nvPr/>
        </p:nvSpPr>
        <p:spPr>
          <a:xfrm>
            <a:off x="4669334" y="286008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7A7A"/>
                </a:solidFill>
                <a:latin typeface="IBM Plex Sans" pitchFamily="34" charset="0"/>
                <a:ea typeface="IBM Plex Sans" pitchFamily="34" charset="-122"/>
                <a:cs typeface="IBM Plex Sans" pitchFamily="34" charset="-120"/>
              </a:rPr>
              <a:t>SOBRE EL LESIONADO</a:t>
            </a:r>
            <a:endParaRPr lang="en-US" sz="1200" dirty="0"/>
          </a:p>
        </p:txBody>
      </p:sp>
      <p:sp>
        <p:nvSpPr>
          <p:cNvPr id="9" name="Text 7"/>
          <p:cNvSpPr/>
          <p:nvPr/>
        </p:nvSpPr>
        <p:spPr>
          <a:xfrm>
            <a:off x="4669334" y="3175000"/>
            <a:ext cx="2938831" cy="848122"/>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¿Figura ya en otros siniestros de los últimos [__] meses?</a:t>
            </a:r>
            <a:endParaRPr lang="en-US" sz="1800" dirty="0"/>
          </a:p>
        </p:txBody>
      </p:sp>
      <p:sp>
        <p:nvSpPr>
          <p:cNvPr id="10" name="Shape 8"/>
          <p:cNvSpPr/>
          <p:nvPr/>
        </p:nvSpPr>
        <p:spPr>
          <a:xfrm>
            <a:off x="7998817" y="2599730"/>
            <a:ext cx="3373934" cy="1658342"/>
          </a:xfrm>
          <a:prstGeom prst="roundRect">
            <a:avLst>
              <a:gd name="adj" fmla="val 5744"/>
            </a:avLst>
          </a:prstGeom>
          <a:solidFill>
            <a:srgbClr val="FCFBFA"/>
          </a:solidFill>
          <a:ln w="12700">
            <a:solidFill>
              <a:srgbClr val="DDD8D3"/>
            </a:solidFill>
            <a:prstDash val="solid"/>
          </a:ln>
        </p:spPr>
      </p:sp>
      <p:sp>
        <p:nvSpPr>
          <p:cNvPr id="11" name="Text 9"/>
          <p:cNvSpPr/>
          <p:nvPr/>
        </p:nvSpPr>
        <p:spPr>
          <a:xfrm>
            <a:off x="8259167" y="2860080"/>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7A7A"/>
                </a:solidFill>
                <a:latin typeface="IBM Plex Sans" pitchFamily="34" charset="0"/>
                <a:ea typeface="IBM Plex Sans" pitchFamily="34" charset="-122"/>
                <a:cs typeface="IBM Plex Sans" pitchFamily="34" charset="-120"/>
              </a:rPr>
              <a:t>SOBRE EL PATRÓN</a:t>
            </a:r>
            <a:endParaRPr lang="en-US" sz="1200" dirty="0"/>
          </a:p>
        </p:txBody>
      </p:sp>
      <p:sp>
        <p:nvSpPr>
          <p:cNvPr id="12" name="Text 10"/>
          <p:cNvSpPr/>
          <p:nvPr/>
        </p:nvSpPr>
        <p:spPr>
          <a:xfrm>
            <a:off x="8259167" y="3175000"/>
            <a:ext cx="2938831" cy="848122"/>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¿Coinciden taller y clínica con otro siniestro reciente?</a:t>
            </a:r>
            <a:endParaRPr lang="en-US" sz="1800" dirty="0"/>
          </a:p>
        </p:txBody>
      </p:sp>
      <p:sp>
        <p:nvSpPr>
          <p:cNvPr id="13" name="Text 11"/>
          <p:cNvSpPr/>
          <p:nvPr/>
        </p:nvSpPr>
        <p:spPr>
          <a:xfrm>
            <a:off x="812800" y="530850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Hoy hay </a:t>
            </a:r>
            <a:r>
              <a:rPr lang="en-US" sz="1500" b="1" dirty="0">
                <a:solidFill>
                  <a:srgbClr val="4A4A4A"/>
                </a:solidFill>
                <a:latin typeface="IBM Plex Sans" pitchFamily="34" charset="0"/>
                <a:ea typeface="IBM Plex Sans" pitchFamily="34" charset="-122"/>
                <a:cs typeface="IBM Plex Sans" pitchFamily="34" charset="-120"/>
              </a:rPr>
              <a:t>[__] reglas</a:t>
            </a:r>
            <a:r>
              <a:rPr lang="en-US" sz="1500" dirty="0">
                <a:solidFill>
                  <a:srgbClr val="4A4A4A"/>
                </a:solidFill>
                <a:latin typeface="IBM Plex Sans" pitchFamily="34" charset="0"/>
                <a:ea typeface="IBM Plex Sans" pitchFamily="34" charset="-122"/>
                <a:cs typeface="IBM Plex Sans" pitchFamily="34" charset="-120"/>
              </a:rPr>
              <a:t> activas. Cada una que salta suma puntos al siniestro. La pregunta es cuántos puntos debería sumar cada una.</a:t>
            </a:r>
            <a:endParaRPr lang="en-US" sz="15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 · Ejemplos ilustrativos</a:t>
            </a:r>
            <a:endParaRPr lang="en-US" sz="1200" dirty="0"/>
          </a:p>
        </p:txBody>
      </p:sp>
      <p:sp>
        <p:nvSpPr>
          <p:cNvPr id="15"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MODELO DE PESOS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No todas las reglas valen lo mismo</a:t>
            </a:r>
            <a:endParaRPr lang="en-US" sz="3200" dirty="0"/>
          </a:p>
        </p:txBody>
      </p:sp>
      <p:sp>
        <p:nvSpPr>
          <p:cNvPr id="4" name="Shape 2"/>
          <p:cNvSpPr/>
          <p:nvPr/>
        </p:nvSpPr>
        <p:spPr>
          <a:xfrm>
            <a:off x="812800" y="2551410"/>
            <a:ext cx="5162550" cy="2021681"/>
          </a:xfrm>
          <a:prstGeom prst="roundRect">
            <a:avLst>
              <a:gd name="adj" fmla="val 5026"/>
            </a:avLst>
          </a:prstGeom>
          <a:solidFill>
            <a:srgbClr val="FCFBFA"/>
          </a:solidFill>
          <a:ln/>
        </p:spPr>
      </p:sp>
      <p:sp>
        <p:nvSpPr>
          <p:cNvPr id="5" name="Text 3"/>
          <p:cNvSpPr/>
          <p:nvPr/>
        </p:nvSpPr>
        <p:spPr>
          <a:xfrm>
            <a:off x="1066800" y="2805410"/>
            <a:ext cx="479418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Parte comunicado tarde</a:t>
            </a:r>
            <a:endParaRPr lang="en-US" sz="1800" dirty="0"/>
          </a:p>
        </p:txBody>
      </p:sp>
      <p:sp>
        <p:nvSpPr>
          <p:cNvPr id="6" name="Text 4"/>
          <p:cNvSpPr/>
          <p:nvPr/>
        </p:nvSpPr>
        <p:spPr>
          <a:xfrm>
            <a:off x="1066800" y="3232051"/>
            <a:ext cx="23186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A7A7A"/>
                </a:solidFill>
                <a:latin typeface="Work Sans" pitchFamily="34" charset="0"/>
                <a:ea typeface="Work Sans" pitchFamily="34" charset="-122"/>
                <a:cs typeface="Work Sans" pitchFamily="34" charset="-120"/>
              </a:rPr>
              <a:t>[__ %]</a:t>
            </a:r>
            <a:endParaRPr lang="en-US" sz="3200" dirty="0"/>
          </a:p>
        </p:txBody>
      </p:sp>
      <p:sp>
        <p:nvSpPr>
          <p:cNvPr id="7" name="Text 5"/>
          <p:cNvSpPr/>
          <p:nvPr/>
        </p:nvSpPr>
        <p:spPr>
          <a:xfrm>
            <a:off x="1066800" y="3663851"/>
            <a:ext cx="2318607"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A4A"/>
                </a:solidFill>
                <a:latin typeface="IBM Plex Sans" pitchFamily="34" charset="0"/>
                <a:ea typeface="IBM Plex Sans" pitchFamily="34" charset="-122"/>
                <a:cs typeface="IBM Plex Sans" pitchFamily="34" charset="-120"/>
              </a:rPr>
              <a:t>de los siniestros la activan</a:t>
            </a:r>
            <a:endParaRPr lang="en-US" sz="1200" dirty="0"/>
          </a:p>
        </p:txBody>
      </p:sp>
      <p:sp>
        <p:nvSpPr>
          <p:cNvPr id="8" name="Text 6"/>
          <p:cNvSpPr/>
          <p:nvPr/>
        </p:nvSpPr>
        <p:spPr>
          <a:xfrm>
            <a:off x="3470275" y="3232051"/>
            <a:ext cx="23186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7A7A7A"/>
                </a:solidFill>
                <a:latin typeface="Work Sans" pitchFamily="34" charset="0"/>
                <a:ea typeface="Work Sans" pitchFamily="34" charset="-122"/>
                <a:cs typeface="Work Sans" pitchFamily="34" charset="-120"/>
              </a:rPr>
              <a:t>[__ %]</a:t>
            </a:r>
            <a:endParaRPr lang="en-US" sz="3200" dirty="0"/>
          </a:p>
        </p:txBody>
      </p:sp>
      <p:sp>
        <p:nvSpPr>
          <p:cNvPr id="9" name="Text 7"/>
          <p:cNvSpPr/>
          <p:nvPr/>
        </p:nvSpPr>
        <p:spPr>
          <a:xfrm>
            <a:off x="3470275" y="3663851"/>
            <a:ext cx="250507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A4A"/>
                </a:solidFill>
                <a:latin typeface="IBM Plex Sans" pitchFamily="34" charset="0"/>
                <a:ea typeface="IBM Plex Sans" pitchFamily="34" charset="-122"/>
                <a:cs typeface="IBM Plex Sans" pitchFamily="34" charset="-120"/>
              </a:rPr>
              <a:t>acaban con indicios confirmados</a:t>
            </a:r>
            <a:endParaRPr lang="en-US" sz="1200" dirty="0"/>
          </a:p>
        </p:txBody>
      </p:sp>
      <p:sp>
        <p:nvSpPr>
          <p:cNvPr id="10" name="Text 8"/>
          <p:cNvSpPr/>
          <p:nvPr/>
        </p:nvSpPr>
        <p:spPr>
          <a:xfrm>
            <a:off x="1066800" y="4014291"/>
            <a:ext cx="4794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Salta mucho, acierta poco. </a:t>
            </a:r>
            <a:r>
              <a:rPr lang="en-US" sz="1500" b="1" dirty="0">
                <a:solidFill>
                  <a:srgbClr val="262626"/>
                </a:solidFill>
                <a:latin typeface="IBM Plex Sans" pitchFamily="34" charset="0"/>
                <a:ea typeface="IBM Plex Sans" pitchFamily="34" charset="-122"/>
                <a:cs typeface="IBM Plex Sans" pitchFamily="34" charset="-120"/>
              </a:rPr>
              <a:t>Peso bajo.</a:t>
            </a:r>
            <a:endParaRPr lang="en-US" sz="1500" dirty="0"/>
          </a:p>
        </p:txBody>
      </p:sp>
      <p:sp>
        <p:nvSpPr>
          <p:cNvPr id="11" name="Shape 9"/>
          <p:cNvSpPr/>
          <p:nvPr/>
        </p:nvSpPr>
        <p:spPr>
          <a:xfrm>
            <a:off x="6188075" y="2560935"/>
            <a:ext cx="5181600" cy="2002631"/>
          </a:xfrm>
          <a:prstGeom prst="roundRect">
            <a:avLst>
              <a:gd name="adj" fmla="val 4598"/>
            </a:avLst>
          </a:prstGeom>
          <a:solidFill>
            <a:srgbClr val="FCFBFA"/>
          </a:solidFill>
          <a:ln w="19050">
            <a:solidFill>
              <a:srgbClr val="D81E05"/>
            </a:solidFill>
            <a:prstDash val="solid"/>
          </a:ln>
        </p:spPr>
      </p:sp>
      <p:sp>
        <p:nvSpPr>
          <p:cNvPr id="12" name="Text 10"/>
          <p:cNvSpPr/>
          <p:nvPr/>
        </p:nvSpPr>
        <p:spPr>
          <a:xfrm>
            <a:off x="6451600" y="2824460"/>
            <a:ext cx="479418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Mismo taller y mismo lesionado</a:t>
            </a:r>
            <a:endParaRPr lang="en-US" sz="1800" dirty="0"/>
          </a:p>
        </p:txBody>
      </p:sp>
      <p:sp>
        <p:nvSpPr>
          <p:cNvPr id="13" name="Text 11"/>
          <p:cNvSpPr/>
          <p:nvPr/>
        </p:nvSpPr>
        <p:spPr>
          <a:xfrm>
            <a:off x="6451600" y="3251101"/>
            <a:ext cx="23186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D81E05"/>
                </a:solidFill>
                <a:latin typeface="Work Sans" pitchFamily="34" charset="0"/>
                <a:ea typeface="Work Sans" pitchFamily="34" charset="-122"/>
                <a:cs typeface="Work Sans" pitchFamily="34" charset="-120"/>
              </a:rPr>
              <a:t>[__ %]</a:t>
            </a:r>
            <a:endParaRPr lang="en-US" sz="3200" dirty="0"/>
          </a:p>
        </p:txBody>
      </p:sp>
      <p:sp>
        <p:nvSpPr>
          <p:cNvPr id="14" name="Text 12"/>
          <p:cNvSpPr/>
          <p:nvPr/>
        </p:nvSpPr>
        <p:spPr>
          <a:xfrm>
            <a:off x="6451600" y="3682901"/>
            <a:ext cx="2318607"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A4A"/>
                </a:solidFill>
                <a:latin typeface="IBM Plex Sans" pitchFamily="34" charset="0"/>
                <a:ea typeface="IBM Plex Sans" pitchFamily="34" charset="-122"/>
                <a:cs typeface="IBM Plex Sans" pitchFamily="34" charset="-120"/>
              </a:rPr>
              <a:t>de los siniestros la activan</a:t>
            </a:r>
            <a:endParaRPr lang="en-US" sz="1200" dirty="0"/>
          </a:p>
        </p:txBody>
      </p:sp>
      <p:sp>
        <p:nvSpPr>
          <p:cNvPr id="15" name="Text 13"/>
          <p:cNvSpPr/>
          <p:nvPr/>
        </p:nvSpPr>
        <p:spPr>
          <a:xfrm>
            <a:off x="8855075" y="3251101"/>
            <a:ext cx="23186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D81E05"/>
                </a:solidFill>
                <a:latin typeface="Work Sans" pitchFamily="34" charset="0"/>
                <a:ea typeface="Work Sans" pitchFamily="34" charset="-122"/>
                <a:cs typeface="Work Sans" pitchFamily="34" charset="-120"/>
              </a:rPr>
              <a:t>[__ %]</a:t>
            </a:r>
            <a:endParaRPr lang="en-US" sz="3200" dirty="0"/>
          </a:p>
        </p:txBody>
      </p:sp>
      <p:sp>
        <p:nvSpPr>
          <p:cNvPr id="16" name="Text 14"/>
          <p:cNvSpPr/>
          <p:nvPr/>
        </p:nvSpPr>
        <p:spPr>
          <a:xfrm>
            <a:off x="8855075" y="3682901"/>
            <a:ext cx="250507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A4A"/>
                </a:solidFill>
                <a:latin typeface="IBM Plex Sans" pitchFamily="34" charset="0"/>
                <a:ea typeface="IBM Plex Sans" pitchFamily="34" charset="-122"/>
                <a:cs typeface="IBM Plex Sans" pitchFamily="34" charset="-120"/>
              </a:rPr>
              <a:t>acaban con indicios confirmados</a:t>
            </a:r>
            <a:endParaRPr lang="en-US" sz="1200" dirty="0"/>
          </a:p>
        </p:txBody>
      </p:sp>
      <p:sp>
        <p:nvSpPr>
          <p:cNvPr id="17" name="Text 15"/>
          <p:cNvSpPr/>
          <p:nvPr/>
        </p:nvSpPr>
        <p:spPr>
          <a:xfrm>
            <a:off x="6451600" y="4033341"/>
            <a:ext cx="4794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Salta poco, acierta casi siempre. </a:t>
            </a:r>
            <a:r>
              <a:rPr lang="en-US" sz="1500" b="1" dirty="0">
                <a:solidFill>
                  <a:srgbClr val="262626"/>
                </a:solidFill>
                <a:latin typeface="IBM Plex Sans" pitchFamily="34" charset="0"/>
                <a:ea typeface="IBM Plex Sans" pitchFamily="34" charset="-122"/>
                <a:cs typeface="IBM Plex Sans" pitchFamily="34" charset="-120"/>
              </a:rPr>
              <a:t>Peso alto.</a:t>
            </a:r>
            <a:endParaRPr lang="en-US" sz="1500" dirty="0"/>
          </a:p>
        </p:txBody>
      </p:sp>
      <p:sp>
        <p:nvSpPr>
          <p:cNvPr id="18" name="Text 16"/>
          <p:cNvSpPr/>
          <p:nvPr/>
        </p:nvSpPr>
        <p:spPr>
          <a:xfrm>
            <a:off x="812800" y="5575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Si las dos sumaran lo mismo, la bandeja de alertas estaría llena de partes tardíos y la red del taller esperaría su turno.</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 · Ejemplo ilustrativo</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MODELO DE PESOS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El modelo aprende de vuestros cierres</a:t>
            </a:r>
            <a:endParaRPr lang="en-US" sz="3200" dirty="0"/>
          </a:p>
        </p:txBody>
      </p:sp>
      <p:sp>
        <p:nvSpPr>
          <p:cNvPr id="4" name="Shape 2"/>
          <p:cNvSpPr/>
          <p:nvPr/>
        </p:nvSpPr>
        <p:spPr>
          <a:xfrm>
            <a:off x="819150" y="2236589"/>
            <a:ext cx="2171700" cy="2224683"/>
          </a:xfrm>
          <a:prstGeom prst="roundRect">
            <a:avLst>
              <a:gd name="adj" fmla="val 4386"/>
            </a:avLst>
          </a:prstGeom>
          <a:solidFill>
            <a:srgbClr val="FCFBFA"/>
          </a:solidFill>
          <a:ln w="12700">
            <a:solidFill>
              <a:srgbClr val="DDD8D3"/>
            </a:solidFill>
            <a:prstDash val="solid"/>
          </a:ln>
        </p:spPr>
      </p:sp>
      <p:sp>
        <p:nvSpPr>
          <p:cNvPr id="5" name="Text 3"/>
          <p:cNvSpPr/>
          <p:nvPr/>
        </p:nvSpPr>
        <p:spPr>
          <a:xfrm>
            <a:off x="1028700" y="2446139"/>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Paso 1</a:t>
            </a:r>
            <a:endParaRPr lang="en-US" sz="1200" dirty="0"/>
          </a:p>
        </p:txBody>
      </p:sp>
      <p:sp>
        <p:nvSpPr>
          <p:cNvPr id="6" name="Text 4"/>
          <p:cNvSpPr/>
          <p:nvPr/>
        </p:nvSpPr>
        <p:spPr>
          <a:xfrm>
            <a:off x="1028700" y="2735659"/>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Cerráis el expediente</a:t>
            </a:r>
            <a:endParaRPr lang="en-US" sz="1800" dirty="0"/>
          </a:p>
        </p:txBody>
      </p:sp>
      <p:sp>
        <p:nvSpPr>
          <p:cNvPr id="7" name="Text 5"/>
          <p:cNvSpPr/>
          <p:nvPr/>
        </p:nvSpPr>
        <p:spPr>
          <a:xfrm>
            <a:off x="1028700" y="3360341"/>
            <a:ext cx="1805178"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Con el motivo de cierre codificado: indicios, sin indicios, no investigable</a:t>
            </a:r>
            <a:endParaRPr lang="en-US" sz="1300" dirty="0"/>
          </a:p>
        </p:txBody>
      </p:sp>
      <p:pic>
        <p:nvPicPr>
          <p:cNvPr id="8" name="Image 0" descr="arrow-right">    </p:cNvPr>
          <p:cNvPicPr>
            <a:picLocks noChangeAspect="1"/>
          </p:cNvPicPr>
          <p:nvPr/>
        </p:nvPicPr>
        <p:blipFill>
          <a:blip r:embed="rId1"/>
          <a:srcRect l="0" r="0" t="0" b="0"/>
          <a:stretch/>
        </p:blipFill>
        <p:spPr>
          <a:xfrm>
            <a:off x="3124200" y="3260030"/>
            <a:ext cx="355600" cy="177800"/>
          </a:xfrm>
          <a:prstGeom prst="rect">
            <a:avLst/>
          </a:prstGeom>
        </p:spPr>
      </p:pic>
      <p:sp>
        <p:nvSpPr>
          <p:cNvPr id="9" name="Shape 6"/>
          <p:cNvSpPr/>
          <p:nvPr/>
        </p:nvSpPr>
        <p:spPr>
          <a:xfrm>
            <a:off x="3613150" y="2236589"/>
            <a:ext cx="2171700" cy="2224683"/>
          </a:xfrm>
          <a:prstGeom prst="roundRect">
            <a:avLst>
              <a:gd name="adj" fmla="val 4386"/>
            </a:avLst>
          </a:prstGeom>
          <a:solidFill>
            <a:srgbClr val="FCFBFA"/>
          </a:solidFill>
          <a:ln w="12700">
            <a:solidFill>
              <a:srgbClr val="DDD8D3"/>
            </a:solidFill>
            <a:prstDash val="solid"/>
          </a:ln>
        </p:spPr>
      </p:sp>
      <p:sp>
        <p:nvSpPr>
          <p:cNvPr id="10" name="Text 7"/>
          <p:cNvSpPr/>
          <p:nvPr/>
        </p:nvSpPr>
        <p:spPr>
          <a:xfrm>
            <a:off x="3822700" y="2446139"/>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Paso 2</a:t>
            </a:r>
            <a:endParaRPr lang="en-US" sz="1200" dirty="0"/>
          </a:p>
        </p:txBody>
      </p:sp>
      <p:sp>
        <p:nvSpPr>
          <p:cNvPr id="11" name="Text 8"/>
          <p:cNvSpPr/>
          <p:nvPr/>
        </p:nvSpPr>
        <p:spPr>
          <a:xfrm>
            <a:off x="3822700" y="2735659"/>
            <a:ext cx="18051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El modelo mide</a:t>
            </a:r>
            <a:endParaRPr lang="en-US" sz="1800" dirty="0"/>
          </a:p>
        </p:txBody>
      </p:sp>
      <p:sp>
        <p:nvSpPr>
          <p:cNvPr id="12" name="Text 9"/>
          <p:cNvSpPr/>
          <p:nvPr/>
        </p:nvSpPr>
        <p:spPr>
          <a:xfrm>
            <a:off x="3822700" y="3086100"/>
            <a:ext cx="1805178"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Qué reglas estaban activas en los expedientes con indicios y en los que no</a:t>
            </a:r>
            <a:endParaRPr lang="en-US" sz="1300" dirty="0"/>
          </a:p>
        </p:txBody>
      </p:sp>
      <p:pic>
        <p:nvPicPr>
          <p:cNvPr id="13" name="Image 1" descr="arrow-right">    </p:cNvPr>
          <p:cNvPicPr>
            <a:picLocks noChangeAspect="1"/>
          </p:cNvPicPr>
          <p:nvPr/>
        </p:nvPicPr>
        <p:blipFill>
          <a:blip r:embed="rId2"/>
          <a:srcRect l="0" r="0" t="0" b="0"/>
          <a:stretch/>
        </p:blipFill>
        <p:spPr>
          <a:xfrm>
            <a:off x="5918200" y="3260030"/>
            <a:ext cx="355600" cy="177800"/>
          </a:xfrm>
          <a:prstGeom prst="rect">
            <a:avLst/>
          </a:prstGeom>
        </p:spPr>
      </p:pic>
      <p:sp>
        <p:nvSpPr>
          <p:cNvPr id="14" name="Shape 10"/>
          <p:cNvSpPr/>
          <p:nvPr/>
        </p:nvSpPr>
        <p:spPr>
          <a:xfrm>
            <a:off x="6407150" y="2236589"/>
            <a:ext cx="2171700" cy="2224683"/>
          </a:xfrm>
          <a:prstGeom prst="roundRect">
            <a:avLst>
              <a:gd name="adj" fmla="val 4386"/>
            </a:avLst>
          </a:prstGeom>
          <a:solidFill>
            <a:srgbClr val="FCFBFA"/>
          </a:solidFill>
          <a:ln w="12700">
            <a:solidFill>
              <a:srgbClr val="DDD8D3"/>
            </a:solidFill>
            <a:prstDash val="solid"/>
          </a:ln>
        </p:spPr>
      </p:sp>
      <p:sp>
        <p:nvSpPr>
          <p:cNvPr id="15" name="Text 11"/>
          <p:cNvSpPr/>
          <p:nvPr/>
        </p:nvSpPr>
        <p:spPr>
          <a:xfrm>
            <a:off x="6616700" y="2446139"/>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Paso 3</a:t>
            </a:r>
            <a:endParaRPr lang="en-US" sz="1200" dirty="0"/>
          </a:p>
        </p:txBody>
      </p:sp>
      <p:sp>
        <p:nvSpPr>
          <p:cNvPr id="16" name="Text 12"/>
          <p:cNvSpPr/>
          <p:nvPr/>
        </p:nvSpPr>
        <p:spPr>
          <a:xfrm>
            <a:off x="6616700" y="2735659"/>
            <a:ext cx="19558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Recalcula pesos</a:t>
            </a:r>
            <a:endParaRPr lang="en-US" sz="1800" dirty="0"/>
          </a:p>
        </p:txBody>
      </p:sp>
      <p:sp>
        <p:nvSpPr>
          <p:cNvPr id="17" name="Text 13"/>
          <p:cNvSpPr/>
          <p:nvPr/>
        </p:nvSpPr>
        <p:spPr>
          <a:xfrm>
            <a:off x="6616700" y="3086100"/>
            <a:ext cx="18051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Sube las reglas que aciertan y baja las que solo hacen ruido</a:t>
            </a:r>
            <a:endParaRPr lang="en-US" sz="1300" dirty="0"/>
          </a:p>
        </p:txBody>
      </p:sp>
      <p:pic>
        <p:nvPicPr>
          <p:cNvPr id="18" name="Image 2" descr="arrow-right">    </p:cNvPr>
          <p:cNvPicPr>
            <a:picLocks noChangeAspect="1"/>
          </p:cNvPicPr>
          <p:nvPr/>
        </p:nvPicPr>
        <p:blipFill>
          <a:blip r:embed="rId3"/>
          <a:srcRect l="0" r="0" t="0" b="0"/>
          <a:stretch/>
        </p:blipFill>
        <p:spPr>
          <a:xfrm>
            <a:off x="8712200" y="3260030"/>
            <a:ext cx="355600" cy="177800"/>
          </a:xfrm>
          <a:prstGeom prst="rect">
            <a:avLst/>
          </a:prstGeom>
        </p:spPr>
      </p:pic>
      <p:sp>
        <p:nvSpPr>
          <p:cNvPr id="19" name="Shape 14"/>
          <p:cNvSpPr/>
          <p:nvPr/>
        </p:nvSpPr>
        <p:spPr>
          <a:xfrm>
            <a:off x="9201150" y="2236589"/>
            <a:ext cx="2171700" cy="2224683"/>
          </a:xfrm>
          <a:prstGeom prst="roundRect">
            <a:avLst>
              <a:gd name="adj" fmla="val 4386"/>
            </a:avLst>
          </a:prstGeom>
          <a:solidFill>
            <a:srgbClr val="FCFBFA"/>
          </a:solidFill>
          <a:ln w="12700">
            <a:solidFill>
              <a:srgbClr val="DDD8D3"/>
            </a:solidFill>
            <a:prstDash val="solid"/>
          </a:ln>
        </p:spPr>
      </p:sp>
      <p:sp>
        <p:nvSpPr>
          <p:cNvPr id="20" name="Text 15"/>
          <p:cNvSpPr/>
          <p:nvPr/>
        </p:nvSpPr>
        <p:spPr>
          <a:xfrm>
            <a:off x="9410700" y="2446139"/>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81E05"/>
                </a:solidFill>
                <a:latin typeface="IBM Plex Sans" pitchFamily="34" charset="0"/>
                <a:ea typeface="IBM Plex Sans" pitchFamily="34" charset="-122"/>
                <a:cs typeface="IBM Plex Sans" pitchFamily="34" charset="-120"/>
              </a:rPr>
              <a:t>Paso 4</a:t>
            </a:r>
            <a:endParaRPr lang="en-US" sz="1200" dirty="0"/>
          </a:p>
        </p:txBody>
      </p:sp>
      <p:sp>
        <p:nvSpPr>
          <p:cNvPr id="21" name="Text 16"/>
          <p:cNvSpPr/>
          <p:nvPr/>
        </p:nvSpPr>
        <p:spPr>
          <a:xfrm>
            <a:off x="9410700" y="2735659"/>
            <a:ext cx="180517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La alerta llega priorizada</a:t>
            </a:r>
            <a:endParaRPr lang="en-US" sz="1800" dirty="0"/>
          </a:p>
        </p:txBody>
      </p:sp>
      <p:sp>
        <p:nvSpPr>
          <p:cNvPr id="22" name="Text 17"/>
          <p:cNvSpPr/>
          <p:nvPr/>
        </p:nvSpPr>
        <p:spPr>
          <a:xfrm>
            <a:off x="9410700" y="3360341"/>
            <a:ext cx="1805178"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Primero en la bandeja lo que más probabilidad tiene de acabar en fraude</a:t>
            </a:r>
            <a:endParaRPr lang="en-US" sz="1300" dirty="0"/>
          </a:p>
        </p:txBody>
      </p:sp>
      <p:sp>
        <p:nvSpPr>
          <p:cNvPr id="23" name="Shape 18"/>
          <p:cNvSpPr/>
          <p:nvPr/>
        </p:nvSpPr>
        <p:spPr>
          <a:xfrm>
            <a:off x="838200" y="5148560"/>
            <a:ext cx="0" cy="693341"/>
          </a:xfrm>
          <a:prstGeom prst="line">
            <a:avLst/>
          </a:prstGeom>
          <a:noFill/>
          <a:ln w="50800">
            <a:solidFill>
              <a:srgbClr val="D81E05"/>
            </a:solidFill>
            <a:prstDash val="solid"/>
          </a:ln>
        </p:spPr>
      </p:sp>
      <p:sp>
        <p:nvSpPr>
          <p:cNvPr id="24" name="Text 19"/>
          <p:cNvSpPr/>
          <p:nvPr/>
        </p:nvSpPr>
        <p:spPr>
          <a:xfrm>
            <a:off x="1066800" y="5199360"/>
            <a:ext cx="106217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Vuestras decisiones de cierre son el combustible del modelo.</a:t>
            </a:r>
            <a:endParaRPr lang="en-US" sz="1800" dirty="0"/>
          </a:p>
        </p:txBody>
      </p:sp>
      <p:sp>
        <p:nvSpPr>
          <p:cNvPr id="25" name="Text 20"/>
          <p:cNvSpPr/>
          <p:nvPr/>
        </p:nvSpPr>
        <p:spPr>
          <a:xfrm>
            <a:off x="1066800" y="5524401"/>
            <a:ext cx="106217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Un cierre sin motivo codificado es un caso del que el sistema no aprende nada.</a:t>
            </a:r>
            <a:endParaRPr lang="en-US" sz="1500" dirty="0"/>
          </a:p>
        </p:txBody>
      </p:sp>
      <p:sp>
        <p:nvSpPr>
          <p:cNvPr id="26"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27"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REGLAS Y MODELO DE PESOS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Qué cambia en vuestra bandeja</a:t>
            </a:r>
            <a:endParaRPr lang="en-US" sz="3200" dirty="0"/>
          </a:p>
        </p:txBody>
      </p:sp>
      <p:sp>
        <p:nvSpPr>
          <p:cNvPr id="4" name="Shape 2"/>
          <p:cNvSpPr/>
          <p:nvPr/>
        </p:nvSpPr>
        <p:spPr>
          <a:xfrm>
            <a:off x="812800" y="1854101"/>
            <a:ext cx="10566400" cy="3467100"/>
          </a:xfrm>
          <a:prstGeom prst="roundRect">
            <a:avLst>
              <a:gd name="adj" fmla="val 2930"/>
            </a:avLst>
          </a:prstGeom>
          <a:solidFill>
            <a:srgbClr val="FCFBFA"/>
          </a:solidFill>
          <a:ln/>
        </p:spPr>
      </p:sp>
      <p:sp>
        <p:nvSpPr>
          <p:cNvPr id="5" name="Shape 3"/>
          <p:cNvSpPr/>
          <p:nvPr/>
        </p:nvSpPr>
        <p:spPr>
          <a:xfrm>
            <a:off x="812800" y="1854101"/>
            <a:ext cx="10566400" cy="3467100"/>
          </a:xfrm>
          <a:custGeom>
            <a:avLst/>
            <a:gdLst/>
            <a:ahLst/>
            <a:cxnLst/>
            <a:rect l="l" t="t" r="r" b="b"/>
            <a:pathLst>
              <a:path w="10566400" h="3467100">
                <a:moveTo>
                  <a:pt x="101600" y="3467100"/>
                </a:moveTo>
                <a:lnTo>
                  <a:pt x="101600" y="3467100"/>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365500"/>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454400"/>
        </p:xfrm>
        <a:graphic>
          <a:graphicData uri="http://schemas.openxmlformats.org/drawingml/2006/table">
            <a:tbl>
              <a:tblPr/>
              <a:tblGrid>
                <a:gridCol w="5276850"/>
                <a:gridCol w="5276850"/>
              </a:tblGrid>
              <a:tr h="584200">
                <a:tc>
                  <a:txBody>
                    <a:bodyPr/>
                    <a:lstStyle/>
                    <a:p>
                      <a:pPr indent="0" marL="0">
                        <a:lnSpc>
                          <a:spcPts val="2100"/>
                        </a:lnSpc>
                        <a:buNone/>
                      </a:pPr>
                      <a:r>
                        <a:rPr lang="en-US" sz="1500" b="1" dirty="0">
                          <a:solidFill>
                            <a:srgbClr val="FCFBFA"/>
                          </a:solidFill>
                          <a:latin typeface="IBM Plex Sans" pitchFamily="34" charset="0"/>
                          <a:ea typeface="IBM Plex Sans" pitchFamily="34" charset="-122"/>
                          <a:cs typeface="IBM Plex Sans" pitchFamily="34" charset="-120"/>
                        </a:rPr>
                        <a:t>Antes</a:t>
                      </a:r>
                      <a:endParaRPr lang="en-US" sz="1500" dirty="0">
                        <a:latin typeface="IBM Plex Sans" charset="0"/>
                        <a:ea typeface="IBM Plex Sans" charset="0"/>
                        <a:cs typeface="IBM Plex Sans" charset="0"/>
                      </a:endParaRPr>
                    </a:p>
                  </a:txBody>
                  <a:tcPr marL="203200" marR="203200" marT="152400" marB="152400" anchor="t">
                    <a:lnL w="0" cap="flat" cmpd="sng" algn="ctr">
                      <a:noFill/>
                    </a:lnL>
                    <a:lnR w="12700" cap="flat" cmpd="sng" algn="ctr">
                      <a:solidFill>
                        <a:srgbClr val="222222"/>
                      </a:solidFill>
                      <a:prstDash val="solid"/>
                      <a:round/>
                      <a:headEnd type="none" w="med" len="med"/>
                      <a:tailEnd type="none" w="med" len="med"/>
                    </a:lnR>
                    <a:lnT w="0" cap="flat" cmpd="sng" algn="ctr">
                      <a:noFill/>
                    </a:lnT>
                    <a:lnB w="12700" cap="flat" cmpd="sng" algn="ctr">
                      <a:solidFill>
                        <a:srgbClr val="222222"/>
                      </a:solidFill>
                      <a:prstDash val="solid"/>
                      <a:round/>
                      <a:headEnd type="none" w="med" len="med"/>
                      <a:tailEnd type="none" w="med" len="med"/>
                    </a:lnB>
                    <a:solidFill>
                      <a:srgbClr val="262626"/>
                    </a:solidFill>
                  </a:tcPr>
                </a:tc>
                <a:tc>
                  <a:txBody>
                    <a:bodyPr/>
                    <a:lstStyle/>
                    <a:p>
                      <a:pPr indent="0" marL="0">
                        <a:lnSpc>
                          <a:spcPts val="2100"/>
                        </a:lnSpc>
                        <a:buNone/>
                      </a:pPr>
                      <a:r>
                        <a:rPr lang="en-US" sz="1500" b="1" dirty="0">
                          <a:solidFill>
                            <a:srgbClr val="FCFBFA"/>
                          </a:solidFill>
                          <a:latin typeface="IBM Plex Sans" pitchFamily="34" charset="0"/>
                          <a:ea typeface="IBM Plex Sans" pitchFamily="34" charset="-122"/>
                          <a:cs typeface="IBM Plex Sans" pitchFamily="34" charset="-120"/>
                        </a:rPr>
                        <a:t>Ahora</a:t>
                      </a:r>
                      <a:endParaRPr lang="en-US" sz="1500" dirty="0">
                        <a:latin typeface="IBM Plex Sans" charset="0"/>
                        <a:ea typeface="IBM Plex Sans" charset="0"/>
                        <a:cs typeface="IBM Plex Sans" charset="0"/>
                      </a:endParaRPr>
                    </a:p>
                  </a:txBody>
                  <a:tcPr marL="203200" marR="203200" marT="152400" marB="152400" anchor="t">
                    <a:lnL w="12700" cap="flat" cmpd="sng" algn="ctr">
                      <a:solidFill>
                        <a:srgbClr val="222222"/>
                      </a:solidFill>
                      <a:prstDash val="solid"/>
                      <a:round/>
                      <a:headEnd type="none" w="med" len="med"/>
                      <a:tailEnd type="none" w="med" len="med"/>
                    </a:lnL>
                    <a:lnR w="12700" cap="flat" cmpd="sng" algn="ctr">
                      <a:solidFill>
                        <a:srgbClr val="222222"/>
                      </a:solidFill>
                      <a:prstDash val="solid"/>
                      <a:round/>
                      <a:headEnd type="none" w="med" len="med"/>
                      <a:tailEnd type="none" w="med" len="med"/>
                    </a:lnR>
                    <a:lnT w="0" cap="flat" cmpd="sng" algn="ctr">
                      <a:noFill/>
                    </a:lnT>
                    <a:lnB w="12700" cap="flat" cmpd="sng" algn="ctr">
                      <a:solidFill>
                        <a:srgbClr val="222222"/>
                      </a:solidFill>
                      <a:prstDash val="solid"/>
                      <a:round/>
                      <a:headEnd type="none" w="med" len="med"/>
                      <a:tailEnd type="none" w="med" len="med"/>
                    </a:lnB>
                    <a:solidFill>
                      <a:srgbClr val="262626"/>
                    </a:solidFill>
                  </a:tcPr>
                </a:tc>
              </a:tr>
              <a:tr h="584200">
                <a:tc>
                  <a:txBody>
                    <a:bodyPr/>
                    <a:lstStyle/>
                    <a:p>
                      <a:pPr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Las alertas llegan por orden de entrada</a:t>
                      </a:r>
                      <a:endParaRPr lang="en-US" sz="1500" dirty="0">
                        <a:latin typeface="IBM Plex Sans" charset="0"/>
                        <a:ea typeface="IBM Plex Sans" charset="0"/>
                        <a:cs typeface="IBM Plex Sans" charset="0"/>
                      </a:endParaRPr>
                    </a:p>
                  </a:txBody>
                  <a:tcPr marL="203200" marR="203200" marT="152400" marB="152400" anchor="t">
                    <a:lnL w="0" cap="flat" cmpd="sng" algn="ctr">
                      <a:noFill/>
                    </a:lnL>
                    <a:lnR w="12700" cap="flat" cmpd="sng" algn="ctr">
                      <a:solidFill>
                        <a:srgbClr val="C9C8C7"/>
                      </a:solidFill>
                      <a:prstDash val="solid"/>
                      <a:round/>
                      <a:headEnd type="none" w="med" len="med"/>
                      <a:tailEnd type="none" w="med" len="med"/>
                    </a:lnR>
                    <a:lnT w="12700" cap="flat" cmpd="sng" algn="ctr">
                      <a:solidFill>
                        <a:srgbClr val="222222"/>
                      </a:solidFill>
                      <a:prstDash val="solid"/>
                      <a:round/>
                      <a:headEnd type="none" w="med" len="med"/>
                      <a:tailEnd type="none" w="med" len="med"/>
                    </a:lnT>
                    <a:lnB w="12700" cap="flat" cmpd="sng" algn="ctr">
                      <a:solidFill>
                        <a:srgbClr val="C9C8C7"/>
                      </a:solidFill>
                      <a:prstDash val="solid"/>
                      <a:round/>
                      <a:headEnd type="none" w="med" len="med"/>
                      <a:tailEnd type="none" w="med" len="med"/>
                    </a:lnB>
                  </a:tcPr>
                </a:tc>
                <a:tc>
                  <a:txBody>
                    <a:bodyPr/>
                    <a:lstStyle/>
                    <a:p>
                      <a:pPr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Las alertas llegan ordenadas por probabilidad de fraude</a:t>
                      </a:r>
                      <a:endParaRPr lang="en-US" sz="1500" dirty="0">
                        <a:latin typeface="IBM Plex Sans" charset="0"/>
                        <a:ea typeface="IBM Plex Sans" charset="0"/>
                        <a:cs typeface="IBM Plex Sans" charset="0"/>
                      </a:endParaRPr>
                    </a:p>
                  </a:txBody>
                  <a:tcPr marL="203200" marR="203200" marT="152400" marB="152400" anchor="t">
                    <a:lnL w="12700" cap="flat" cmpd="sng" algn="ctr">
                      <a:solidFill>
                        <a:srgbClr val="C9C8C7"/>
                      </a:solidFill>
                      <a:prstDash val="solid"/>
                      <a:round/>
                      <a:headEnd type="none" w="med" len="med"/>
                      <a:tailEnd type="none" w="med" len="med"/>
                    </a:lnL>
                    <a:lnR w="12700" cap="flat" cmpd="sng" algn="ctr">
                      <a:solidFill>
                        <a:srgbClr val="C9C8C7"/>
                      </a:solidFill>
                      <a:prstDash val="solid"/>
                      <a:round/>
                      <a:headEnd type="none" w="med" len="med"/>
                      <a:tailEnd type="none" w="med" len="med"/>
                    </a:lnR>
                    <a:lnT w="12700" cap="flat" cmpd="sng" algn="ctr">
                      <a:solidFill>
                        <a:srgbClr val="222222"/>
                      </a:solidFill>
                      <a:prstDash val="solid"/>
                      <a:round/>
                      <a:headEnd type="none" w="med" len="med"/>
                      <a:tailEnd type="none" w="med" len="med"/>
                    </a:lnT>
                    <a:lnB w="12700" cap="flat" cmpd="sng" algn="ctr">
                      <a:solidFill>
                        <a:srgbClr val="C9C8C7"/>
                      </a:solidFill>
                      <a:prstDash val="solid"/>
                      <a:round/>
                      <a:headEnd type="none" w="med" len="med"/>
                      <a:tailEnd type="none" w="med" len="med"/>
                    </a:lnB>
                  </a:tcPr>
                </a:tc>
              </a:tr>
              <a:tr h="850900">
                <a:tc>
                  <a:txBody>
                    <a:bodyPr/>
                    <a:lstStyle/>
                    <a:p>
                      <a:pPr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Todas las reglas suman lo mismo</a:t>
                      </a:r>
                      <a:endParaRPr lang="en-US" sz="1500" dirty="0">
                        <a:latin typeface="IBM Plex Sans" charset="0"/>
                        <a:ea typeface="IBM Plex Sans" charset="0"/>
                        <a:cs typeface="IBM Plex Sans" charset="0"/>
                      </a:endParaRPr>
                    </a:p>
                  </a:txBody>
                  <a:tcPr marL="203200" marR="203200" marT="152400" marB="152400" anchor="t">
                    <a:lnL w="0" cap="flat" cmpd="sng" algn="ctr">
                      <a:noFill/>
                    </a:lnL>
                    <a:lnR w="12700" cap="flat" cmpd="sng" algn="ctr">
                      <a:solidFill>
                        <a:srgbClr val="C5C4C2"/>
                      </a:solidFill>
                      <a:prstDash val="solid"/>
                      <a:round/>
                      <a:headEnd type="none" w="med" len="med"/>
                      <a:tailEnd type="none" w="med" len="med"/>
                    </a:lnR>
                    <a:lnT w="12700" cap="flat" cmpd="sng" algn="ctr">
                      <a:solidFill>
                        <a:srgbClr val="C9C8C7"/>
                      </a:solidFill>
                      <a:prstDash val="solid"/>
                      <a:round/>
                      <a:headEnd type="none" w="med" len="med"/>
                      <a:tailEnd type="none" w="med" len="med"/>
                    </a:lnT>
                    <a:lnB w="12700" cap="flat" cmpd="sng" algn="ctr">
                      <a:solidFill>
                        <a:srgbClr val="C5C4C2"/>
                      </a:solidFill>
                      <a:prstDash val="solid"/>
                      <a:round/>
                      <a:headEnd type="none" w="med" len="med"/>
                      <a:tailEnd type="none" w="med" len="med"/>
                    </a:lnB>
                    <a:solidFill>
                      <a:srgbClr val="F7F5F3"/>
                    </a:solidFill>
                  </a:tcPr>
                </a:tc>
                <a:tc>
                  <a:txBody>
                    <a:bodyPr/>
                    <a:lstStyle/>
                    <a:p>
                      <a:pPr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Cada regla pesa según lo que ha acertado en expedientes reales</a:t>
                      </a:r>
                      <a:endParaRPr lang="en-US" sz="1500" dirty="0">
                        <a:latin typeface="IBM Plex Sans" charset="0"/>
                        <a:ea typeface="IBM Plex Sans" charset="0"/>
                        <a:cs typeface="IBM Plex Sans" charset="0"/>
                      </a:endParaRPr>
                    </a:p>
                  </a:txBody>
                  <a:tcPr marL="203200" marR="203200" marT="152400" marB="15240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9C8C7"/>
                      </a:solidFill>
                      <a:prstDash val="solid"/>
                      <a:round/>
                      <a:headEnd type="none" w="med" len="med"/>
                      <a:tailEnd type="none" w="med" len="med"/>
                    </a:lnT>
                    <a:lnB w="12700" cap="flat" cmpd="sng" algn="ctr">
                      <a:solidFill>
                        <a:srgbClr val="C5C4C2"/>
                      </a:solidFill>
                      <a:prstDash val="solid"/>
                      <a:round/>
                      <a:headEnd type="none" w="med" len="med"/>
                      <a:tailEnd type="none" w="med" len="med"/>
                    </a:lnB>
                    <a:solidFill>
                      <a:srgbClr val="F7F5F3"/>
                    </a:solidFill>
                  </a:tcPr>
                </a:tc>
              </a:tr>
              <a:tr h="850900">
                <a:tc>
                  <a:txBody>
                    <a:bodyPr/>
                    <a:lstStyle/>
                    <a:p>
                      <a:pPr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El peso de una regla se cambia a mano, cuando alguien se acuerda</a:t>
                      </a:r>
                      <a:endParaRPr lang="en-US" sz="1500" dirty="0">
                        <a:latin typeface="IBM Plex Sans" charset="0"/>
                        <a:ea typeface="IBM Plex Sans" charset="0"/>
                        <a:cs typeface="IBM Plex Sans" charset="0"/>
                      </a:endParaRPr>
                    </a:p>
                  </a:txBody>
                  <a:tcPr marL="203200" marR="203200" marT="152400" marB="152400" anchor="t">
                    <a:lnL w="0" cap="flat" cmpd="sng" algn="ctr">
                      <a:noFill/>
                    </a:lnL>
                    <a:lnR w="12700" cap="flat" cmpd="sng" algn="ctr">
                      <a:solidFill>
                        <a:srgbClr val="C9C8C7"/>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9C8C7"/>
                      </a:solidFill>
                      <a:prstDash val="solid"/>
                      <a:round/>
                      <a:headEnd type="none" w="med" len="med"/>
                      <a:tailEnd type="none" w="med" len="med"/>
                    </a:lnB>
                  </a:tcPr>
                </a:tc>
                <a:tc>
                  <a:txBody>
                    <a:bodyPr/>
                    <a:lstStyle/>
                    <a:p>
                      <a:pPr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El peso se revisa cada [periodo] con los cierres del equipo</a:t>
                      </a:r>
                      <a:endParaRPr lang="en-US" sz="1500" dirty="0">
                        <a:latin typeface="IBM Plex Sans" charset="0"/>
                        <a:ea typeface="IBM Plex Sans" charset="0"/>
                        <a:cs typeface="IBM Plex Sans" charset="0"/>
                      </a:endParaRPr>
                    </a:p>
                  </a:txBody>
                  <a:tcPr marL="203200" marR="203200" marT="152400" marB="152400" anchor="t">
                    <a:lnL w="12700" cap="flat" cmpd="sng" algn="ctr">
                      <a:solidFill>
                        <a:srgbClr val="C9C8C7"/>
                      </a:solidFill>
                      <a:prstDash val="solid"/>
                      <a:round/>
                      <a:headEnd type="none" w="med" len="med"/>
                      <a:tailEnd type="none" w="med" len="med"/>
                    </a:lnL>
                    <a:lnR w="12700" cap="flat" cmpd="sng" algn="ctr">
                      <a:solidFill>
                        <a:srgbClr val="C9C8C7"/>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9C8C7"/>
                      </a:solidFill>
                      <a:prstDash val="solid"/>
                      <a:round/>
                      <a:headEnd type="none" w="med" len="med"/>
                      <a:tailEnd type="none" w="med" len="med"/>
                    </a:lnB>
                  </a:tcPr>
                </a:tc>
              </a:tr>
              <a:tr h="584200">
                <a:tc>
                  <a:txBody>
                    <a:bodyPr/>
                    <a:lstStyle/>
                    <a:p>
                      <a:pPr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El cierre de un expediente acaba en un archivo</a:t>
                      </a:r>
                      <a:endParaRPr lang="en-US" sz="1500" dirty="0">
                        <a:latin typeface="IBM Plex Sans" charset="0"/>
                        <a:ea typeface="IBM Plex Sans" charset="0"/>
                        <a:cs typeface="IBM Plex Sans" charset="0"/>
                      </a:endParaRPr>
                    </a:p>
                  </a:txBody>
                  <a:tcPr marL="203200" marR="203200" marT="152400" marB="152400" anchor="t">
                    <a:lnL w="0" cap="flat" cmpd="sng" algn="ctr">
                      <a:noFill/>
                    </a:lnL>
                    <a:lnR w="12700" cap="flat" cmpd="sng" algn="ctr">
                      <a:solidFill>
                        <a:srgbClr val="C5C4C2"/>
                      </a:solidFill>
                      <a:prstDash val="solid"/>
                      <a:round/>
                      <a:headEnd type="none" w="med" len="med"/>
                      <a:tailEnd type="none" w="med" len="med"/>
                    </a:lnR>
                    <a:lnT w="12700" cap="flat" cmpd="sng" algn="ctr">
                      <a:solidFill>
                        <a:srgbClr val="C9C8C7"/>
                      </a:solidFill>
                      <a:prstDash val="solid"/>
                      <a:round/>
                      <a:headEnd type="none" w="med" len="med"/>
                      <a:tailEnd type="none" w="med" len="med"/>
                    </a:lnT>
                    <a:lnB w="12700" cap="flat" cmpd="sng" algn="ctr">
                      <a:solidFill>
                        <a:srgbClr val="C5C4C2"/>
                      </a:solidFill>
                      <a:prstDash val="solid"/>
                      <a:round/>
                      <a:headEnd type="none" w="med" len="med"/>
                      <a:tailEnd type="none" w="med" len="med"/>
                    </a:lnB>
                    <a:solidFill>
                      <a:srgbClr val="F7F5F3"/>
                    </a:solidFill>
                  </a:tcPr>
                </a:tc>
                <a:tc>
                  <a:txBody>
                    <a:bodyPr/>
                    <a:lstStyle/>
                    <a:p>
                      <a:pPr indent="0" marL="0">
                        <a:lnSpc>
                          <a:spcPts val="2100"/>
                        </a:lnSpc>
                        <a:buNone/>
                      </a:pPr>
                      <a:r>
                        <a:rPr lang="en-US" sz="1500" dirty="0">
                          <a:solidFill>
                            <a:srgbClr val="262626"/>
                          </a:solidFill>
                          <a:latin typeface="IBM Plex Sans" pitchFamily="34" charset="0"/>
                          <a:ea typeface="IBM Plex Sans" pitchFamily="34" charset="-122"/>
                          <a:cs typeface="IBM Plex Sans" pitchFamily="34" charset="-120"/>
                        </a:rPr>
                        <a:t>El cierre mejora la siguiente alerta</a:t>
                      </a:r>
                      <a:endParaRPr lang="en-US" sz="1500" dirty="0">
                        <a:latin typeface="IBM Plex Sans" charset="0"/>
                        <a:ea typeface="IBM Plex Sans" charset="0"/>
                        <a:cs typeface="IBM Plex Sans" charset="0"/>
                      </a:endParaRPr>
                    </a:p>
                  </a:txBody>
                  <a:tcPr marL="203200" marR="203200" marT="152400" marB="15240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9C8C7"/>
                      </a:solidFill>
                      <a:prstDash val="solid"/>
                      <a:round/>
                      <a:headEnd type="none" w="med" len="med"/>
                      <a:tailEnd type="none" w="med" len="med"/>
                    </a:lnT>
                    <a:lnB w="12700" cap="flat" cmpd="sng" algn="ctr">
                      <a:solidFill>
                        <a:srgbClr val="C5C4C2"/>
                      </a:solidFill>
                      <a:prstDash val="solid"/>
                      <a:round/>
                      <a:headEnd type="none" w="med" len="med"/>
                      <a:tailEnd type="none" w="med" len="med"/>
                    </a:lnB>
                    <a:solidFill>
                      <a:srgbClr val="F7F5F3"/>
                    </a:solidFill>
                  </a:tcPr>
                </a:tc>
              </a:tr>
            </a:tbl>
          </a:graphicData>
        </a:graphic>
      </p:graphicFrame>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81E05"/>
        </a:solidFill>
      </p:bgPr>
    </p:bg>
    <p:spTree>
      <p:nvGrpSpPr>
        <p:cNvPr id="1" name=""/>
        <p:cNvGrpSpPr/>
        <p:nvPr/>
      </p:nvGrpSpPr>
      <p:grpSpPr>
        <a:xfrm>
          <a:off x="0" y="0"/>
          <a:ext cx="0" cy="0"/>
          <a:chOff x="0" y="0"/>
          <a:chExt cx="0" cy="0"/>
        </a:xfrm>
      </p:grpSpPr>
      <p:sp>
        <p:nvSpPr>
          <p:cNvPr id="2" name="Text 0"/>
          <p:cNvSpPr/>
          <p:nvPr/>
        </p:nvSpPr>
        <p:spPr>
          <a:xfrm>
            <a:off x="812800" y="812800"/>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D5CF"/>
                </a:solidFill>
                <a:latin typeface="Work Sans" pitchFamily="34" charset="0"/>
                <a:ea typeface="Work Sans" pitchFamily="34" charset="-122"/>
                <a:cs typeface="Work Sans" pitchFamily="34" charset="-120"/>
              </a:rPr>
              <a:t>02</a:t>
            </a:r>
            <a:endParaRPr lang="en-US" sz="4800" dirty="0"/>
          </a:p>
        </p:txBody>
      </p:sp>
      <p:sp>
        <p:nvSpPr>
          <p:cNvPr id="3" name="Text 1"/>
          <p:cNvSpPr/>
          <p:nvPr>
            <p:ph type="title"/>
          </p:nvPr>
        </p:nvSpPr>
        <p:spPr>
          <a:xfrm>
            <a:off x="812800" y="5179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CFBFA"/>
                </a:solidFill>
                <a:latin typeface="Work Sans" pitchFamily="34" charset="0"/>
                <a:ea typeface="Work Sans" pitchFamily="34" charset="-122"/>
                <a:cs typeface="Work Sans" pitchFamily="34" charset="-120"/>
              </a:rPr>
              <a:t>Herramienta de carga para i2</a:t>
            </a:r>
            <a:endParaRPr lang="en-US" sz="3200" dirty="0"/>
          </a:p>
        </p:txBody>
      </p:sp>
      <p:sp>
        <p:nvSpPr>
          <p:cNvPr id="4" name="Text 2"/>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D5CF"/>
                </a:solidFill>
                <a:latin typeface="IBM Plex Sans" pitchFamily="34" charset="0"/>
                <a:ea typeface="IBM Plex Sans" pitchFamily="34" charset="-122"/>
                <a:cs typeface="IBM Plex Sans" pitchFamily="34" charset="-120"/>
              </a:rPr>
              <a:t>De un Excel sucio a una red de relaciones en tres minutos · 8 min con demo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EL PROBLEMA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Antes de ver una red hay horas de limpieza</a:t>
            </a:r>
            <a:endParaRPr lang="en-US" sz="3200" dirty="0"/>
          </a:p>
        </p:txBody>
      </p:sp>
      <p:sp>
        <p:nvSpPr>
          <p:cNvPr id="4" name="Shape 2"/>
          <p:cNvSpPr/>
          <p:nvPr/>
        </p:nvSpPr>
        <p:spPr>
          <a:xfrm>
            <a:off x="819150" y="2230140"/>
            <a:ext cx="3373934" cy="2237581"/>
          </a:xfrm>
          <a:prstGeom prst="roundRect">
            <a:avLst>
              <a:gd name="adj" fmla="val 4257"/>
            </a:avLst>
          </a:prstGeom>
          <a:solidFill>
            <a:srgbClr val="FCFBFA"/>
          </a:solidFill>
          <a:ln w="12700">
            <a:solidFill>
              <a:srgbClr val="DDD8D3"/>
            </a:solidFill>
            <a:prstDash val="solid"/>
          </a:ln>
        </p:spPr>
      </p:sp>
      <p:sp>
        <p:nvSpPr>
          <p:cNvPr id="5" name="Text 3"/>
          <p:cNvSpPr/>
          <p:nvPr/>
        </p:nvSpPr>
        <p:spPr>
          <a:xfrm>
            <a:off x="1079500" y="2490490"/>
            <a:ext cx="29388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Cada Excel viene distinto</a:t>
            </a:r>
            <a:endParaRPr lang="en-US" sz="1800" dirty="0"/>
          </a:p>
        </p:txBody>
      </p:sp>
      <p:sp>
        <p:nvSpPr>
          <p:cNvPr id="6" name="Text 4"/>
          <p:cNvSpPr/>
          <p:nvPr/>
        </p:nvSpPr>
        <p:spPr>
          <a:xfrm>
            <a:off x="1079500" y="2866330"/>
            <a:ext cx="293883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Columnas con otro nombre, fechas en tres formatos, matrículas con espacios, DNI con y sin letra</a:t>
            </a:r>
            <a:endParaRPr lang="en-US" sz="1500" dirty="0"/>
          </a:p>
        </p:txBody>
      </p:sp>
      <p:sp>
        <p:nvSpPr>
          <p:cNvPr id="7" name="Shape 5"/>
          <p:cNvSpPr/>
          <p:nvPr/>
        </p:nvSpPr>
        <p:spPr>
          <a:xfrm>
            <a:off x="4408984" y="2230140"/>
            <a:ext cx="3373934" cy="2237581"/>
          </a:xfrm>
          <a:prstGeom prst="roundRect">
            <a:avLst>
              <a:gd name="adj" fmla="val 4257"/>
            </a:avLst>
          </a:prstGeom>
          <a:solidFill>
            <a:srgbClr val="FCFBFA"/>
          </a:solidFill>
          <a:ln w="12700">
            <a:solidFill>
              <a:srgbClr val="DDD8D3"/>
            </a:solidFill>
            <a:prstDash val="solid"/>
          </a:ln>
        </p:spPr>
      </p:sp>
      <p:sp>
        <p:nvSpPr>
          <p:cNvPr id="8" name="Text 6"/>
          <p:cNvSpPr/>
          <p:nvPr/>
        </p:nvSpPr>
        <p:spPr>
          <a:xfrm>
            <a:off x="4669334" y="2490490"/>
            <a:ext cx="293883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i2 exige un formato fijo</a:t>
            </a:r>
            <a:endParaRPr lang="en-US" sz="1800" dirty="0"/>
          </a:p>
        </p:txBody>
      </p:sp>
      <p:sp>
        <p:nvSpPr>
          <p:cNvPr id="9" name="Text 7"/>
          <p:cNvSpPr/>
          <p:nvPr/>
        </p:nvSpPr>
        <p:spPr>
          <a:xfrm>
            <a:off x="4669334" y="2866330"/>
            <a:ext cx="293883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Si una columna no coincide, no carga. La limpieza se hace a mano, cada vez, por cada persona</a:t>
            </a:r>
            <a:endParaRPr lang="en-US" sz="1500" dirty="0"/>
          </a:p>
        </p:txBody>
      </p:sp>
      <p:sp>
        <p:nvSpPr>
          <p:cNvPr id="10" name="Shape 8"/>
          <p:cNvSpPr/>
          <p:nvPr/>
        </p:nvSpPr>
        <p:spPr>
          <a:xfrm>
            <a:off x="7998817" y="2230140"/>
            <a:ext cx="3373934" cy="2237581"/>
          </a:xfrm>
          <a:prstGeom prst="roundRect">
            <a:avLst>
              <a:gd name="adj" fmla="val 4257"/>
            </a:avLst>
          </a:prstGeom>
          <a:solidFill>
            <a:srgbClr val="FCFBFA"/>
          </a:solidFill>
          <a:ln w="12700">
            <a:solidFill>
              <a:srgbClr val="DDD8D3"/>
            </a:solidFill>
            <a:prstDash val="solid"/>
          </a:ln>
        </p:spPr>
      </p:sp>
      <p:sp>
        <p:nvSpPr>
          <p:cNvPr id="11" name="Text 9"/>
          <p:cNvSpPr/>
          <p:nvPr/>
        </p:nvSpPr>
        <p:spPr>
          <a:xfrm>
            <a:off x="8259167" y="2490490"/>
            <a:ext cx="293883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Casos que nunca llegan al grafo</a:t>
            </a:r>
            <a:endParaRPr lang="en-US" sz="1800" dirty="0"/>
          </a:p>
        </p:txBody>
      </p:sp>
      <p:sp>
        <p:nvSpPr>
          <p:cNvPr id="12" name="Text 10"/>
          <p:cNvSpPr/>
          <p:nvPr/>
        </p:nvSpPr>
        <p:spPr>
          <a:xfrm>
            <a:off x="8259167" y="3140571"/>
            <a:ext cx="293883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Se investigan sin ver la red. La relación taller–clínica–lesionado queda en el expediente, no en la pantalla</a:t>
            </a:r>
            <a:endParaRPr lang="en-US" sz="1500" dirty="0"/>
          </a:p>
        </p:txBody>
      </p:sp>
      <p:sp>
        <p:nvSpPr>
          <p:cNvPr id="13" name="Shape 11"/>
          <p:cNvSpPr/>
          <p:nvPr/>
        </p:nvSpPr>
        <p:spPr>
          <a:xfrm>
            <a:off x="838200" y="5148560"/>
            <a:ext cx="0" cy="693341"/>
          </a:xfrm>
          <a:prstGeom prst="line">
            <a:avLst/>
          </a:prstGeom>
          <a:noFill/>
          <a:ln w="50800">
            <a:solidFill>
              <a:srgbClr val="D81E05"/>
            </a:solidFill>
            <a:prstDash val="solid"/>
          </a:ln>
        </p:spPr>
      </p:sp>
      <p:sp>
        <p:nvSpPr>
          <p:cNvPr id="14" name="Text 12"/>
          <p:cNvSpPr/>
          <p:nvPr/>
        </p:nvSpPr>
        <p:spPr>
          <a:xfrm>
            <a:off x="1066800" y="5199360"/>
            <a:ext cx="106217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La herramienta normaliza el Excel y genera el fichero que i2 espera.</a:t>
            </a:r>
            <a:endParaRPr lang="en-US" sz="1800" dirty="0"/>
          </a:p>
        </p:txBody>
      </p:sp>
      <p:sp>
        <p:nvSpPr>
          <p:cNvPr id="15" name="Text 13"/>
          <p:cNvSpPr/>
          <p:nvPr/>
        </p:nvSpPr>
        <p:spPr>
          <a:xfrm>
            <a:off x="1066800" y="5524401"/>
            <a:ext cx="106217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Sin tocar nada a mano y con el mismo resultado lo haga quien lo haga.</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DEMO · 3 MIN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De un Excel a una red en i2</a:t>
            </a:r>
            <a:endParaRPr lang="en-US" sz="3200" dirty="0"/>
          </a:p>
        </p:txBody>
      </p:sp>
      <p:sp>
        <p:nvSpPr>
          <p:cNvPr id="4" name="Text 2"/>
          <p:cNvSpPr/>
          <p:nvPr/>
        </p:nvSpPr>
        <p:spPr>
          <a:xfrm>
            <a:off x="812800" y="1854101"/>
            <a:ext cx="4572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1</a:t>
            </a:r>
            <a:endParaRPr lang="en-US" sz="1800" dirty="0"/>
          </a:p>
        </p:txBody>
      </p:sp>
      <p:sp>
        <p:nvSpPr>
          <p:cNvPr id="5" name="Text 3"/>
          <p:cNvSpPr/>
          <p:nvPr/>
        </p:nvSpPr>
        <p:spPr>
          <a:xfrm>
            <a:off x="1371600" y="1854101"/>
            <a:ext cx="361035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Subir el Excel</a:t>
            </a:r>
            <a:endParaRPr lang="en-US" sz="1800" dirty="0"/>
          </a:p>
        </p:txBody>
      </p:sp>
      <p:sp>
        <p:nvSpPr>
          <p:cNvPr id="6" name="Text 4"/>
          <p:cNvSpPr/>
          <p:nvPr/>
        </p:nvSpPr>
        <p:spPr>
          <a:xfrm>
            <a:off x="1371600" y="2153741"/>
            <a:ext cx="361035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Tal cual llega, sin preparar</a:t>
            </a:r>
            <a:endParaRPr lang="en-US" sz="1300" dirty="0"/>
          </a:p>
        </p:txBody>
      </p:sp>
      <p:sp>
        <p:nvSpPr>
          <p:cNvPr id="7" name="Text 5"/>
          <p:cNvSpPr/>
          <p:nvPr/>
        </p:nvSpPr>
        <p:spPr>
          <a:xfrm>
            <a:off x="812800" y="2528987"/>
            <a:ext cx="4572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2</a:t>
            </a:r>
            <a:endParaRPr lang="en-US" sz="1800" dirty="0"/>
          </a:p>
        </p:txBody>
      </p:sp>
      <p:sp>
        <p:nvSpPr>
          <p:cNvPr id="8" name="Text 6"/>
          <p:cNvSpPr/>
          <p:nvPr/>
        </p:nvSpPr>
        <p:spPr>
          <a:xfrm>
            <a:off x="1371600" y="2528987"/>
            <a:ext cx="361035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Confirmar el mapeo</a:t>
            </a:r>
            <a:endParaRPr lang="en-US" sz="1800" dirty="0"/>
          </a:p>
        </p:txBody>
      </p:sp>
      <p:sp>
        <p:nvSpPr>
          <p:cNvPr id="9" name="Text 7"/>
          <p:cNvSpPr/>
          <p:nvPr/>
        </p:nvSpPr>
        <p:spPr>
          <a:xfrm>
            <a:off x="1371600" y="2828627"/>
            <a:ext cx="36103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La herramienta propone qué columna es qué; se corrige si hace falta</a:t>
            </a:r>
            <a:endParaRPr lang="en-US" sz="1300" dirty="0"/>
          </a:p>
        </p:txBody>
      </p:sp>
      <p:sp>
        <p:nvSpPr>
          <p:cNvPr id="10" name="Text 8"/>
          <p:cNvSpPr/>
          <p:nvPr/>
        </p:nvSpPr>
        <p:spPr>
          <a:xfrm>
            <a:off x="812800" y="3426718"/>
            <a:ext cx="4572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3</a:t>
            </a:r>
            <a:endParaRPr lang="en-US" sz="1800" dirty="0"/>
          </a:p>
        </p:txBody>
      </p:sp>
      <p:sp>
        <p:nvSpPr>
          <p:cNvPr id="11" name="Text 9"/>
          <p:cNvSpPr/>
          <p:nvPr/>
        </p:nvSpPr>
        <p:spPr>
          <a:xfrm>
            <a:off x="1371600" y="3426718"/>
            <a:ext cx="361035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Descargar en formato i2</a:t>
            </a:r>
            <a:endParaRPr lang="en-US" sz="1800" dirty="0"/>
          </a:p>
        </p:txBody>
      </p:sp>
      <p:sp>
        <p:nvSpPr>
          <p:cNvPr id="12" name="Text 10"/>
          <p:cNvSpPr/>
          <p:nvPr/>
        </p:nvSpPr>
        <p:spPr>
          <a:xfrm>
            <a:off x="1371600" y="3726359"/>
            <a:ext cx="361035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Entidades y relaciones ya limpias</a:t>
            </a:r>
            <a:endParaRPr lang="en-US" sz="1300" dirty="0"/>
          </a:p>
        </p:txBody>
      </p:sp>
      <p:sp>
        <p:nvSpPr>
          <p:cNvPr id="13" name="Text 11"/>
          <p:cNvSpPr/>
          <p:nvPr/>
        </p:nvSpPr>
        <p:spPr>
          <a:xfrm>
            <a:off x="812800" y="4101604"/>
            <a:ext cx="4572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Work Sans" pitchFamily="34" charset="0"/>
                <a:ea typeface="Work Sans" pitchFamily="34" charset="-122"/>
                <a:cs typeface="Work Sans" pitchFamily="34" charset="-120"/>
              </a:rPr>
              <a:t>4</a:t>
            </a:r>
            <a:endParaRPr lang="en-US" sz="1800" dirty="0"/>
          </a:p>
        </p:txBody>
      </p:sp>
      <p:sp>
        <p:nvSpPr>
          <p:cNvPr id="14" name="Text 12"/>
          <p:cNvSpPr/>
          <p:nvPr/>
        </p:nvSpPr>
        <p:spPr>
          <a:xfrm>
            <a:off x="1371600" y="4101604"/>
            <a:ext cx="361035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Abrir y ver la red</a:t>
            </a:r>
            <a:endParaRPr lang="en-US" sz="1800" dirty="0"/>
          </a:p>
        </p:txBody>
      </p:sp>
      <p:sp>
        <p:nvSpPr>
          <p:cNvPr id="15" name="Text 13"/>
          <p:cNvSpPr/>
          <p:nvPr/>
        </p:nvSpPr>
        <p:spPr>
          <a:xfrm>
            <a:off x="1371600" y="4401245"/>
            <a:ext cx="36103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Caso anonimizado: aparece la relación que el expediente no mostraba</a:t>
            </a:r>
            <a:endParaRPr lang="en-US" sz="1300" dirty="0"/>
          </a:p>
        </p:txBody>
      </p:sp>
      <p:sp>
        <p:nvSpPr>
          <p:cNvPr id="16" name="Shape 14"/>
          <p:cNvSpPr/>
          <p:nvPr/>
        </p:nvSpPr>
        <p:spPr>
          <a:xfrm>
            <a:off x="5140325" y="1863626"/>
            <a:ext cx="6229350" cy="2973784"/>
          </a:xfrm>
          <a:prstGeom prst="roundRect">
            <a:avLst>
              <a:gd name="adj" fmla="val 3096"/>
            </a:avLst>
          </a:prstGeom>
          <a:solidFill>
            <a:srgbClr val="FCFBFA"/>
          </a:solidFill>
          <a:ln w="19050">
            <a:solidFill>
              <a:srgbClr val="DDD8D3"/>
            </a:solidFill>
            <a:prstDash val="dash"/>
          </a:ln>
        </p:spPr>
      </p:sp>
      <p:pic>
        <p:nvPicPr>
          <p:cNvPr id="17" name="Image 0" descr="Play">    </p:cNvPr>
          <p:cNvPicPr>
            <a:picLocks noChangeAspect="1"/>
          </p:cNvPicPr>
          <p:nvPr/>
        </p:nvPicPr>
        <p:blipFill>
          <a:blip r:embed="rId1"/>
          <a:srcRect l="0" r="0" t="0" b="0"/>
          <a:stretch/>
        </p:blipFill>
        <p:spPr>
          <a:xfrm>
            <a:off x="8051800" y="2805708"/>
            <a:ext cx="406400" cy="406400"/>
          </a:xfrm>
          <a:prstGeom prst="rect">
            <a:avLst/>
          </a:prstGeom>
        </p:spPr>
      </p:pic>
      <p:sp>
        <p:nvSpPr>
          <p:cNvPr id="18" name="Text 15"/>
          <p:cNvSpPr/>
          <p:nvPr/>
        </p:nvSpPr>
        <p:spPr>
          <a:xfrm>
            <a:off x="5818515" y="3313708"/>
            <a:ext cx="4872871"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[Captura o vídeo de respaldo de la herramienta]</a:t>
            </a:r>
            <a:endParaRPr lang="en-US" sz="1500" dirty="0"/>
          </a:p>
        </p:txBody>
      </p:sp>
      <p:sp>
        <p:nvSpPr>
          <p:cNvPr id="19" name="Text 16"/>
          <p:cNvSpPr/>
          <p:nvPr/>
        </p:nvSpPr>
        <p:spPr>
          <a:xfrm>
            <a:off x="5716707" y="3682008"/>
            <a:ext cx="507658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[Caso anonimizado: red taller – clínica – lesionados repetidos]</a:t>
            </a:r>
            <a:endParaRPr lang="en-US" sz="1200" dirty="0"/>
          </a:p>
        </p:txBody>
      </p:sp>
      <p:sp>
        <p:nvSpPr>
          <p:cNvPr id="20"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21"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81E05"/>
        </a:solidFill>
      </p:bgPr>
    </p:bg>
    <p:spTree>
      <p:nvGrpSpPr>
        <p:cNvPr id="1" name=""/>
        <p:cNvGrpSpPr/>
        <p:nvPr/>
      </p:nvGrpSpPr>
      <p:grpSpPr>
        <a:xfrm>
          <a:off x="0" y="0"/>
          <a:ext cx="0" cy="0"/>
          <a:chOff x="0" y="0"/>
          <a:chExt cx="0" cy="0"/>
        </a:xfrm>
      </p:grpSpPr>
      <p:sp>
        <p:nvSpPr>
          <p:cNvPr id="2" name="Text 0"/>
          <p:cNvSpPr/>
          <p:nvPr/>
        </p:nvSpPr>
        <p:spPr>
          <a:xfrm>
            <a:off x="812800" y="812800"/>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D5CF"/>
                </a:solidFill>
                <a:latin typeface="Work Sans" pitchFamily="34" charset="0"/>
                <a:ea typeface="Work Sans" pitchFamily="34" charset="-122"/>
                <a:cs typeface="Work Sans" pitchFamily="34" charset="-120"/>
              </a:rPr>
              <a:t>03</a:t>
            </a:r>
            <a:endParaRPr lang="en-US" sz="4800" dirty="0"/>
          </a:p>
        </p:txBody>
      </p:sp>
      <p:sp>
        <p:nvSpPr>
          <p:cNvPr id="3" name="Text 1"/>
          <p:cNvSpPr/>
          <p:nvPr>
            <p:ph type="title"/>
          </p:nvPr>
        </p:nvSpPr>
        <p:spPr>
          <a:xfrm>
            <a:off x="812800" y="5179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CFBFA"/>
                </a:solidFill>
                <a:latin typeface="Work Sans" pitchFamily="34" charset="0"/>
                <a:ea typeface="Work Sans" pitchFamily="34" charset="-122"/>
                <a:cs typeface="Work Sans" pitchFamily="34" charset="-120"/>
              </a:rPr>
              <a:t>Dashboard de seguimiento</a:t>
            </a:r>
            <a:endParaRPr lang="en-US" sz="3200" dirty="0"/>
          </a:p>
        </p:txBody>
      </p:sp>
      <p:sp>
        <p:nvSpPr>
          <p:cNvPr id="4" name="Text 2"/>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D5CF"/>
                </a:solidFill>
                <a:latin typeface="IBM Plex Sans" pitchFamily="34" charset="0"/>
                <a:ea typeface="IBM Plex Sans" pitchFamily="34" charset="-122"/>
                <a:cs typeface="IBM Plex Sans" pitchFamily="34" charset="-120"/>
              </a:rPr>
              <a:t>Carga de trabajo, tiempos, resultados por regla y objetivos de tramitación · 11 min con demo</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DASHBOARD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Un solo sitio para ver cómo va el trabajo</a:t>
            </a:r>
            <a:endParaRPr lang="en-US" sz="3200" dirty="0"/>
          </a:p>
        </p:txBody>
      </p:sp>
      <p:sp>
        <p:nvSpPr>
          <p:cNvPr id="4" name="Shape 2"/>
          <p:cNvSpPr/>
          <p:nvPr/>
        </p:nvSpPr>
        <p:spPr>
          <a:xfrm>
            <a:off x="819150" y="2289870"/>
            <a:ext cx="5194300" cy="1189831"/>
          </a:xfrm>
          <a:prstGeom prst="roundRect">
            <a:avLst>
              <a:gd name="adj" fmla="val 8005"/>
            </a:avLst>
          </a:prstGeom>
          <a:solidFill>
            <a:srgbClr val="FCFBFA"/>
          </a:solidFill>
          <a:ln w="12700">
            <a:solidFill>
              <a:srgbClr val="DDD8D3"/>
            </a:solidFill>
            <a:prstDash val="solid"/>
          </a:ln>
        </p:spPr>
      </p:sp>
      <p:pic>
        <p:nvPicPr>
          <p:cNvPr id="5" name="Image 0" descr="Users">    </p:cNvPr>
          <p:cNvPicPr>
            <a:picLocks noChangeAspect="1"/>
          </p:cNvPicPr>
          <p:nvPr/>
        </p:nvPicPr>
        <p:blipFill>
          <a:blip r:embed="rId1"/>
          <a:srcRect l="0" r="0" t="0" b="0"/>
          <a:stretch/>
        </p:blipFill>
        <p:spPr>
          <a:xfrm>
            <a:off x="1028700" y="2499420"/>
            <a:ext cx="304800" cy="304800"/>
          </a:xfrm>
          <a:prstGeom prst="rect">
            <a:avLst/>
          </a:prstGeom>
        </p:spPr>
      </p:pic>
      <p:sp>
        <p:nvSpPr>
          <p:cNvPr id="6" name="Text 3"/>
          <p:cNvSpPr/>
          <p:nvPr/>
        </p:nvSpPr>
        <p:spPr>
          <a:xfrm>
            <a:off x="1485900" y="2499420"/>
            <a:ext cx="44475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Carga de trabajo</a:t>
            </a:r>
            <a:endParaRPr lang="en-US" sz="1800" dirty="0"/>
          </a:p>
        </p:txBody>
      </p:sp>
      <p:sp>
        <p:nvSpPr>
          <p:cNvPr id="7" name="Text 4"/>
          <p:cNvSpPr/>
          <p:nvPr/>
        </p:nvSpPr>
        <p:spPr>
          <a:xfrm>
            <a:off x="1485900" y="2824460"/>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Expedientes abiertos por investigador, antigüedad y reparto del equipo</a:t>
            </a:r>
            <a:endParaRPr lang="en-US" sz="1300" dirty="0"/>
          </a:p>
        </p:txBody>
      </p:sp>
      <p:sp>
        <p:nvSpPr>
          <p:cNvPr id="8" name="Shape 5"/>
          <p:cNvSpPr/>
          <p:nvPr/>
        </p:nvSpPr>
        <p:spPr>
          <a:xfrm>
            <a:off x="6178550" y="2289870"/>
            <a:ext cx="5194300" cy="1189831"/>
          </a:xfrm>
          <a:prstGeom prst="roundRect">
            <a:avLst>
              <a:gd name="adj" fmla="val 8005"/>
            </a:avLst>
          </a:prstGeom>
          <a:solidFill>
            <a:srgbClr val="FCFBFA"/>
          </a:solidFill>
          <a:ln w="12700">
            <a:solidFill>
              <a:srgbClr val="DDD8D3"/>
            </a:solidFill>
            <a:prstDash val="solid"/>
          </a:ln>
        </p:spPr>
      </p:sp>
      <p:pic>
        <p:nvPicPr>
          <p:cNvPr id="9" name="Image 1" descr="Clock">    </p:cNvPr>
          <p:cNvPicPr>
            <a:picLocks noChangeAspect="1"/>
          </p:cNvPicPr>
          <p:nvPr/>
        </p:nvPicPr>
        <p:blipFill>
          <a:blip r:embed="rId2"/>
          <a:srcRect l="0" r="0" t="0" b="0"/>
          <a:stretch/>
        </p:blipFill>
        <p:spPr>
          <a:xfrm>
            <a:off x="6388100" y="2499420"/>
            <a:ext cx="304800" cy="304800"/>
          </a:xfrm>
          <a:prstGeom prst="rect">
            <a:avLst/>
          </a:prstGeom>
        </p:spPr>
      </p:pic>
      <p:sp>
        <p:nvSpPr>
          <p:cNvPr id="10" name="Text 6"/>
          <p:cNvSpPr/>
          <p:nvPr/>
        </p:nvSpPr>
        <p:spPr>
          <a:xfrm>
            <a:off x="6845300" y="2499420"/>
            <a:ext cx="44475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Tiempos y pendientes</a:t>
            </a:r>
            <a:endParaRPr lang="en-US" sz="1800" dirty="0"/>
          </a:p>
        </p:txBody>
      </p:sp>
      <p:sp>
        <p:nvSpPr>
          <p:cNvPr id="11" name="Text 7"/>
          <p:cNvSpPr/>
          <p:nvPr/>
        </p:nvSpPr>
        <p:spPr>
          <a:xfrm>
            <a:off x="6845300" y="2824460"/>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Días medios de investigación, expedientes fuera de plazo y dónde se atascan</a:t>
            </a:r>
            <a:endParaRPr lang="en-US" sz="1300" dirty="0"/>
          </a:p>
        </p:txBody>
      </p:sp>
      <p:sp>
        <p:nvSpPr>
          <p:cNvPr id="12" name="Shape 8"/>
          <p:cNvSpPr/>
          <p:nvPr/>
        </p:nvSpPr>
        <p:spPr>
          <a:xfrm>
            <a:off x="819150" y="3644801"/>
            <a:ext cx="5194300" cy="1189831"/>
          </a:xfrm>
          <a:prstGeom prst="roundRect">
            <a:avLst>
              <a:gd name="adj" fmla="val 8005"/>
            </a:avLst>
          </a:prstGeom>
          <a:solidFill>
            <a:srgbClr val="FCFBFA"/>
          </a:solidFill>
          <a:ln w="12700">
            <a:solidFill>
              <a:srgbClr val="DDD8D3"/>
            </a:solidFill>
            <a:prstDash val="solid"/>
          </a:ln>
        </p:spPr>
      </p:sp>
      <p:pic>
        <p:nvPicPr>
          <p:cNvPr id="13" name="Image 2" descr="Activity">    </p:cNvPr>
          <p:cNvPicPr>
            <a:picLocks noChangeAspect="1"/>
          </p:cNvPicPr>
          <p:nvPr/>
        </p:nvPicPr>
        <p:blipFill>
          <a:blip r:embed="rId3"/>
          <a:srcRect l="0" r="0" t="0" b="0"/>
          <a:stretch/>
        </p:blipFill>
        <p:spPr>
          <a:xfrm>
            <a:off x="1028700" y="3854351"/>
            <a:ext cx="304800" cy="304800"/>
          </a:xfrm>
          <a:prstGeom prst="rect">
            <a:avLst/>
          </a:prstGeom>
        </p:spPr>
      </p:pic>
      <p:sp>
        <p:nvSpPr>
          <p:cNvPr id="14" name="Text 9"/>
          <p:cNvSpPr/>
          <p:nvPr/>
        </p:nvSpPr>
        <p:spPr>
          <a:xfrm>
            <a:off x="1485900" y="3854351"/>
            <a:ext cx="44475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Resultado por regla</a:t>
            </a:r>
            <a:endParaRPr lang="en-US" sz="1800" dirty="0"/>
          </a:p>
        </p:txBody>
      </p:sp>
      <p:sp>
        <p:nvSpPr>
          <p:cNvPr id="15" name="Text 10"/>
          <p:cNvSpPr/>
          <p:nvPr/>
        </p:nvSpPr>
        <p:spPr>
          <a:xfrm>
            <a:off x="1485900" y="4179391"/>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Qué reglas generan alertas con indicios y cuáles solo generan ruido</a:t>
            </a:r>
            <a:endParaRPr lang="en-US" sz="1300" dirty="0"/>
          </a:p>
        </p:txBody>
      </p:sp>
      <p:sp>
        <p:nvSpPr>
          <p:cNvPr id="16" name="Shape 11"/>
          <p:cNvSpPr/>
          <p:nvPr/>
        </p:nvSpPr>
        <p:spPr>
          <a:xfrm>
            <a:off x="6178550" y="3644801"/>
            <a:ext cx="5194300" cy="1189831"/>
          </a:xfrm>
          <a:prstGeom prst="roundRect">
            <a:avLst>
              <a:gd name="adj" fmla="val 8005"/>
            </a:avLst>
          </a:prstGeom>
          <a:solidFill>
            <a:srgbClr val="FCFBFA"/>
          </a:solidFill>
          <a:ln w="12700">
            <a:solidFill>
              <a:srgbClr val="DDD8D3"/>
            </a:solidFill>
            <a:prstDash val="solid"/>
          </a:ln>
        </p:spPr>
      </p:sp>
      <p:pic>
        <p:nvPicPr>
          <p:cNvPr id="17" name="Image 3" descr="CheckCircle">    </p:cNvPr>
          <p:cNvPicPr>
            <a:picLocks noChangeAspect="1"/>
          </p:cNvPicPr>
          <p:nvPr/>
        </p:nvPicPr>
        <p:blipFill>
          <a:blip r:embed="rId4"/>
          <a:srcRect l="0" r="0" t="0" b="0"/>
          <a:stretch/>
        </p:blipFill>
        <p:spPr>
          <a:xfrm>
            <a:off x="6388100" y="3854351"/>
            <a:ext cx="304800" cy="304800"/>
          </a:xfrm>
          <a:prstGeom prst="rect">
            <a:avLst/>
          </a:prstGeom>
        </p:spPr>
      </p:pic>
      <p:sp>
        <p:nvSpPr>
          <p:cNvPr id="18" name="Text 12"/>
          <p:cNvSpPr/>
          <p:nvPr/>
        </p:nvSpPr>
        <p:spPr>
          <a:xfrm>
            <a:off x="6845300" y="3854351"/>
            <a:ext cx="44475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Objetivos de tramitación</a:t>
            </a:r>
            <a:endParaRPr lang="en-US" sz="1800" dirty="0"/>
          </a:p>
        </p:txBody>
      </p:sp>
      <p:sp>
        <p:nvSpPr>
          <p:cNvPr id="19" name="Text 13"/>
          <p:cNvSpPr/>
          <p:nvPr/>
        </p:nvSpPr>
        <p:spPr>
          <a:xfrm>
            <a:off x="6845300" y="4179391"/>
            <a:ext cx="444754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Avance frente al objetivo del periodo, en una sola vista</a:t>
            </a:r>
            <a:endParaRPr lang="en-US" sz="1300" dirty="0"/>
          </a:p>
        </p:txBody>
      </p:sp>
      <p:sp>
        <p:nvSpPr>
          <p:cNvPr id="20" name="Text 14"/>
          <p:cNvSpPr/>
          <p:nvPr/>
        </p:nvSpPr>
        <p:spPr>
          <a:xfrm>
            <a:off x="812800" y="5575201"/>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El investigador ve su cartera. El coordinador ve el equipo. Data ve qué reglas funcionan. </a:t>
            </a:r>
            <a:r>
              <a:rPr lang="en-US" sz="1500" b="1" dirty="0">
                <a:solidFill>
                  <a:srgbClr val="4A4A4A"/>
                </a:solidFill>
                <a:latin typeface="IBM Plex Sans" pitchFamily="34" charset="0"/>
                <a:ea typeface="IBM Plex Sans" pitchFamily="34" charset="-122"/>
                <a:cs typeface="IBM Plex Sans" pitchFamily="34" charset="-120"/>
              </a:rPr>
              <a:t>Los mismos números para todos.</a:t>
            </a:r>
            <a:endParaRPr lang="en-US" sz="1500" dirty="0"/>
          </a:p>
        </p:txBody>
      </p:sp>
      <p:sp>
        <p:nvSpPr>
          <p:cNvPr id="21"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22"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DEMO · 4 MIN</a:t>
            </a:r>
            <a:endParaRPr lang="en-US" sz="1200" dirty="0"/>
          </a:p>
        </p:txBody>
      </p:sp>
      <p:sp>
        <p:nvSpPr>
          <p:cNvPr id="3" name="Text 1"/>
          <p:cNvSpPr/>
          <p:nvPr>
            <p:ph type="title"/>
          </p:nvPr>
        </p:nvSpPr>
        <p:spPr>
          <a:xfrm>
            <a:off x="812800" y="1102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Tres preguntas que ahora se responden en segundos</a:t>
            </a:r>
            <a:endParaRPr lang="en-US" sz="3200" dirty="0"/>
          </a:p>
        </p:txBody>
      </p:sp>
      <p:sp>
        <p:nvSpPr>
          <p:cNvPr id="4" name="Shape 2"/>
          <p:cNvSpPr/>
          <p:nvPr/>
        </p:nvSpPr>
        <p:spPr>
          <a:xfrm>
            <a:off x="812800" y="2311003"/>
            <a:ext cx="3386634" cy="2502495"/>
          </a:xfrm>
          <a:prstGeom prst="roundRect">
            <a:avLst>
              <a:gd name="adj" fmla="val 4060"/>
            </a:avLst>
          </a:prstGeom>
          <a:solidFill>
            <a:srgbClr val="FCFBFA"/>
          </a:solidFill>
          <a:ln/>
        </p:spPr>
      </p:sp>
      <p:sp>
        <p:nvSpPr>
          <p:cNvPr id="5" name="Text 3"/>
          <p:cNvSpPr/>
          <p:nvPr/>
        </p:nvSpPr>
        <p:spPr>
          <a:xfrm>
            <a:off x="1066800" y="2565003"/>
            <a:ext cx="296499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1</a:t>
            </a:r>
            <a:endParaRPr lang="en-US" sz="4800" dirty="0"/>
          </a:p>
        </p:txBody>
      </p:sp>
      <p:sp>
        <p:nvSpPr>
          <p:cNvPr id="6" name="Text 4"/>
          <p:cNvSpPr/>
          <p:nvPr/>
        </p:nvSpPr>
        <p:spPr>
          <a:xfrm>
            <a:off x="1066800" y="3327003"/>
            <a:ext cx="2964993"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62626"/>
                </a:solidFill>
                <a:latin typeface="IBM Plex Sans" pitchFamily="34" charset="0"/>
                <a:ea typeface="IBM Plex Sans" pitchFamily="34" charset="-122"/>
                <a:cs typeface="IBM Plex Sans" pitchFamily="34" charset="-120"/>
              </a:rPr>
              <a:t>¿Cuántos expedientes tengo abiertos y desde cuándo?</a:t>
            </a:r>
            <a:endParaRPr lang="en-US" sz="1800" dirty="0"/>
          </a:p>
        </p:txBody>
      </p:sp>
      <p:sp>
        <p:nvSpPr>
          <p:cNvPr id="7" name="Text 5"/>
          <p:cNvSpPr/>
          <p:nvPr/>
        </p:nvSpPr>
        <p:spPr>
          <a:xfrm>
            <a:off x="1066800" y="4336653"/>
            <a:ext cx="296499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7A7A7A"/>
                </a:solidFill>
                <a:latin typeface="IBM Plex Sans" pitchFamily="34" charset="0"/>
                <a:ea typeface="IBM Plex Sans" pitchFamily="34" charset="-122"/>
                <a:cs typeface="IBM Plex Sans" pitchFamily="34" charset="-120"/>
              </a:rPr>
              <a:t>Vista del investigador</a:t>
            </a:r>
            <a:endParaRPr lang="en-US" sz="1300" dirty="0"/>
          </a:p>
        </p:txBody>
      </p:sp>
      <p:sp>
        <p:nvSpPr>
          <p:cNvPr id="8" name="Shape 6"/>
          <p:cNvSpPr/>
          <p:nvPr/>
        </p:nvSpPr>
        <p:spPr>
          <a:xfrm>
            <a:off x="4402634" y="2311003"/>
            <a:ext cx="3386634" cy="2502495"/>
          </a:xfrm>
          <a:prstGeom prst="roundRect">
            <a:avLst>
              <a:gd name="adj" fmla="val 4060"/>
            </a:avLst>
          </a:prstGeom>
          <a:solidFill>
            <a:srgbClr val="FCFBFA"/>
          </a:solidFill>
          <a:ln/>
        </p:spPr>
      </p:sp>
      <p:sp>
        <p:nvSpPr>
          <p:cNvPr id="9" name="Text 7"/>
          <p:cNvSpPr/>
          <p:nvPr/>
        </p:nvSpPr>
        <p:spPr>
          <a:xfrm>
            <a:off x="4656634" y="2565003"/>
            <a:ext cx="296499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2</a:t>
            </a:r>
            <a:endParaRPr lang="en-US" sz="4800" dirty="0"/>
          </a:p>
        </p:txBody>
      </p:sp>
      <p:sp>
        <p:nvSpPr>
          <p:cNvPr id="10" name="Text 8"/>
          <p:cNvSpPr/>
          <p:nvPr/>
        </p:nvSpPr>
        <p:spPr>
          <a:xfrm>
            <a:off x="4656634" y="3327003"/>
            <a:ext cx="2964993"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62626"/>
                </a:solidFill>
                <a:latin typeface="IBM Plex Sans" pitchFamily="34" charset="0"/>
                <a:ea typeface="IBM Plex Sans" pitchFamily="34" charset="-122"/>
                <a:cs typeface="IBM Plex Sans" pitchFamily="34" charset="-120"/>
              </a:rPr>
              <a:t>¿Qué reglas están generando alertas sin resultado?</a:t>
            </a:r>
            <a:endParaRPr lang="en-US" sz="1800" dirty="0"/>
          </a:p>
        </p:txBody>
      </p:sp>
      <p:sp>
        <p:nvSpPr>
          <p:cNvPr id="11" name="Text 9"/>
          <p:cNvSpPr/>
          <p:nvPr/>
        </p:nvSpPr>
        <p:spPr>
          <a:xfrm>
            <a:off x="4656634" y="4336653"/>
            <a:ext cx="296499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7A7A7A"/>
                </a:solidFill>
                <a:latin typeface="IBM Plex Sans" pitchFamily="34" charset="0"/>
                <a:ea typeface="IBM Plex Sans" pitchFamily="34" charset="-122"/>
                <a:cs typeface="IBM Plex Sans" pitchFamily="34" charset="-120"/>
              </a:rPr>
              <a:t>Vista de reglas</a:t>
            </a:r>
            <a:endParaRPr lang="en-US" sz="1300" dirty="0"/>
          </a:p>
        </p:txBody>
      </p:sp>
      <p:sp>
        <p:nvSpPr>
          <p:cNvPr id="12" name="Shape 10"/>
          <p:cNvSpPr/>
          <p:nvPr/>
        </p:nvSpPr>
        <p:spPr>
          <a:xfrm>
            <a:off x="7992467" y="2311003"/>
            <a:ext cx="3386634" cy="2502495"/>
          </a:xfrm>
          <a:prstGeom prst="roundRect">
            <a:avLst>
              <a:gd name="adj" fmla="val 4060"/>
            </a:avLst>
          </a:prstGeom>
          <a:solidFill>
            <a:srgbClr val="FCFBFA"/>
          </a:solidFill>
          <a:ln/>
        </p:spPr>
      </p:sp>
      <p:sp>
        <p:nvSpPr>
          <p:cNvPr id="13" name="Text 11"/>
          <p:cNvSpPr/>
          <p:nvPr/>
        </p:nvSpPr>
        <p:spPr>
          <a:xfrm>
            <a:off x="8246467" y="2565003"/>
            <a:ext cx="296499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3</a:t>
            </a:r>
            <a:endParaRPr lang="en-US" sz="4800" dirty="0"/>
          </a:p>
        </p:txBody>
      </p:sp>
      <p:sp>
        <p:nvSpPr>
          <p:cNvPr id="14" name="Text 12"/>
          <p:cNvSpPr/>
          <p:nvPr/>
        </p:nvSpPr>
        <p:spPr>
          <a:xfrm>
            <a:off x="8246467" y="3327003"/>
            <a:ext cx="2964993"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62626"/>
                </a:solidFill>
                <a:latin typeface="IBM Plex Sans" pitchFamily="34" charset="0"/>
                <a:ea typeface="IBM Plex Sans" pitchFamily="34" charset="-122"/>
                <a:cs typeface="IBM Plex Sans" pitchFamily="34" charset="-120"/>
              </a:rPr>
              <a:t>¿Vamos en plazo con los objetivos del periodo?</a:t>
            </a:r>
            <a:endParaRPr lang="en-US" sz="1800" dirty="0"/>
          </a:p>
        </p:txBody>
      </p:sp>
      <p:sp>
        <p:nvSpPr>
          <p:cNvPr id="15" name="Text 13"/>
          <p:cNvSpPr/>
          <p:nvPr/>
        </p:nvSpPr>
        <p:spPr>
          <a:xfrm>
            <a:off x="8246467" y="4050903"/>
            <a:ext cx="296499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7A7A7A"/>
                </a:solidFill>
                <a:latin typeface="IBM Plex Sans" pitchFamily="34" charset="0"/>
                <a:ea typeface="IBM Plex Sans" pitchFamily="34" charset="-122"/>
                <a:cs typeface="IBM Plex Sans" pitchFamily="34" charset="-120"/>
              </a:rPr>
              <a:t>Vista del coordinador</a:t>
            </a:r>
            <a:endParaRPr lang="en-US" sz="1300" dirty="0"/>
          </a:p>
        </p:txBody>
      </p:sp>
      <p:sp>
        <p:nvSpPr>
          <p:cNvPr id="16" name="Text 14"/>
          <p:cNvSpPr/>
          <p:nvPr/>
        </p:nvSpPr>
        <p:spPr>
          <a:xfrm>
            <a:off x="812800" y="5575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Las tres preguntas se responden en directo sobre el dashboard. Si falla la conexión, capturas de respaldo.</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81E05"/>
        </a:solidFill>
      </p:bgPr>
    </p:bg>
    <p:spTree>
      <p:nvGrpSpPr>
        <p:cNvPr id="1" name=""/>
        <p:cNvGrpSpPr/>
        <p:nvPr/>
      </p:nvGrpSpPr>
      <p:grpSpPr>
        <a:xfrm>
          <a:off x="0" y="0"/>
          <a:ext cx="0" cy="0"/>
          <a:chOff x="0" y="0"/>
          <a:chExt cx="0" cy="0"/>
        </a:xfrm>
      </p:grpSpPr>
      <p:sp>
        <p:nvSpPr>
          <p:cNvPr id="2" name="Text 0"/>
          <p:cNvSpPr/>
          <p:nvPr/>
        </p:nvSpPr>
        <p:spPr>
          <a:xfrm>
            <a:off x="812800" y="812800"/>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D5CF"/>
                </a:solidFill>
                <a:latin typeface="Work Sans" pitchFamily="34" charset="0"/>
                <a:ea typeface="Work Sans" pitchFamily="34" charset="-122"/>
                <a:cs typeface="Work Sans" pitchFamily="34" charset="-120"/>
              </a:rPr>
              <a:t>04</a:t>
            </a:r>
            <a:endParaRPr lang="en-US" sz="4800" dirty="0"/>
          </a:p>
        </p:txBody>
      </p:sp>
      <p:sp>
        <p:nvSpPr>
          <p:cNvPr id="3" name="Text 1"/>
          <p:cNvSpPr/>
          <p:nvPr>
            <p:ph type="title"/>
          </p:nvPr>
        </p:nvSpPr>
        <p:spPr>
          <a:xfrm>
            <a:off x="812800" y="5179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CFBFA"/>
                </a:solidFill>
                <a:latin typeface="Work Sans" pitchFamily="34" charset="0"/>
                <a:ea typeface="Work Sans" pitchFamily="34" charset="-122"/>
                <a:cs typeface="Work Sans" pitchFamily="34" charset="-120"/>
              </a:rPr>
              <a:t>Lo que viene y lo que necesitamos de vosotros</a:t>
            </a:r>
            <a:endParaRPr lang="en-US" sz="3200" dirty="0"/>
          </a:p>
        </p:txBody>
      </p:sp>
      <p:sp>
        <p:nvSpPr>
          <p:cNvPr id="4" name="Text 2"/>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D5CF"/>
                </a:solidFill>
                <a:latin typeface="IBM Plex Sans" pitchFamily="34" charset="0"/>
                <a:ea typeface="IBM Plex Sans" pitchFamily="34" charset="-122"/>
                <a:cs typeface="IBM Plex Sans" pitchFamily="34" charset="-120"/>
              </a:rPr>
              <a:t>Próximos pasos y tres peticiones concretas · 5 min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LO QUE VIENE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Próximos pasos</a:t>
            </a:r>
            <a:endParaRPr lang="en-US" sz="3200" dirty="0"/>
          </a:p>
        </p:txBody>
      </p:sp>
      <p:sp>
        <p:nvSpPr>
          <p:cNvPr id="4" name="Shape 2"/>
          <p:cNvSpPr/>
          <p:nvPr/>
        </p:nvSpPr>
        <p:spPr>
          <a:xfrm>
            <a:off x="812800" y="2466082"/>
            <a:ext cx="3454400" cy="2192338"/>
          </a:xfrm>
          <a:prstGeom prst="roundRect">
            <a:avLst>
              <a:gd name="adj" fmla="val 4634"/>
            </a:avLst>
          </a:prstGeom>
          <a:solidFill>
            <a:srgbClr val="FCFBFA"/>
          </a:solidFill>
          <a:ln/>
        </p:spPr>
      </p:sp>
      <p:sp>
        <p:nvSpPr>
          <p:cNvPr id="5" name="Shape 3"/>
          <p:cNvSpPr/>
          <p:nvPr/>
        </p:nvSpPr>
        <p:spPr>
          <a:xfrm>
            <a:off x="812800" y="2466082"/>
            <a:ext cx="3454400" cy="2192338"/>
          </a:xfrm>
          <a:custGeom>
            <a:avLst/>
            <a:gdLst/>
            <a:ahLst/>
            <a:cxnLst/>
            <a:rect l="l" t="t" r="r" b="b"/>
            <a:pathLst>
              <a:path w="3454400" h="2192338">
                <a:moveTo>
                  <a:pt x="0" y="101600"/>
                </a:moveTo>
                <a:lnTo>
                  <a:pt x="0" y="101600"/>
                </a:lnTo>
                <a:arcTo hR="101600" wR="101600" stAng="10800000" swAng="5400000"/>
                <a:lnTo>
                  <a:pt x="3352800" y="0"/>
                </a:lnTo>
                <a:arcTo hR="101600" wR="101600" stAng="16200000" swAng="5400000"/>
                <a:lnTo>
                  <a:pt x="3454400" y="101600"/>
                </a:lnTo>
                <a:arcTo hR="50800" wR="101600" stAng="0" swAng="-5400000"/>
                <a:lnTo>
                  <a:pt x="101600" y="50800"/>
                </a:lnTo>
                <a:arcTo hR="50800" wR="101600" stAng="16200000" swAng="-5400000"/>
                <a:close/>
              </a:path>
            </a:pathLst>
          </a:custGeom>
          <a:solidFill>
            <a:srgbClr val="DDD8D3"/>
          </a:solidFill>
          <a:ln/>
        </p:spPr>
      </p:sp>
      <p:sp>
        <p:nvSpPr>
          <p:cNvPr id="6" name="Text 4"/>
          <p:cNvSpPr/>
          <p:nvPr/>
        </p:nvSpPr>
        <p:spPr>
          <a:xfrm>
            <a:off x="1066800" y="2770882"/>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7A7A"/>
                </a:solidFill>
                <a:latin typeface="IBM Plex Sans" pitchFamily="34" charset="0"/>
                <a:ea typeface="IBM Plex Sans" pitchFamily="34" charset="-122"/>
                <a:cs typeface="IBM Plex Sans" pitchFamily="34" charset="-120"/>
              </a:rPr>
              <a:t>[MES / TRIMESTRE]</a:t>
            </a:r>
            <a:endParaRPr lang="en-US" sz="1200" dirty="0"/>
          </a:p>
        </p:txBody>
      </p:sp>
      <p:sp>
        <p:nvSpPr>
          <p:cNvPr id="7" name="Text 5"/>
          <p:cNvSpPr/>
          <p:nvPr/>
        </p:nvSpPr>
        <p:spPr>
          <a:xfrm>
            <a:off x="1066800" y="3085802"/>
            <a:ext cx="303479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[Hito 1]</a:t>
            </a:r>
            <a:endParaRPr lang="en-US" sz="1800" dirty="0"/>
          </a:p>
        </p:txBody>
      </p:sp>
      <p:sp>
        <p:nvSpPr>
          <p:cNvPr id="8" name="Text 6"/>
          <p:cNvSpPr/>
          <p:nvPr/>
        </p:nvSpPr>
        <p:spPr>
          <a:xfrm>
            <a:off x="1066800" y="3461643"/>
            <a:ext cx="32004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[Qué cambia para la sala cuando llegue]</a:t>
            </a:r>
            <a:endParaRPr lang="en-US" sz="1300" dirty="0"/>
          </a:p>
        </p:txBody>
      </p:sp>
      <p:sp>
        <p:nvSpPr>
          <p:cNvPr id="9" name="Shape 7"/>
          <p:cNvSpPr/>
          <p:nvPr/>
        </p:nvSpPr>
        <p:spPr>
          <a:xfrm>
            <a:off x="4368800" y="2466082"/>
            <a:ext cx="3454400" cy="2192338"/>
          </a:xfrm>
          <a:prstGeom prst="roundRect">
            <a:avLst>
              <a:gd name="adj" fmla="val 4634"/>
            </a:avLst>
          </a:prstGeom>
          <a:solidFill>
            <a:srgbClr val="FCFBFA"/>
          </a:solidFill>
          <a:ln/>
        </p:spPr>
      </p:sp>
      <p:sp>
        <p:nvSpPr>
          <p:cNvPr id="10" name="Shape 8"/>
          <p:cNvSpPr/>
          <p:nvPr/>
        </p:nvSpPr>
        <p:spPr>
          <a:xfrm>
            <a:off x="4368800" y="2466082"/>
            <a:ext cx="3454400" cy="2192338"/>
          </a:xfrm>
          <a:custGeom>
            <a:avLst/>
            <a:gdLst/>
            <a:ahLst/>
            <a:cxnLst/>
            <a:rect l="l" t="t" r="r" b="b"/>
            <a:pathLst>
              <a:path w="3454400" h="2192338">
                <a:moveTo>
                  <a:pt x="0" y="101600"/>
                </a:moveTo>
                <a:lnTo>
                  <a:pt x="0" y="101600"/>
                </a:lnTo>
                <a:arcTo hR="101600" wR="101600" stAng="10800000" swAng="5400000"/>
                <a:lnTo>
                  <a:pt x="3352800" y="0"/>
                </a:lnTo>
                <a:arcTo hR="101600" wR="101600" stAng="16200000" swAng="5400000"/>
                <a:lnTo>
                  <a:pt x="3454400" y="101600"/>
                </a:lnTo>
                <a:arcTo hR="50800" wR="101600" stAng="0" swAng="-5400000"/>
                <a:lnTo>
                  <a:pt x="101600" y="50800"/>
                </a:lnTo>
                <a:arcTo hR="50800" wR="101600" stAng="16200000" swAng="-5400000"/>
                <a:close/>
              </a:path>
            </a:pathLst>
          </a:custGeom>
          <a:solidFill>
            <a:srgbClr val="DDD8D3"/>
          </a:solidFill>
          <a:ln/>
        </p:spPr>
      </p:sp>
      <p:sp>
        <p:nvSpPr>
          <p:cNvPr id="11" name="Text 9"/>
          <p:cNvSpPr/>
          <p:nvPr/>
        </p:nvSpPr>
        <p:spPr>
          <a:xfrm>
            <a:off x="4622800" y="2770882"/>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7A7A"/>
                </a:solidFill>
                <a:latin typeface="IBM Plex Sans" pitchFamily="34" charset="0"/>
                <a:ea typeface="IBM Plex Sans" pitchFamily="34" charset="-122"/>
                <a:cs typeface="IBM Plex Sans" pitchFamily="34" charset="-120"/>
              </a:rPr>
              <a:t>[MES / TRIMESTRE]</a:t>
            </a:r>
            <a:endParaRPr lang="en-US" sz="1200" dirty="0"/>
          </a:p>
        </p:txBody>
      </p:sp>
      <p:sp>
        <p:nvSpPr>
          <p:cNvPr id="12" name="Text 10"/>
          <p:cNvSpPr/>
          <p:nvPr/>
        </p:nvSpPr>
        <p:spPr>
          <a:xfrm>
            <a:off x="4622800" y="3085802"/>
            <a:ext cx="303479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[Hito 2]</a:t>
            </a:r>
            <a:endParaRPr lang="en-US" sz="1800" dirty="0"/>
          </a:p>
        </p:txBody>
      </p:sp>
      <p:sp>
        <p:nvSpPr>
          <p:cNvPr id="13" name="Text 11"/>
          <p:cNvSpPr/>
          <p:nvPr/>
        </p:nvSpPr>
        <p:spPr>
          <a:xfrm>
            <a:off x="4622800" y="3461643"/>
            <a:ext cx="32004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[Qué cambia para la sala cuando llegue]</a:t>
            </a:r>
            <a:endParaRPr lang="en-US" sz="1300" dirty="0"/>
          </a:p>
        </p:txBody>
      </p:sp>
      <p:sp>
        <p:nvSpPr>
          <p:cNvPr id="14" name="Shape 12"/>
          <p:cNvSpPr/>
          <p:nvPr/>
        </p:nvSpPr>
        <p:spPr>
          <a:xfrm>
            <a:off x="7924800" y="2466082"/>
            <a:ext cx="3454400" cy="2192338"/>
          </a:xfrm>
          <a:prstGeom prst="roundRect">
            <a:avLst>
              <a:gd name="adj" fmla="val 4634"/>
            </a:avLst>
          </a:prstGeom>
          <a:solidFill>
            <a:srgbClr val="FCFBFA"/>
          </a:solidFill>
          <a:ln/>
        </p:spPr>
      </p:sp>
      <p:sp>
        <p:nvSpPr>
          <p:cNvPr id="15" name="Shape 13"/>
          <p:cNvSpPr/>
          <p:nvPr/>
        </p:nvSpPr>
        <p:spPr>
          <a:xfrm>
            <a:off x="7924800" y="2466082"/>
            <a:ext cx="3454400" cy="2192338"/>
          </a:xfrm>
          <a:custGeom>
            <a:avLst/>
            <a:gdLst/>
            <a:ahLst/>
            <a:cxnLst/>
            <a:rect l="l" t="t" r="r" b="b"/>
            <a:pathLst>
              <a:path w="3454400" h="2192338">
                <a:moveTo>
                  <a:pt x="0" y="101600"/>
                </a:moveTo>
                <a:lnTo>
                  <a:pt x="0" y="101600"/>
                </a:lnTo>
                <a:arcTo hR="101600" wR="101600" stAng="10800000" swAng="5400000"/>
                <a:lnTo>
                  <a:pt x="3352800" y="0"/>
                </a:lnTo>
                <a:arcTo hR="101600" wR="101600" stAng="16200000" swAng="5400000"/>
                <a:lnTo>
                  <a:pt x="3454400" y="101600"/>
                </a:lnTo>
                <a:arcTo hR="50800" wR="101600" stAng="0" swAng="-5400000"/>
                <a:lnTo>
                  <a:pt x="101600" y="50800"/>
                </a:lnTo>
                <a:arcTo hR="50800" wR="101600" stAng="16200000" swAng="-5400000"/>
                <a:close/>
              </a:path>
            </a:pathLst>
          </a:custGeom>
          <a:solidFill>
            <a:srgbClr val="D81E05"/>
          </a:solidFill>
          <a:ln/>
        </p:spPr>
      </p:sp>
      <p:sp>
        <p:nvSpPr>
          <p:cNvPr id="16" name="Text 14"/>
          <p:cNvSpPr/>
          <p:nvPr/>
        </p:nvSpPr>
        <p:spPr>
          <a:xfrm>
            <a:off x="8178800" y="2770882"/>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[FECHA POR CERRAR]</a:t>
            </a:r>
            <a:endParaRPr lang="en-US" sz="1200" dirty="0"/>
          </a:p>
        </p:txBody>
      </p:sp>
      <p:sp>
        <p:nvSpPr>
          <p:cNvPr id="17" name="Text 15"/>
          <p:cNvSpPr/>
          <p:nvPr/>
        </p:nvSpPr>
        <p:spPr>
          <a:xfrm>
            <a:off x="8178800" y="3085802"/>
            <a:ext cx="303479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Asistente para el tramitador</a:t>
            </a:r>
            <a:endParaRPr lang="en-US" sz="1800" dirty="0"/>
          </a:p>
        </p:txBody>
      </p:sp>
      <p:sp>
        <p:nvSpPr>
          <p:cNvPr id="18" name="Text 16"/>
          <p:cNvSpPr/>
          <p:nvPr/>
        </p:nvSpPr>
        <p:spPr>
          <a:xfrm>
            <a:off x="8178800" y="3735884"/>
            <a:ext cx="303479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4A4A"/>
                </a:solidFill>
                <a:latin typeface="IBM Plex Sans" pitchFamily="34" charset="0"/>
                <a:ea typeface="IBM Plex Sans" pitchFamily="34" charset="-122"/>
                <a:cs typeface="IBM Plex Sans" pitchFamily="34" charset="-120"/>
              </a:rPr>
              <a:t>Prepara el expediente y propone comprobaciones; la decisión sigue siendo vuestra</a:t>
            </a:r>
            <a:endParaRPr lang="en-US" sz="1300" dirty="0"/>
          </a:p>
        </p:txBody>
      </p:sp>
      <p:sp>
        <p:nvSpPr>
          <p:cNvPr id="19" name="Text 17"/>
          <p:cNvSpPr/>
          <p:nvPr/>
        </p:nvSpPr>
        <p:spPr>
          <a:xfrm>
            <a:off x="812800" y="5575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Tres hitos como máximo. Cada uno en lenguaje de la sala: qué verán distinto, no qué construiremos.</a:t>
            </a:r>
            <a:endParaRPr lang="en-US" sz="15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21"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EL SIGUIENTE PASO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Un asistente para el tramitador</a:t>
            </a:r>
            <a:endParaRPr lang="en-US" sz="3200" dirty="0"/>
          </a:p>
        </p:txBody>
      </p:sp>
      <p:sp>
        <p:nvSpPr>
          <p:cNvPr id="4" name="Shape 2"/>
          <p:cNvSpPr/>
          <p:nvPr/>
        </p:nvSpPr>
        <p:spPr>
          <a:xfrm>
            <a:off x="812800" y="2066230"/>
            <a:ext cx="6807200" cy="2623741"/>
          </a:xfrm>
          <a:prstGeom prst="roundRect">
            <a:avLst>
              <a:gd name="adj" fmla="val 3872"/>
            </a:avLst>
          </a:prstGeom>
          <a:solidFill>
            <a:srgbClr val="FCFBFA"/>
          </a:solidFill>
          <a:ln/>
        </p:spPr>
      </p:sp>
      <p:sp>
        <p:nvSpPr>
          <p:cNvPr id="5" name="Text 3"/>
          <p:cNvSpPr/>
          <p:nvPr/>
        </p:nvSpPr>
        <p:spPr>
          <a:xfrm>
            <a:off x="1066800" y="2320230"/>
            <a:ext cx="648817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81E05"/>
                </a:solidFill>
                <a:latin typeface="IBM Plex Sans" pitchFamily="34" charset="0"/>
                <a:ea typeface="IBM Plex Sans" pitchFamily="34" charset="-122"/>
                <a:cs typeface="IBM Plex Sans" pitchFamily="34" charset="-120"/>
              </a:rPr>
              <a:t>Qué hará</a:t>
            </a:r>
            <a:endParaRPr lang="en-US" sz="1800" dirty="0"/>
          </a:p>
        </p:txBody>
      </p:sp>
      <p:sp>
        <p:nvSpPr>
          <p:cNvPr id="6" name="Text 4"/>
          <p:cNvSpPr/>
          <p:nvPr/>
        </p:nvSpPr>
        <p:spPr>
          <a:xfrm>
            <a:off x="1137920" y="2721471"/>
            <a:ext cx="6409436"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A4A"/>
                </a:solidFill>
                <a:latin typeface="IBM Plex Sans" pitchFamily="34" charset="0"/>
                <a:ea typeface="IBM Plex Sans" pitchFamily="34" charset="-122"/>
                <a:cs typeface="IBM Plex Sans" pitchFamily="34" charset="-120"/>
              </a:rPr>
              <a:t>Resume parte, peritaje y documentación en una página antes de abrir el expediente</a:t>
            </a:r>
            <a:endParaRPr lang="en-US" sz="1500" dirty="0"/>
          </a:p>
          <a:p>
            <a:pPr algn="l" marL="182880" indent="-182880">
              <a:lnSpc>
                <a:spcPts val="2250"/>
              </a:lnSpc>
              <a:buSzPct val="100000"/>
              <a:buChar char="•"/>
            </a:pPr>
            <a:r>
              <a:rPr lang="en-US" sz="1500" dirty="0">
                <a:solidFill>
                  <a:srgbClr val="4A4A4A"/>
                </a:solidFill>
                <a:latin typeface="IBM Plex Sans" pitchFamily="34" charset="0"/>
                <a:ea typeface="IBM Plex Sans" pitchFamily="34" charset="-122"/>
                <a:cs typeface="IBM Plex Sans" pitchFamily="34" charset="-120"/>
              </a:rPr>
              <a:t>Señala qué reglas han saltado y por qué</a:t>
            </a:r>
            <a:endParaRPr lang="en-US" sz="1500" dirty="0"/>
          </a:p>
          <a:p>
            <a:pPr algn="l" marL="182880" indent="-182880">
              <a:lnSpc>
                <a:spcPts val="2250"/>
              </a:lnSpc>
              <a:buSzPct val="100000"/>
              <a:buChar char="•"/>
            </a:pPr>
            <a:r>
              <a:rPr lang="en-US" sz="1500" dirty="0">
                <a:solidFill>
                  <a:srgbClr val="4A4A4A"/>
                </a:solidFill>
                <a:latin typeface="IBM Plex Sans" pitchFamily="34" charset="0"/>
                <a:ea typeface="IBM Plex Sans" pitchFamily="34" charset="-122"/>
                <a:cs typeface="IBM Plex Sans" pitchFamily="34" charset="-120"/>
              </a:rPr>
              <a:t>Propone las comprobaciones pendientes: llamadas, documentos que faltan, consultas</a:t>
            </a:r>
            <a:endParaRPr lang="en-US" sz="1500" dirty="0"/>
          </a:p>
          <a:p>
            <a:pPr algn="l" marL="182880" indent="-182880">
              <a:lnSpc>
                <a:spcPts val="2250"/>
              </a:lnSpc>
              <a:buSzPct val="100000"/>
              <a:buChar char="•"/>
            </a:pPr>
            <a:r>
              <a:rPr lang="en-US" sz="1500" dirty="0">
                <a:solidFill>
                  <a:srgbClr val="4A4A4A"/>
                </a:solidFill>
                <a:latin typeface="IBM Plex Sans" pitchFamily="34" charset="0"/>
                <a:ea typeface="IBM Plex Sans" pitchFamily="34" charset="-122"/>
                <a:cs typeface="IBM Plex Sans" pitchFamily="34" charset="-120"/>
              </a:rPr>
              <a:t>Sugiere si escalar a investigación, con los indicios que lo justifican</a:t>
            </a:r>
            <a:endParaRPr lang="en-US" sz="1500" dirty="0"/>
          </a:p>
        </p:txBody>
      </p:sp>
      <p:sp>
        <p:nvSpPr>
          <p:cNvPr id="7" name="Shape 5"/>
          <p:cNvSpPr/>
          <p:nvPr/>
        </p:nvSpPr>
        <p:spPr>
          <a:xfrm>
            <a:off x="7823200" y="2066230"/>
            <a:ext cx="3556000" cy="2623741"/>
          </a:xfrm>
          <a:prstGeom prst="roundRect">
            <a:avLst>
              <a:gd name="adj" fmla="val 3872"/>
            </a:avLst>
          </a:prstGeom>
          <a:solidFill>
            <a:srgbClr val="262626"/>
          </a:solidFill>
          <a:ln/>
        </p:spPr>
      </p:sp>
      <p:sp>
        <p:nvSpPr>
          <p:cNvPr id="8" name="Text 6"/>
          <p:cNvSpPr/>
          <p:nvPr/>
        </p:nvSpPr>
        <p:spPr>
          <a:xfrm>
            <a:off x="8077200" y="2320230"/>
            <a:ext cx="31394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D5CF"/>
                </a:solidFill>
                <a:latin typeface="IBM Plex Sans" pitchFamily="34" charset="0"/>
                <a:ea typeface="IBM Plex Sans" pitchFamily="34" charset="-122"/>
                <a:cs typeface="IBM Plex Sans" pitchFamily="34" charset="-120"/>
              </a:rPr>
              <a:t>Qué no hará</a:t>
            </a:r>
            <a:endParaRPr lang="en-US" sz="1800" dirty="0"/>
          </a:p>
        </p:txBody>
      </p:sp>
      <p:sp>
        <p:nvSpPr>
          <p:cNvPr id="9" name="Text 7"/>
          <p:cNvSpPr/>
          <p:nvPr/>
        </p:nvSpPr>
        <p:spPr>
          <a:xfrm>
            <a:off x="8148320" y="2721471"/>
            <a:ext cx="3060700"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7F5F3"/>
                </a:solidFill>
                <a:latin typeface="IBM Plex Sans" pitchFamily="34" charset="0"/>
                <a:ea typeface="IBM Plex Sans" pitchFamily="34" charset="-122"/>
                <a:cs typeface="IBM Plex Sans" pitchFamily="34" charset="-120"/>
              </a:rPr>
              <a:t>Decidir ni cerrar un expediente</a:t>
            </a:r>
            <a:endParaRPr lang="en-US" sz="1500" dirty="0"/>
          </a:p>
          <a:p>
            <a:pPr algn="l" marL="182880" indent="-182880">
              <a:lnSpc>
                <a:spcPts val="2250"/>
              </a:lnSpc>
              <a:buSzPct val="100000"/>
              <a:buChar char="•"/>
            </a:pPr>
            <a:r>
              <a:rPr lang="en-US" sz="1500" dirty="0">
                <a:solidFill>
                  <a:srgbClr val="F7F5F3"/>
                </a:solidFill>
                <a:latin typeface="IBM Plex Sans" pitchFamily="34" charset="0"/>
                <a:ea typeface="IBM Plex Sans" pitchFamily="34" charset="-122"/>
                <a:cs typeface="IBM Plex Sans" pitchFamily="34" charset="-120"/>
              </a:rPr>
              <a:t>Calificar un siniestro como fraude</a:t>
            </a:r>
            <a:endParaRPr lang="en-US" sz="1500" dirty="0"/>
          </a:p>
          <a:p>
            <a:pPr algn="l" marL="182880" indent="-182880">
              <a:lnSpc>
                <a:spcPts val="2250"/>
              </a:lnSpc>
              <a:buSzPct val="100000"/>
              <a:buChar char="•"/>
            </a:pPr>
            <a:r>
              <a:rPr lang="en-US" sz="1500" dirty="0">
                <a:solidFill>
                  <a:srgbClr val="F7F5F3"/>
                </a:solidFill>
                <a:latin typeface="IBM Plex Sans" pitchFamily="34" charset="0"/>
                <a:ea typeface="IBM Plex Sans" pitchFamily="34" charset="-122"/>
                <a:cs typeface="IBM Plex Sans" pitchFamily="34" charset="-120"/>
              </a:rPr>
              <a:t>Actuar sin que una persona lo revise</a:t>
            </a:r>
            <a:endParaRPr lang="en-US" sz="1500" dirty="0"/>
          </a:p>
        </p:txBody>
      </p:sp>
      <p:sp>
        <p:nvSpPr>
          <p:cNvPr id="10" name="Shape 8"/>
          <p:cNvSpPr/>
          <p:nvPr/>
        </p:nvSpPr>
        <p:spPr>
          <a:xfrm>
            <a:off x="838200" y="5206901"/>
            <a:ext cx="0" cy="635000"/>
          </a:xfrm>
          <a:prstGeom prst="line">
            <a:avLst/>
          </a:prstGeom>
          <a:noFill/>
          <a:ln w="50800">
            <a:solidFill>
              <a:srgbClr val="D81E05"/>
            </a:solidFill>
            <a:prstDash val="solid"/>
          </a:ln>
        </p:spPr>
      </p:sp>
      <p:sp>
        <p:nvSpPr>
          <p:cNvPr id="11" name="Text 9"/>
          <p:cNvSpPr/>
          <p:nvPr/>
        </p:nvSpPr>
        <p:spPr>
          <a:xfrm>
            <a:off x="1066800" y="5257701"/>
            <a:ext cx="74195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Se alimenta de los mismos datos que el modelo de pesos: </a:t>
            </a:r>
            <a:r>
              <a:rPr lang="en-US" sz="1500" b="1" dirty="0">
                <a:solidFill>
                  <a:srgbClr val="4A4A4A"/>
                </a:solidFill>
                <a:latin typeface="IBM Plex Sans" pitchFamily="34" charset="0"/>
                <a:ea typeface="IBM Plex Sans" pitchFamily="34" charset="-122"/>
                <a:cs typeface="IBM Plex Sans" pitchFamily="34" charset="-120"/>
              </a:rPr>
              <a:t>cada cierre bien codificado también lo entrena.</a:t>
            </a:r>
            <a:endParaRPr lang="en-US" sz="1500" dirty="0"/>
          </a:p>
        </p:txBody>
      </p:sp>
      <p:sp>
        <p:nvSpPr>
          <p:cNvPr id="12" name="Text 10"/>
          <p:cNvSpPr/>
          <p:nvPr/>
        </p:nvSpPr>
        <p:spPr>
          <a:xfrm>
            <a:off x="8473480" y="5417741"/>
            <a:ext cx="29928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Estado: [en definición] · Fecha: [por cerrar]</a:t>
            </a:r>
            <a:endParaRPr lang="en-US" sz="12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14"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A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81E05"/>
                </a:solidFill>
                <a:latin typeface="IBM Plex Sans" pitchFamily="34" charset="0"/>
                <a:ea typeface="IBM Plex Sans" pitchFamily="34" charset="-122"/>
                <a:cs typeface="IBM Plex Sans" pitchFamily="34" charset="-120"/>
              </a:rPr>
              <a:t>LO QUE NECESITAMOS DE VOSOTROS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62626"/>
                </a:solidFill>
                <a:latin typeface="Work Sans" pitchFamily="34" charset="0"/>
                <a:ea typeface="Work Sans" pitchFamily="34" charset="-122"/>
                <a:cs typeface="Work Sans" pitchFamily="34" charset="-120"/>
              </a:rPr>
              <a:t>Tres cosas, y ninguna lleva más de un minuto</a:t>
            </a:r>
            <a:endParaRPr lang="en-US" sz="3200" dirty="0"/>
          </a:p>
        </p:txBody>
      </p:sp>
      <p:sp>
        <p:nvSpPr>
          <p:cNvPr id="4" name="Shape 2"/>
          <p:cNvSpPr/>
          <p:nvPr/>
        </p:nvSpPr>
        <p:spPr>
          <a:xfrm>
            <a:off x="812800" y="1857276"/>
            <a:ext cx="10566400" cy="0"/>
          </a:xfrm>
          <a:prstGeom prst="line">
            <a:avLst/>
          </a:prstGeom>
          <a:noFill/>
          <a:ln w="6350">
            <a:solidFill>
              <a:srgbClr val="C9C3BC"/>
            </a:solidFill>
            <a:prstDash val="solid"/>
          </a:ln>
        </p:spPr>
      </p:sp>
      <p:sp>
        <p:nvSpPr>
          <p:cNvPr id="5" name="Text 3"/>
          <p:cNvSpPr/>
          <p:nvPr/>
        </p:nvSpPr>
        <p:spPr>
          <a:xfrm>
            <a:off x="812800" y="2038251"/>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1</a:t>
            </a:r>
            <a:endParaRPr lang="en-US" sz="4800" dirty="0"/>
          </a:p>
        </p:txBody>
      </p:sp>
      <p:sp>
        <p:nvSpPr>
          <p:cNvPr id="6" name="Text 4"/>
          <p:cNvSpPr/>
          <p:nvPr/>
        </p:nvSpPr>
        <p:spPr>
          <a:xfrm>
            <a:off x="1828800" y="2053530"/>
            <a:ext cx="9836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Codificar el motivo de cierre, siempre</a:t>
            </a:r>
            <a:endParaRPr lang="en-US" sz="1800" dirty="0"/>
          </a:p>
        </p:txBody>
      </p:sp>
      <p:sp>
        <p:nvSpPr>
          <p:cNvPr id="7" name="Text 5"/>
          <p:cNvSpPr/>
          <p:nvPr/>
        </p:nvSpPr>
        <p:spPr>
          <a:xfrm>
            <a:off x="1828800" y="2365871"/>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Es lo que enseña al modelo qué reglas aciertan. Un cierre sin motivo es un caso perdido para el sistema.</a:t>
            </a:r>
            <a:endParaRPr lang="en-US" sz="1500" dirty="0"/>
          </a:p>
        </p:txBody>
      </p:sp>
      <p:sp>
        <p:nvSpPr>
          <p:cNvPr id="8" name="Shape 6"/>
          <p:cNvSpPr/>
          <p:nvPr/>
        </p:nvSpPr>
        <p:spPr>
          <a:xfrm>
            <a:off x="812800" y="2828826"/>
            <a:ext cx="10566400" cy="0"/>
          </a:xfrm>
          <a:prstGeom prst="line">
            <a:avLst/>
          </a:prstGeom>
          <a:noFill/>
          <a:ln w="6350">
            <a:solidFill>
              <a:srgbClr val="C9C3BC"/>
            </a:solidFill>
            <a:prstDash val="solid"/>
          </a:ln>
        </p:spPr>
      </p:sp>
      <p:sp>
        <p:nvSpPr>
          <p:cNvPr id="9" name="Text 7"/>
          <p:cNvSpPr/>
          <p:nvPr/>
        </p:nvSpPr>
        <p:spPr>
          <a:xfrm>
            <a:off x="812800" y="3009801"/>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2</a:t>
            </a:r>
            <a:endParaRPr lang="en-US" sz="4800" dirty="0"/>
          </a:p>
        </p:txBody>
      </p:sp>
      <p:sp>
        <p:nvSpPr>
          <p:cNvPr id="10" name="Text 8"/>
          <p:cNvSpPr/>
          <p:nvPr/>
        </p:nvSpPr>
        <p:spPr>
          <a:xfrm>
            <a:off x="1828800" y="3025080"/>
            <a:ext cx="9836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Avisar de las reglas que saltan sin sentido</a:t>
            </a:r>
            <a:endParaRPr lang="en-US" sz="1800" dirty="0"/>
          </a:p>
        </p:txBody>
      </p:sp>
      <p:sp>
        <p:nvSpPr>
          <p:cNvPr id="11" name="Text 9"/>
          <p:cNvSpPr/>
          <p:nvPr/>
        </p:nvSpPr>
        <p:spPr>
          <a:xfrm>
            <a:off x="1828800" y="3337421"/>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Si una alerta os hace perder el tiempo tres veces seguidas, queremos saberlo esa misma semana.</a:t>
            </a:r>
            <a:endParaRPr lang="en-US" sz="1500" dirty="0"/>
          </a:p>
        </p:txBody>
      </p:sp>
      <p:sp>
        <p:nvSpPr>
          <p:cNvPr id="12" name="Shape 10"/>
          <p:cNvSpPr/>
          <p:nvPr/>
        </p:nvSpPr>
        <p:spPr>
          <a:xfrm>
            <a:off x="812800" y="3800376"/>
            <a:ext cx="10566400" cy="0"/>
          </a:xfrm>
          <a:prstGeom prst="line">
            <a:avLst/>
          </a:prstGeom>
          <a:noFill/>
          <a:ln w="6350">
            <a:solidFill>
              <a:srgbClr val="C9C3BC"/>
            </a:solidFill>
            <a:prstDash val="solid"/>
          </a:ln>
        </p:spPr>
      </p:sp>
      <p:sp>
        <p:nvSpPr>
          <p:cNvPr id="13" name="Shape 11"/>
          <p:cNvSpPr/>
          <p:nvPr/>
        </p:nvSpPr>
        <p:spPr>
          <a:xfrm>
            <a:off x="812800" y="4771926"/>
            <a:ext cx="10566400" cy="0"/>
          </a:xfrm>
          <a:prstGeom prst="line">
            <a:avLst/>
          </a:prstGeom>
          <a:noFill/>
          <a:ln w="6350">
            <a:solidFill>
              <a:srgbClr val="C9C3BC"/>
            </a:solidFill>
            <a:prstDash val="solid"/>
          </a:ln>
        </p:spPr>
      </p:sp>
      <p:sp>
        <p:nvSpPr>
          <p:cNvPr id="14" name="Text 12"/>
          <p:cNvSpPr/>
          <p:nvPr/>
        </p:nvSpPr>
        <p:spPr>
          <a:xfrm>
            <a:off x="812800" y="3981351"/>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81E05"/>
                </a:solidFill>
                <a:latin typeface="Work Sans" pitchFamily="34" charset="0"/>
                <a:ea typeface="Work Sans" pitchFamily="34" charset="-122"/>
                <a:cs typeface="Work Sans" pitchFamily="34" charset="-120"/>
              </a:rPr>
              <a:t>3</a:t>
            </a:r>
            <a:endParaRPr lang="en-US" sz="4800" dirty="0"/>
          </a:p>
        </p:txBody>
      </p:sp>
      <p:sp>
        <p:nvSpPr>
          <p:cNvPr id="15" name="Text 13"/>
          <p:cNvSpPr/>
          <p:nvPr/>
        </p:nvSpPr>
        <p:spPr>
          <a:xfrm>
            <a:off x="1828800" y="3996630"/>
            <a:ext cx="9836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62626"/>
                </a:solidFill>
                <a:latin typeface="IBM Plex Sans" pitchFamily="34" charset="0"/>
                <a:ea typeface="IBM Plex Sans" pitchFamily="34" charset="-122"/>
                <a:cs typeface="IBM Plex Sans" pitchFamily="34" charset="-120"/>
              </a:rPr>
              <a:t>Usar el canal de feedback: [canal / correo]</a:t>
            </a:r>
            <a:endParaRPr lang="en-US" sz="1800" dirty="0"/>
          </a:p>
        </p:txBody>
      </p:sp>
      <p:sp>
        <p:nvSpPr>
          <p:cNvPr id="16" name="Text 14"/>
          <p:cNvSpPr/>
          <p:nvPr/>
        </p:nvSpPr>
        <p:spPr>
          <a:xfrm>
            <a:off x="1828800" y="4308971"/>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4A"/>
                </a:solidFill>
                <a:latin typeface="IBM Plex Sans" pitchFamily="34" charset="0"/>
                <a:ea typeface="IBM Plex Sans" pitchFamily="34" charset="-122"/>
                <a:cs typeface="IBM Plex Sans" pitchFamily="34" charset="-120"/>
              </a:rPr>
              <a:t>Para pedir cambios en el dashboard, en la herramienta de carga o proponer una regla nueva.</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MAPFRE · Formación Data &amp; IA · Fraude Auto</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A7A"/>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81E05"/>
        </a:solidFill>
      </p:bgPr>
    </p:bg>
    <p:spTree>
      <p:nvGrpSpPr>
        <p:cNvPr id="1" name=""/>
        <p:cNvGrpSpPr/>
        <p:nvPr/>
      </p:nvGrpSpPr>
      <p:grpSpPr>
        <a:xfrm>
          <a:off x="0" y="0"/>
          <a:ext cx="0" cy="0"/>
          <a:chOff x="0" y="0"/>
          <a:chExt cx="0" cy="0"/>
        </a:xfrm>
      </p:grpSpPr>
      <p:sp>
        <p:nvSpPr>
          <p:cNvPr id="2" name="Text 0"/>
          <p:cNvSpPr/>
          <p:nvPr/>
        </p:nvSpPr>
        <p:spPr>
          <a:xfrm>
            <a:off x="812800" y="81280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spc="400" kern="0" dirty="0">
                <a:solidFill>
                  <a:srgbClr val="FCFBFA"/>
                </a:solidFill>
                <a:latin typeface="Work Sans" pitchFamily="34" charset="0"/>
                <a:ea typeface="Work Sans" pitchFamily="34" charset="-122"/>
                <a:cs typeface="Work Sans" pitchFamily="34" charset="-120"/>
              </a:rPr>
              <a:t>MAPFRE</a:t>
            </a:r>
            <a:endParaRPr lang="en-US" sz="1800" dirty="0"/>
          </a:p>
        </p:txBody>
      </p:sp>
      <p:sp>
        <p:nvSpPr>
          <p:cNvPr id="3" name="Text 1"/>
          <p:cNvSpPr/>
          <p:nvPr>
            <p:ph type="title"/>
          </p:nvPr>
        </p:nvSpPr>
        <p:spPr>
          <a:xfrm>
            <a:off x="812800" y="292735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CFBFA"/>
                </a:solidFill>
                <a:latin typeface="Work Sans" pitchFamily="34" charset="0"/>
                <a:ea typeface="Work Sans" pitchFamily="34" charset="-122"/>
                <a:cs typeface="Work Sans" pitchFamily="34" charset="-120"/>
              </a:rPr>
              <a:t>¿Preguntas?</a:t>
            </a:r>
            <a:endParaRPr lang="en-US" sz="4800" dirty="0"/>
          </a:p>
        </p:txBody>
      </p:sp>
      <p:sp>
        <p:nvSpPr>
          <p:cNvPr id="4" name="Text 2"/>
          <p:cNvSpPr/>
          <p:nvPr/>
        </p:nvSpPr>
        <p:spPr>
          <a:xfrm>
            <a:off x="812800" y="377061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D5CF"/>
                </a:solidFill>
                <a:latin typeface="IBM Plex Sans" pitchFamily="34" charset="0"/>
                <a:ea typeface="IBM Plex Sans" pitchFamily="34" charset="-122"/>
                <a:cs typeface="IBM Plex Sans" pitchFamily="34" charset="-120"/>
              </a:rPr>
              <a:t>Lo que no quepa hoy, por el canal de feedback: [canal / correo]</a:t>
            </a:r>
            <a:endParaRPr lang="en-US" sz="15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D5CF"/>
                </a:solidFill>
                <a:latin typeface="IBM Plex Sans" pitchFamily="34" charset="0"/>
                <a:ea typeface="IBM Plex Sans" pitchFamily="34" charset="-122"/>
                <a:cs typeface="IBM Plex Sans" pitchFamily="34" charset="-120"/>
              </a:rPr>
              <a:t>[Nombre] · [correo] · Área Data &amp; IA · Fraude Auto</a:t>
            </a:r>
            <a:endParaRPr lang="en-US" sz="1200" dirty="0"/>
          </a:p>
        </p:txBody>
      </p:sp>
    </p:spTree>
  </p:cSld>
  <p:clrMapOvr>
    <a:masterClrMapping/>
  </p:clrMapOvr>
</p:sld>
</file>

<file path=ppt/theme/theme1.xml><?xml version="1.0" encoding="utf-8"?>
<a:theme xmlns:a="http://schemas.openxmlformats.org/drawingml/2006/main" name="Data &amp; IA en fraude de auto — Formación">
  <a:themeElements>
    <a:clrScheme name="Data &amp; IA en fraude de auto — Formación">
      <a:dk1>
        <a:srgbClr val="262626"/>
      </a:dk1>
      <a:lt1>
        <a:srgbClr val="F7F5F3"/>
      </a:lt1>
      <a:dk2>
        <a:srgbClr val="5A5A59"/>
      </a:dk2>
      <a:lt2>
        <a:srgbClr val="E2E0DF"/>
      </a:lt2>
      <a:accent1>
        <a:srgbClr val="D81E05"/>
      </a:accent1>
      <a:accent2>
        <a:srgbClr val="F6D5CF"/>
      </a:accent2>
      <a:accent3>
        <a:srgbClr val="4A4A4A"/>
      </a:accent3>
      <a:accent4>
        <a:srgbClr val="7A7A7A"/>
      </a:accent4>
      <a:accent5>
        <a:srgbClr val="9AA0A6"/>
      </a:accent5>
      <a:accent6>
        <a:srgbClr val="7A7978"/>
      </a:accent6>
      <a:hlink>
        <a:srgbClr val="0563C1"/>
      </a:hlink>
      <a:folHlink>
        <a:srgbClr val="954F72"/>
      </a:folHlink>
    </a:clrScheme>
    <a:fontScheme name="Data &amp; IA en fraude de auto — Formació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&amp; IA en fraude de auto — Formación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Work Sans
Copyright 2019 The Work Sans Project Authors (https://github.com/weiweihuanghuang/Work-Sans)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2026-10-29T08:39:26Z</dcterms:created>
  <dcterms:modified xsi:type="dcterms:W3CDTF">2026-10-29T08:39:26Z</dcterms:modified>
</cp:coreProperties>
</file>