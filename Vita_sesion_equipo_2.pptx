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o" id="{EE9E4BB7-6678-401F-58D5-3C255D42CF4E}">
          <p14:sldIdLst>
            <p14:sldId id="256"/>
            <p14:sldId id="257"/>
          </p14:sldIdLst>
        </p14:section>
        <p14:section name="Situación actual" id="{42AE2331-40B6-E166-C272-2C8FF850728C}">
          <p14:sldIdLst>
            <p14:sldId id="258"/>
            <p14:sldId id="259"/>
          </p14:sldIdLst>
        </p14:section>
        <p14:section name="Mercado" id="{9806DA6E-9A22-856D-83C2-C2A413CFE799}">
          <p14:sldIdLst>
            <p14:sldId id="260"/>
            <p14:sldId id="261"/>
            <p14:sldId id="262"/>
            <p14:sldId id="263"/>
          </p14:sldIdLst>
        </p14:section>
        <p14:section name="Forma de trabajar" id="{677AA61B-543E-8FAF-9E2F-664D3AA39942}">
          <p14:sldIdLst>
            <p14:sldId id="264"/>
            <p14:sldId id="265"/>
            <p14:sldId id="268"/>
          </p14:sldIdLst>
        </p14:section>
        <p14:section name="Próximos pasos" id="{25F10786-F338-70B4-B641-82431A7D8CE5}">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varScale="1">
        <p:scale>
          <a:sx n="121" d="100"/>
          <a:sy n="121" d="100"/>
        </p:scale>
        <p:origin x="176"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293D36"/>
                </a:solidFill>
                <a:latin typeface="+mn-lt"/>
              </a:defRPr>
            </a:pPr>
            <a:r>
              <a:rPr lang="es-ES" sz="1200" b="0" i="0" u="none" strike="noStrike">
                <a:solidFill>
                  <a:srgbClr val="293D36"/>
                </a:solidFill>
                <a:latin typeface="+mn-lt"/>
              </a:rPr>
              <a:t>Precio mensual (€)</a:t>
            </a:r>
          </a:p>
        </c:rich>
      </c:tx>
      <c:overlay val="0"/>
    </c:title>
    <c:autoTitleDeleted val="0"/>
    <c:plotArea>
      <c:layout/>
      <c:barChart>
        <c:barDir val="col"/>
        <c:grouping val="stacked"/>
        <c:varyColors val="0"/>
        <c:ser>
          <c:idx val="0"/>
          <c:order val="0"/>
          <c:tx>
            <c:strRef>
              <c:f>Sheet1!$B$1</c:f>
              <c:strCache>
                <c:ptCount val="1"/>
                <c:pt idx="0">
                  <c:v>Competencia</c:v>
                </c:pt>
              </c:strCache>
            </c:strRef>
          </c:tx>
          <c:spPr>
            <a:solidFill>
              <a:srgbClr val="5A8777"/>
            </a:solidFill>
            <a:effectLst/>
          </c:spPr>
          <c:invertIfNegative val="0"/>
          <c:dLbls>
            <c:numFmt formatCode="#,##0&quot; €&quot;;;" sourceLinked="0"/>
            <c:spPr>
              <a:noFill/>
              <a:ln>
                <a:noFill/>
              </a:ln>
              <a:effectLst/>
            </c:spPr>
            <c:txPr>
              <a:bodyPr/>
              <a:lstStyle/>
              <a:p>
                <a:pPr>
                  <a:defRPr sz="1000" b="0" i="0" u="none" strike="noStrike">
                    <a:solidFill>
                      <a:srgbClr val="FFFFFF"/>
                    </a:solidFill>
                    <a:latin typeface="+mn-lt"/>
                  </a:defRPr>
                </a:pPr>
                <a:endParaRPr lang="es-E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Cruz Roja</c:v>
                </c:pt>
                <c:pt idx="1">
                  <c:v>Durcal</c:v>
                </c:pt>
                <c:pt idx="2">
                  <c:v>SICOR</c:v>
                </c:pt>
                <c:pt idx="3">
                  <c:v>TeCuida</c:v>
                </c:pt>
                <c:pt idx="4">
                  <c:v>Kami</c:v>
                </c:pt>
                <c:pt idx="5">
                  <c:v>Vita mín.</c:v>
                </c:pt>
                <c:pt idx="6">
                  <c:v>Vita Básico</c:v>
                </c:pt>
              </c:strCache>
            </c:strRef>
          </c:cat>
          <c:val>
            <c:numRef>
              <c:f>Sheet1!$B$2:$B$8</c:f>
              <c:numCache>
                <c:formatCode>General</c:formatCode>
                <c:ptCount val="7"/>
                <c:pt idx="0">
                  <c:v>14</c:v>
                </c:pt>
                <c:pt idx="1">
                  <c:v>19.920000000000002</c:v>
                </c:pt>
                <c:pt idx="2">
                  <c:v>23.9</c:v>
                </c:pt>
                <c:pt idx="3">
                  <c:v>24.9</c:v>
                </c:pt>
                <c:pt idx="4">
                  <c:v>40</c:v>
                </c:pt>
              </c:numCache>
            </c:numRef>
          </c:val>
          <c:extLst>
            <c:ext xmlns:c16="http://schemas.microsoft.com/office/drawing/2014/chart" uri="{C3380CC4-5D6E-409C-BE32-E72D297353CC}">
              <c16:uniqueId val="{00000000-1719-914D-B491-78C9005D5577}"/>
            </c:ext>
          </c:extLst>
        </c:ser>
        <c:ser>
          <c:idx val="1"/>
          <c:order val="1"/>
          <c:tx>
            <c:strRef>
              <c:f>Sheet1!$C$1</c:f>
              <c:strCache>
                <c:ptCount val="1"/>
                <c:pt idx="0">
                  <c:v>Vita</c:v>
                </c:pt>
              </c:strCache>
            </c:strRef>
          </c:tx>
          <c:spPr>
            <a:solidFill>
              <a:srgbClr val="293D36"/>
            </a:solidFill>
            <a:effectLst/>
          </c:spPr>
          <c:invertIfNegative val="0"/>
          <c:dLbls>
            <c:numFmt formatCode="#,##0&quot; €&quot;;;" sourceLinked="0"/>
            <c:spPr>
              <a:noFill/>
              <a:ln>
                <a:noFill/>
              </a:ln>
              <a:effectLst/>
            </c:spPr>
            <c:txPr>
              <a:bodyPr/>
              <a:lstStyle/>
              <a:p>
                <a:pPr>
                  <a:defRPr sz="1000" b="0" i="0" u="none" strike="noStrike">
                    <a:solidFill>
                      <a:srgbClr val="FFFFFF"/>
                    </a:solidFill>
                    <a:latin typeface="+mn-lt"/>
                  </a:defRPr>
                </a:pPr>
                <a:endParaRPr lang="es-E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Cruz Roja</c:v>
                </c:pt>
                <c:pt idx="1">
                  <c:v>Durcal</c:v>
                </c:pt>
                <c:pt idx="2">
                  <c:v>SICOR</c:v>
                </c:pt>
                <c:pt idx="3">
                  <c:v>TeCuida</c:v>
                </c:pt>
                <c:pt idx="4">
                  <c:v>Kami</c:v>
                </c:pt>
                <c:pt idx="5">
                  <c:v>Vita mín.</c:v>
                </c:pt>
                <c:pt idx="6">
                  <c:v>Vita Básico</c:v>
                </c:pt>
              </c:strCache>
            </c:strRef>
          </c:cat>
          <c:val>
            <c:numRef>
              <c:f>Sheet1!$C$2:$C$8</c:f>
              <c:numCache>
                <c:formatCode>General</c:formatCode>
                <c:ptCount val="7"/>
                <c:pt idx="5">
                  <c:v>57</c:v>
                </c:pt>
                <c:pt idx="6">
                  <c:v>90</c:v>
                </c:pt>
              </c:numCache>
            </c:numRef>
          </c:val>
          <c:extLst>
            <c:ext xmlns:c16="http://schemas.microsoft.com/office/drawing/2014/chart" uri="{C3380CC4-5D6E-409C-BE32-E72D297353CC}">
              <c16:uniqueId val="{00000001-1719-914D-B491-78C9005D5577}"/>
            </c:ext>
          </c:extLst>
        </c:ser>
        <c:dLbls>
          <c:dLblPos val="inEnd"/>
          <c:showLegendKey val="0"/>
          <c:showVal val="1"/>
          <c:showCatName val="0"/>
          <c:showSerName val="0"/>
          <c:showPercent val="0"/>
          <c:showBubbleSize val="0"/>
        </c:dLbls>
        <c:gapWidth val="6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E5555"/>
                </a:solidFill>
                <a:latin typeface="+mn-lt"/>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C3D5C8"/>
              </a:solidFill>
              <a:prstDash val="solid"/>
              <a:round/>
            </a:ln>
          </c:spPr>
        </c:majorGridlines>
        <c:numFmt formatCode="#,##0&quot; €&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E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E555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6873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salir de la reunión con un foco acordado, una forma de trabajar y los primeros pasos con responsable. No es una evaluación de nadie: es una foto honesta, preparada con un squad de agentes de análisis que han revisado el código, la documentación, el mercado y los números.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llevamos unos 4 meses y es buen momento para parar y ordenar. Las ideas que han salido no son malas; el problema es que compiten por las mismas 8 horas de desarrollo. Hoy queremos salir con estas tres cosas decididas.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Reconocer el trabajo: hardware real, datos reales sin simulaciones e infraestructura reproducible. Es mucho para 4 meses y es la base que nos permite enfocarnos sin empezar de cero.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Estamos más cerca de algo vendible de lo que parece, pero no en la dirección de los documentos. El punto 1 es el que más importa: un producto de seguridad que no avisa no se puede vender a ningún precio.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competidor real no es otra startup de IA: es la teleasistencia, que la familia ya conoce y que a menudo es gratuita. En relojes y en residencias hay empresas con decenas de millones de financiación. Kami, en EE. UU., es lo más parecido a Vita: cámara para familias con monitorización profesional.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resume por qué no podemos competir en reloj ni en teleasistencia: ellos tienen central 24/7 y ya avisan a la familia. Lo que aportamos es la cámara: avisa aunque la persona no lleve nada y la familia ve qué ha pasado. Pero la cámara también es nuestro mayor riesgo: privacidad, consentimiento de la persona mayor y miedo al hackeo. Eso lo tenemos que medir antes de construir más.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familias tienen la teleasistencia gratis a través del ayuntamiento o la comunidad. Si cobramos 59 euros o más, la familia tiene que ver claramente qué le damos de más. Por eso la primera fase mide la disposición a pagar con una preventa real, no con opiniones.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hogar puede ser rentable si cobramos lo suficiente, pero la empresa no paga sueldos en 3 años en ningún escenario para familias. Crecer consume caja: cada hogar nuevo adelanta unos 850 euros que se recuperan en unos 14 meses. Una cuota de alta de unos 199 euros reduce mucho esa necesidad. Dos datos pueden cambiarlo todo: si la nube cuesta 2,5-3 euros al día por hogar, y si los tres socios deben cotizar como autónomos. Hay que medirlo y consultarlo con la gestoría.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es una crítica personal: es lo normal en un equipo pequeño que construye rápido. El riesgo es que, sin filtro y sin fecha, cada idea nueva compite con lo urgente y nunca llegamos a vender. Y con una sola persona escribiendo código, cuidar su tiempo es gestionar el riesgo del proyecto.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8 horas de desarrollo a la semana, lo que marca el ritmo no es el código, sino validar y vender. Por eso negocio lidera la primera y la última fase. Los puntos de decisión nos protegen: acordamos los umbrales ahora, antes de tener los datos, para decidir de forma objetiva. Si negocio y legal tienen menos de 5 horas a la semana, el plan se alarga a unas 45-50 semanas.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guía para cualquier idea nueva, venga de quien venga. La clave es que programar es el paso 5, no el 1: antes, la idea ha demostrado que la piden clientes, que es legalmente segura y que alguien la pagaría o la usaría. Así protegemos las 8 horas de desarrollo. El paso 3 es importante en salud: funciones como mostrar la tensión o interpretar datos con IA pueden convertir Vita en producto sanitario.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Definir el MVP es lo primero, y una decisión clave es la cámara: vídeo real, solo siluetas o un sensor sin cámara. No lo decidimos por opinión: en las entrevistas enseñamos las tres opciones, con la persona mayor presente cuando sea posible. Si más de la mitad rechaza la cámara, sale del producto. En la empresa, antes de cobrar hace falta tener claros la forma jurídica, los autónomos, el seguro y la protección de datos. Nada de esto es asesoramiento legal ni fiscal: hay que validarlo con profesionales.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pic>
        <p:nvPicPr>
          <p:cNvPr id="2" name="Image 0" descr="vita-logo-claro.png"/>
          <p:cNvPicPr>
            <a:picLocks noChangeAspect="1"/>
          </p:cNvPicPr>
          <p:nvPr/>
        </p:nvPicPr>
        <p:blipFill>
          <a:blip r:embed="rId2"/>
          <a:stretch>
            <a:fillRect/>
          </a:stretch>
        </p:blipFill>
        <p:spPr>
          <a:xfrm>
            <a:off x="548640" y="502920"/>
            <a:ext cx="2103120" cy="914400"/>
          </a:xfrm>
          <a:prstGeom prst="rect">
            <a:avLst/>
          </a:prstGeom>
        </p:spPr>
      </p:pic>
      <p:sp>
        <p:nvSpPr>
          <p:cNvPr id="3" name="Text 0"/>
          <p:cNvSpPr>
            <a:spLocks noGrp="1"/>
          </p:cNvSpPr>
          <p:nvPr>
            <p:ph type="title" idx="101" hasCustomPrompt="1"/>
          </p:nvPr>
        </p:nvSpPr>
        <p:spPr>
          <a:xfrm>
            <a:off x="548640" y="1600200"/>
            <a:ext cx="8046720" cy="1417320"/>
          </a:xfrm>
          <a:prstGeom prst="rect">
            <a:avLst/>
          </a:prstGeom>
          <a:noFill/>
          <a:ln/>
        </p:spPr>
        <p:txBody>
          <a:bodyPr wrap="square" rtlCol="0"/>
          <a:lstStyle>
            <a:lvl1pPr marL="0" indent="0" algn="l">
              <a:buNone/>
              <a:defRPr lang="en-US" sz="3800" b="1" dirty="0">
                <a:solidFill>
                  <a:schemeClr val="bg2"/>
                </a:solidFill>
              </a:defRPr>
            </a:lvl1pPr>
          </a:lstStyle>
          <a:p>
            <a:pPr marL="0" indent="0" algn="l">
              <a:buNone/>
            </a:pPr>
            <a:endParaRPr lang="en-US" sz="3800" dirty="0"/>
          </a:p>
        </p:txBody>
      </p:sp>
      <p:sp>
        <p:nvSpPr>
          <p:cNvPr id="4" name="Text 0"/>
          <p:cNvSpPr>
            <a:spLocks noGrp="1"/>
          </p:cNvSpPr>
          <p:nvPr>
            <p:ph type="body" idx="102" hasCustomPrompt="1"/>
          </p:nvPr>
        </p:nvSpPr>
        <p:spPr>
          <a:xfrm>
            <a:off x="548640" y="3200400"/>
            <a:ext cx="8046720" cy="1097280"/>
          </a:xfrm>
          <a:prstGeom prst="rect">
            <a:avLst/>
          </a:prstGeom>
          <a:noFill/>
          <a:ln/>
        </p:spPr>
        <p:txBody>
          <a:bodyPr wrap="square" rtlCol="0"/>
          <a:lstStyle>
            <a:lvl1pPr marL="0" indent="0" algn="l">
              <a:buNone/>
              <a:defRPr lang="en-US" sz="1800" dirty="0">
                <a:solidFill>
                  <a:schemeClr val="accent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2"/>
        </a:solidFill>
        <a:effectLst/>
      </p:bgPr>
    </p:bg>
    <p:spTree>
      <p:nvGrpSpPr>
        <p:cNvPr id="1" name=""/>
        <p:cNvGrpSpPr/>
        <p:nvPr/>
      </p:nvGrpSpPr>
      <p:grpSpPr>
        <a:xfrm>
          <a:off x="0" y="0"/>
          <a:ext cx="0" cy="0"/>
          <a:chOff x="0" y="0"/>
          <a:chExt cx="0" cy="0"/>
        </a:xfrm>
      </p:grpSpPr>
      <p:pic>
        <p:nvPicPr>
          <p:cNvPr id="2" name="Image 0" descr="vita.png"/>
          <p:cNvPicPr>
            <a:picLocks noChangeAspect="1"/>
          </p:cNvPicPr>
          <p:nvPr/>
        </p:nvPicPr>
        <p:blipFill>
          <a:blip r:embed="rId2"/>
          <a:stretch>
            <a:fillRect/>
          </a:stretch>
        </p:blipFill>
        <p:spPr>
          <a:xfrm>
            <a:off x="457200" y="4754880"/>
            <a:ext cx="566928" cy="182880"/>
          </a:xfrm>
          <a:prstGeom prst="rect">
            <a:avLst/>
          </a:prstGeom>
        </p:spPr>
      </p:pic>
      <p:sp>
        <p:nvSpPr>
          <p:cNvPr id="3" name="Text 0"/>
          <p:cNvSpPr>
            <a:spLocks noGrp="1"/>
          </p:cNvSpPr>
          <p:nvPr>
            <p:ph type="title" idx="101"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2"/>
        </a:solidFill>
        <a:effectLst/>
      </p:bgPr>
    </p:bg>
    <p:spTree>
      <p:nvGrpSpPr>
        <p:cNvPr id="1" name=""/>
        <p:cNvGrpSpPr/>
        <p:nvPr/>
      </p:nvGrpSpPr>
      <p:grpSpPr>
        <a:xfrm>
          <a:off x="0" y="0"/>
          <a:ext cx="0" cy="0"/>
          <a:chOff x="0" y="0"/>
          <a:chExt cx="0" cy="0"/>
        </a:xfrm>
      </p:grpSpPr>
      <p:pic>
        <p:nvPicPr>
          <p:cNvPr id="2" name="Image 0" descr="vita-claro.png"/>
          <p:cNvPicPr>
            <a:picLocks noChangeAspect="1"/>
          </p:cNvPicPr>
          <p:nvPr/>
        </p:nvPicPr>
        <p:blipFill>
          <a:blip r:embed="rId2"/>
          <a:stretch>
            <a:fillRect/>
          </a:stretch>
        </p:blipFill>
        <p:spPr>
          <a:xfrm>
            <a:off x="457200" y="4754880"/>
            <a:ext cx="566928" cy="182880"/>
          </a:xfrm>
          <a:prstGeom prst="rect">
            <a:avLst/>
          </a:prstGeom>
        </p:spPr>
      </p:pic>
      <p:sp>
        <p:nvSpPr>
          <p:cNvPr id="3" name="Text 0"/>
          <p:cNvSpPr>
            <a:spLocks noGrp="1"/>
          </p:cNvSpPr>
          <p:nvPr>
            <p:ph type="title" idx="101" hasCustomPrompt="1"/>
          </p:nvPr>
        </p:nvSpPr>
        <p:spPr>
          <a:xfrm>
            <a:off x="548640" y="1463040"/>
            <a:ext cx="8046720" cy="1097280"/>
          </a:xfrm>
          <a:prstGeom prst="rect">
            <a:avLst/>
          </a:prstGeom>
          <a:noFill/>
          <a:ln/>
        </p:spPr>
        <p:txBody>
          <a:bodyPr wrap="square" rtlCol="0"/>
          <a:lstStyle>
            <a:lvl1pPr marL="0" indent="0" algn="l">
              <a:buNone/>
              <a:defRPr lang="en-US" sz="3800" b="1" dirty="0">
                <a:solidFill>
                  <a:schemeClr val="bg2"/>
                </a:solidFill>
              </a:defRPr>
            </a:lvl1pPr>
          </a:lstStyle>
          <a:p>
            <a:pPr marL="0" indent="0" algn="l">
              <a:buNone/>
            </a:pPr>
            <a:endParaRPr lang="en-US" sz="3800" dirty="0"/>
          </a:p>
        </p:txBody>
      </p:sp>
      <p:sp>
        <p:nvSpPr>
          <p:cNvPr id="4" name="Text 0"/>
          <p:cNvSpPr>
            <a:spLocks noGrp="1"/>
          </p:cNvSpPr>
          <p:nvPr>
            <p:ph type="body" idx="102" hasCustomPrompt="1"/>
          </p:nvPr>
        </p:nvSpPr>
        <p:spPr>
          <a:xfrm>
            <a:off x="548640" y="2697480"/>
            <a:ext cx="8046720" cy="1280160"/>
          </a:xfrm>
          <a:prstGeom prst="rect">
            <a:avLst/>
          </a:prstGeom>
          <a:noFill/>
          <a:ln/>
        </p:spPr>
        <p:txBody>
          <a:bodyPr wrap="square" rtlCol="0"/>
          <a:lstStyle>
            <a:lvl1pPr marL="0" indent="0" algn="l">
              <a:buNone/>
              <a:defRPr lang="en-US" sz="1800" dirty="0">
                <a:solidFill>
                  <a:schemeClr val="accent2"/>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1600200"/>
            <a:ext cx="8046720" cy="1417320"/>
          </a:xfrm>
          <a:prstGeom prst="rect">
            <a:avLst/>
          </a:prstGeom>
          <a:noFill/>
          <a:ln/>
        </p:spPr>
        <p:txBody>
          <a:bodyPr wrap="square" lIns="0" tIns="0" rIns="0" bIns="0" rtlCol="0" anchor="b"/>
          <a:lstStyle/>
          <a:p>
            <a:pPr marL="0" indent="0" algn="l">
              <a:buNone/>
            </a:pPr>
            <a:r>
              <a:rPr lang="en-US" sz="3800" b="1" dirty="0">
                <a:solidFill>
                  <a:schemeClr val="bg2"/>
                </a:solidFill>
              </a:rPr>
              <a:t>Vita: dónde estamos y cómo seguimos</a:t>
            </a:r>
            <a:endParaRPr lang="en-US" sz="3800" dirty="0"/>
          </a:p>
        </p:txBody>
      </p:sp>
      <p:sp>
        <p:nvSpPr>
          <p:cNvPr id="3" name="Text 0"/>
          <p:cNvSpPr>
            <a:spLocks noGrp="1"/>
          </p:cNvSpPr>
          <p:nvPr>
            <p:ph type="body" idx="102" hasCustomPrompt="1"/>
          </p:nvPr>
        </p:nvSpPr>
        <p:spPr>
          <a:xfrm>
            <a:off x="548640" y="3200400"/>
            <a:ext cx="8046720" cy="1097280"/>
          </a:xfrm>
          <a:prstGeom prst="rect">
            <a:avLst/>
          </a:prstGeom>
          <a:noFill/>
          <a:ln/>
        </p:spPr>
        <p:txBody>
          <a:bodyPr wrap="square" lIns="0" tIns="0" rIns="0" bIns="0" rtlCol="0" anchor="t"/>
          <a:lstStyle/>
          <a:p>
            <a:pPr marL="0" indent="0" algn="l">
              <a:buNone/>
            </a:pPr>
            <a:r>
              <a:rPr lang="en-US" sz="1800" dirty="0">
                <a:solidFill>
                  <a:schemeClr val="accent2"/>
                </a:solidFill>
              </a:rPr>
              <a:t>Contexto, mercado, números y propuesta de trabajo</a:t>
            </a:r>
            <a:endParaRPr lang="en-US" sz="1800" dirty="0"/>
          </a:p>
          <a:p>
            <a:pPr marL="0" indent="0" algn="l">
              <a:buNone/>
            </a:pPr>
            <a:r>
              <a:rPr lang="en-US" sz="1800" dirty="0">
                <a:solidFill>
                  <a:schemeClr val="accent2"/>
                </a:solidFill>
              </a:rPr>
              <a:t>Reunión del equipo · noviembre de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Contexto y objetivo de la sesión</a:t>
            </a:r>
            <a:endParaRPr lang="en-US" sz="3000" dirty="0"/>
          </a:p>
        </p:txBody>
      </p:sp>
      <p:sp>
        <p:nvSpPr>
          <p:cNvPr id="3" name="Contexto"/>
          <p:cNvSpPr/>
          <p:nvPr/>
        </p:nvSpPr>
        <p:spPr>
          <a:xfrm>
            <a:off x="457200" y="1143000"/>
            <a:ext cx="3931920" cy="3429000"/>
          </a:xfrm>
          <a:prstGeom prst="rect">
            <a:avLst/>
          </a:prstGeom>
          <a:solidFill>
            <a:schemeClr val="bg1"/>
          </a:solidFill>
          <a:ln/>
        </p:spPr>
        <p:txBody>
          <a:bodyPr/>
          <a:lstStyle/>
          <a:p>
            <a:endParaRPr lang="es-ES"/>
          </a:p>
        </p:txBody>
      </p:sp>
      <p:sp>
        <p:nvSpPr>
          <p:cNvPr id="4" name="Contexto titulo"/>
          <p:cNvSpPr txBox="1"/>
          <p:nvPr/>
        </p:nvSpPr>
        <p:spPr>
          <a:xfrm>
            <a:off x="731520" y="1325880"/>
            <a:ext cx="3474720" cy="365760"/>
          </a:xfrm>
          <a:prstGeom prst="rect">
            <a:avLst/>
          </a:prstGeom>
          <a:noFill/>
          <a:ln/>
        </p:spPr>
        <p:txBody>
          <a:bodyPr wrap="square" lIns="0" tIns="0" rIns="0" bIns="0" rtlCol="0" anchor="t"/>
          <a:lstStyle/>
          <a:p>
            <a:pPr marL="0" indent="0">
              <a:buNone/>
            </a:pPr>
            <a:r>
              <a:rPr lang="en-US" sz="1800" b="1" dirty="0">
                <a:solidFill>
                  <a:schemeClr val="tx2"/>
                </a:solidFill>
              </a:rPr>
              <a:t>De dónde venimos</a:t>
            </a:r>
            <a:endParaRPr lang="en-US" sz="1800" dirty="0"/>
          </a:p>
        </p:txBody>
      </p:sp>
      <p:sp>
        <p:nvSpPr>
          <p:cNvPr id="5" name="Contexto lista"/>
          <p:cNvSpPr txBox="1"/>
          <p:nvPr/>
        </p:nvSpPr>
        <p:spPr>
          <a:xfrm>
            <a:off x="731520" y="1783080"/>
            <a:ext cx="347472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4 meses construyendo un piloto que funciona</a:t>
            </a:r>
            <a:endParaRPr lang="en-US" sz="1400" dirty="0"/>
          </a:p>
          <a:p>
            <a:pPr marL="342900" indent="-342900">
              <a:spcAft>
                <a:spcPts val="800"/>
              </a:spcAft>
              <a:buSzPct val="100000"/>
              <a:buChar char="•"/>
            </a:pPr>
            <a:r>
              <a:rPr lang="en-US" sz="1400" dirty="0">
                <a:solidFill>
                  <a:schemeClr val="tx1"/>
                </a:solidFill>
              </a:rPr>
              <a:t>3 personas: negocio, legal y desarrollo</a:t>
            </a:r>
            <a:endParaRPr lang="en-US" sz="1400" dirty="0"/>
          </a:p>
          <a:p>
            <a:pPr marL="342900" indent="-342900">
              <a:spcAft>
                <a:spcPts val="800"/>
              </a:spcAft>
              <a:buSzPct val="100000"/>
              <a:buChar char="•"/>
            </a:pPr>
            <a:r>
              <a:rPr lang="en-US" sz="1400" dirty="0" err="1">
                <a:solidFill>
                  <a:schemeClr val="tx1"/>
                </a:solidFill>
              </a:rPr>
              <a:t>Trabajando</a:t>
            </a:r>
            <a:r>
              <a:rPr lang="en-US" sz="1400" dirty="0">
                <a:solidFill>
                  <a:schemeClr val="tx1"/>
                </a:solidFill>
              </a:rPr>
              <a:t> </a:t>
            </a:r>
            <a:r>
              <a:rPr lang="en-US" sz="1400" dirty="0" err="1">
                <a:solidFill>
                  <a:schemeClr val="tx1"/>
                </a:solidFill>
              </a:rPr>
              <a:t>en</a:t>
            </a:r>
            <a:r>
              <a:rPr lang="en-US" sz="1400" dirty="0">
                <a:solidFill>
                  <a:schemeClr val="tx1"/>
                </a:solidFill>
              </a:rPr>
              <a:t> </a:t>
            </a:r>
            <a:r>
              <a:rPr lang="en-US" sz="1400" dirty="0" err="1">
                <a:solidFill>
                  <a:schemeClr val="tx1"/>
                </a:solidFill>
              </a:rPr>
              <a:t>tiempos</a:t>
            </a:r>
            <a:r>
              <a:rPr lang="en-US" sz="1400" dirty="0">
                <a:solidFill>
                  <a:schemeClr val="tx1"/>
                </a:solidFill>
              </a:rPr>
              <a:t> </a:t>
            </a:r>
            <a:r>
              <a:rPr lang="en-US" sz="1400" dirty="0" err="1">
                <a:solidFill>
                  <a:schemeClr val="tx1"/>
                </a:solidFill>
              </a:rPr>
              <a:t>libres</a:t>
            </a:r>
            <a:endParaRPr lang="en-US" sz="1400" dirty="0"/>
          </a:p>
          <a:p>
            <a:pPr marL="342900" indent="-342900">
              <a:spcAft>
                <a:spcPts val="800"/>
              </a:spcAft>
              <a:buSzPct val="100000"/>
              <a:buChar char="•"/>
            </a:pPr>
            <a:r>
              <a:rPr lang="en-US" sz="1400" dirty="0">
                <a:solidFill>
                  <a:schemeClr val="tx1"/>
                </a:solidFill>
              </a:rPr>
              <a:t>Cada </a:t>
            </a:r>
            <a:r>
              <a:rPr lang="en-US" sz="1400" dirty="0" err="1">
                <a:solidFill>
                  <a:schemeClr val="tx1"/>
                </a:solidFill>
              </a:rPr>
              <a:t>semana</a:t>
            </a:r>
            <a:r>
              <a:rPr lang="en-US" sz="1400" dirty="0">
                <a:solidFill>
                  <a:schemeClr val="tx1"/>
                </a:solidFill>
              </a:rPr>
              <a:t> </a:t>
            </a:r>
            <a:r>
              <a:rPr lang="en-US" sz="1400" dirty="0" err="1">
                <a:solidFill>
                  <a:schemeClr val="tx1"/>
                </a:solidFill>
              </a:rPr>
              <a:t>surgen</a:t>
            </a:r>
            <a:r>
              <a:rPr lang="en-US" sz="1400" dirty="0">
                <a:solidFill>
                  <a:schemeClr val="tx1"/>
                </a:solidFill>
              </a:rPr>
              <a:t> ideas </a:t>
            </a:r>
            <a:r>
              <a:rPr lang="en-US" sz="1400" dirty="0" err="1">
                <a:solidFill>
                  <a:schemeClr val="tx1"/>
                </a:solidFill>
              </a:rPr>
              <a:t>nuevas</a:t>
            </a:r>
            <a:r>
              <a:rPr lang="en-US" sz="1400" dirty="0">
                <a:solidFill>
                  <a:schemeClr val="tx1"/>
                </a:solidFill>
              </a:rPr>
              <a:t>, </a:t>
            </a:r>
            <a:r>
              <a:rPr lang="en-US" sz="1400" dirty="0" err="1">
                <a:solidFill>
                  <a:schemeClr val="tx1"/>
                </a:solidFill>
              </a:rPr>
              <a:t>casi</a:t>
            </a:r>
            <a:r>
              <a:rPr lang="en-US" sz="1400" dirty="0">
                <a:solidFill>
                  <a:schemeClr val="tx1"/>
                </a:solidFill>
              </a:rPr>
              <a:t> </a:t>
            </a:r>
            <a:r>
              <a:rPr lang="en-US" sz="1400" dirty="0" err="1">
                <a:solidFill>
                  <a:schemeClr val="tx1"/>
                </a:solidFill>
              </a:rPr>
              <a:t>todas</a:t>
            </a:r>
            <a:r>
              <a:rPr lang="en-US" sz="1400" dirty="0">
                <a:solidFill>
                  <a:schemeClr val="tx1"/>
                </a:solidFill>
              </a:rPr>
              <a:t> a largo </a:t>
            </a:r>
            <a:r>
              <a:rPr lang="en-US" sz="1400" dirty="0" err="1">
                <a:solidFill>
                  <a:schemeClr val="tx1"/>
                </a:solidFill>
              </a:rPr>
              <a:t>plazo</a:t>
            </a:r>
            <a:endParaRPr lang="en-US" sz="1400" dirty="0"/>
          </a:p>
          <a:p>
            <a:pPr marL="342900" indent="-342900">
              <a:spcAft>
                <a:spcPts val="800"/>
              </a:spcAft>
              <a:buSzPct val="100000"/>
              <a:buChar char="•"/>
            </a:pPr>
            <a:r>
              <a:rPr lang="en-US" sz="1400" dirty="0" err="1">
                <a:solidFill>
                  <a:schemeClr val="tx1"/>
                </a:solidFill>
              </a:rPr>
              <a:t>Todavía</a:t>
            </a:r>
            <a:r>
              <a:rPr lang="en-US" sz="1400" dirty="0">
                <a:solidFill>
                  <a:schemeClr val="tx1"/>
                </a:solidFill>
              </a:rPr>
              <a:t> no </a:t>
            </a:r>
            <a:r>
              <a:rPr lang="en-US" sz="1400" dirty="0" err="1">
                <a:solidFill>
                  <a:schemeClr val="tx1"/>
                </a:solidFill>
              </a:rPr>
              <a:t>paga</a:t>
            </a:r>
            <a:r>
              <a:rPr lang="en-US" sz="1400" dirty="0">
                <a:solidFill>
                  <a:schemeClr val="tx1"/>
                </a:solidFill>
              </a:rPr>
              <a:t> </a:t>
            </a:r>
            <a:r>
              <a:rPr lang="en-US" sz="1400" dirty="0" err="1">
                <a:solidFill>
                  <a:schemeClr val="tx1"/>
                </a:solidFill>
              </a:rPr>
              <a:t>ninguna</a:t>
            </a:r>
            <a:r>
              <a:rPr lang="en-US" sz="1400" dirty="0">
                <a:solidFill>
                  <a:schemeClr val="tx1"/>
                </a:solidFill>
              </a:rPr>
              <a:t> familia</a:t>
            </a:r>
            <a:endParaRPr lang="en-US" sz="1400" dirty="0"/>
          </a:p>
        </p:txBody>
      </p:sp>
      <p:sp>
        <p:nvSpPr>
          <p:cNvPr id="6" name="Objetivo"/>
          <p:cNvSpPr/>
          <p:nvPr/>
        </p:nvSpPr>
        <p:spPr>
          <a:xfrm>
            <a:off x="4663440" y="1143000"/>
            <a:ext cx="4023360" cy="3429000"/>
          </a:xfrm>
          <a:prstGeom prst="rect">
            <a:avLst/>
          </a:prstGeom>
          <a:solidFill>
            <a:schemeClr val="tx2"/>
          </a:solidFill>
          <a:ln/>
        </p:spPr>
        <p:txBody>
          <a:bodyPr/>
          <a:lstStyle/>
          <a:p>
            <a:endParaRPr lang="es-ES"/>
          </a:p>
        </p:txBody>
      </p:sp>
      <p:sp>
        <p:nvSpPr>
          <p:cNvPr id="7" name="Objetivo titulo"/>
          <p:cNvSpPr txBox="1"/>
          <p:nvPr/>
        </p:nvSpPr>
        <p:spPr>
          <a:xfrm>
            <a:off x="4937760" y="1325880"/>
            <a:ext cx="3566160" cy="365760"/>
          </a:xfrm>
          <a:prstGeom prst="rect">
            <a:avLst/>
          </a:prstGeom>
          <a:noFill/>
          <a:ln/>
        </p:spPr>
        <p:txBody>
          <a:bodyPr wrap="square" lIns="0" tIns="0" rIns="0" bIns="0" rtlCol="0" anchor="t"/>
          <a:lstStyle/>
          <a:p>
            <a:pPr marL="0" indent="0">
              <a:buNone/>
            </a:pPr>
            <a:r>
              <a:rPr lang="en-US" sz="1800" b="1" dirty="0">
                <a:solidFill>
                  <a:schemeClr val="bg2"/>
                </a:solidFill>
              </a:rPr>
              <a:t>Al salir de hoy tendremos</a:t>
            </a:r>
            <a:endParaRPr lang="en-US" sz="1800" dirty="0"/>
          </a:p>
        </p:txBody>
      </p:sp>
      <p:sp>
        <p:nvSpPr>
          <p:cNvPr id="8" name="Objetivo numero 1"/>
          <p:cNvSpPr txBox="1"/>
          <p:nvPr/>
        </p:nvSpPr>
        <p:spPr>
          <a:xfrm>
            <a:off x="4937760" y="1874520"/>
            <a:ext cx="411480" cy="548640"/>
          </a:xfrm>
          <a:prstGeom prst="rect">
            <a:avLst/>
          </a:prstGeom>
          <a:noFill/>
          <a:ln/>
        </p:spPr>
        <p:txBody>
          <a:bodyPr wrap="square" lIns="0" tIns="0" rIns="0" bIns="0" rtlCol="0" anchor="t"/>
          <a:lstStyle/>
          <a:p>
            <a:pPr marL="0" indent="0">
              <a:buNone/>
            </a:pPr>
            <a:r>
              <a:rPr lang="en-US" sz="2600" b="1" dirty="0">
                <a:solidFill>
                  <a:schemeClr val="accent2"/>
                </a:solidFill>
              </a:rPr>
              <a:t>1</a:t>
            </a:r>
            <a:endParaRPr lang="en-US" sz="2600" dirty="0"/>
          </a:p>
        </p:txBody>
      </p:sp>
      <p:sp>
        <p:nvSpPr>
          <p:cNvPr id="9" name="Objetivo texto 1"/>
          <p:cNvSpPr txBox="1"/>
          <p:nvPr/>
        </p:nvSpPr>
        <p:spPr>
          <a:xfrm>
            <a:off x="5394960" y="1920240"/>
            <a:ext cx="3108960" cy="685800"/>
          </a:xfrm>
          <a:prstGeom prst="rect">
            <a:avLst/>
          </a:prstGeom>
          <a:noFill/>
          <a:ln/>
        </p:spPr>
        <p:txBody>
          <a:bodyPr wrap="square" lIns="0" tIns="0" rIns="0" bIns="0" rtlCol="0" anchor="t"/>
          <a:lstStyle/>
          <a:p>
            <a:pPr marL="0" indent="0">
              <a:buNone/>
            </a:pPr>
            <a:r>
              <a:rPr lang="en-US" sz="1400" dirty="0">
                <a:solidFill>
                  <a:schemeClr val="bg2"/>
                </a:solidFill>
              </a:rPr>
              <a:t>Un foco acordado: qué vendemos primero y a quién</a:t>
            </a:r>
            <a:endParaRPr lang="en-US" sz="1400" dirty="0"/>
          </a:p>
        </p:txBody>
      </p:sp>
      <p:sp>
        <p:nvSpPr>
          <p:cNvPr id="10" name="Objetivo numero 2"/>
          <p:cNvSpPr txBox="1"/>
          <p:nvPr/>
        </p:nvSpPr>
        <p:spPr>
          <a:xfrm>
            <a:off x="4937760" y="2743200"/>
            <a:ext cx="411480" cy="548640"/>
          </a:xfrm>
          <a:prstGeom prst="rect">
            <a:avLst/>
          </a:prstGeom>
          <a:noFill/>
          <a:ln/>
        </p:spPr>
        <p:txBody>
          <a:bodyPr wrap="square" lIns="0" tIns="0" rIns="0" bIns="0" rtlCol="0" anchor="t"/>
          <a:lstStyle/>
          <a:p>
            <a:pPr marL="0" indent="0">
              <a:buNone/>
            </a:pPr>
            <a:r>
              <a:rPr lang="en-US" sz="2600" b="1" dirty="0">
                <a:solidFill>
                  <a:schemeClr val="accent2"/>
                </a:solidFill>
              </a:rPr>
              <a:t>2</a:t>
            </a:r>
            <a:endParaRPr lang="en-US" sz="2600" dirty="0"/>
          </a:p>
        </p:txBody>
      </p:sp>
      <p:sp>
        <p:nvSpPr>
          <p:cNvPr id="11" name="Objetivo texto 2"/>
          <p:cNvSpPr txBox="1"/>
          <p:nvPr/>
        </p:nvSpPr>
        <p:spPr>
          <a:xfrm>
            <a:off x="5394960" y="2788920"/>
            <a:ext cx="3108960" cy="685800"/>
          </a:xfrm>
          <a:prstGeom prst="rect">
            <a:avLst/>
          </a:prstGeom>
          <a:noFill/>
          <a:ln/>
        </p:spPr>
        <p:txBody>
          <a:bodyPr wrap="square" lIns="0" tIns="0" rIns="0" bIns="0" rtlCol="0" anchor="t"/>
          <a:lstStyle/>
          <a:p>
            <a:pPr marL="0" indent="0">
              <a:buNone/>
            </a:pPr>
            <a:r>
              <a:rPr lang="en-US" sz="1400" dirty="0">
                <a:solidFill>
                  <a:schemeClr val="bg2"/>
                </a:solidFill>
              </a:rPr>
              <a:t>Una forma de trabajar y reglas para las ideas</a:t>
            </a:r>
            <a:endParaRPr lang="en-US" sz="1400" dirty="0"/>
          </a:p>
        </p:txBody>
      </p:sp>
      <p:sp>
        <p:nvSpPr>
          <p:cNvPr id="12" name="Objetivo numero 3"/>
          <p:cNvSpPr txBox="1"/>
          <p:nvPr/>
        </p:nvSpPr>
        <p:spPr>
          <a:xfrm>
            <a:off x="4937760" y="3611880"/>
            <a:ext cx="411480" cy="548640"/>
          </a:xfrm>
          <a:prstGeom prst="rect">
            <a:avLst/>
          </a:prstGeom>
          <a:noFill/>
          <a:ln/>
        </p:spPr>
        <p:txBody>
          <a:bodyPr wrap="square" lIns="0" tIns="0" rIns="0" bIns="0" rtlCol="0" anchor="t"/>
          <a:lstStyle/>
          <a:p>
            <a:pPr marL="0" indent="0">
              <a:buNone/>
            </a:pPr>
            <a:r>
              <a:rPr lang="en-US" sz="2600" b="1" dirty="0">
                <a:solidFill>
                  <a:schemeClr val="accent2"/>
                </a:solidFill>
              </a:rPr>
              <a:t>3</a:t>
            </a:r>
            <a:endParaRPr lang="en-US" sz="2600" dirty="0"/>
          </a:p>
        </p:txBody>
      </p:sp>
      <p:sp>
        <p:nvSpPr>
          <p:cNvPr id="13" name="Objetivo texto 3"/>
          <p:cNvSpPr txBox="1"/>
          <p:nvPr/>
        </p:nvSpPr>
        <p:spPr>
          <a:xfrm>
            <a:off x="5394960" y="3657600"/>
            <a:ext cx="3108960" cy="685800"/>
          </a:xfrm>
          <a:prstGeom prst="rect">
            <a:avLst/>
          </a:prstGeom>
          <a:noFill/>
          <a:ln/>
        </p:spPr>
        <p:txBody>
          <a:bodyPr wrap="square" lIns="0" tIns="0" rIns="0" bIns="0" rtlCol="0" anchor="t"/>
          <a:lstStyle/>
          <a:p>
            <a:pPr marL="0" indent="0">
              <a:buNone/>
            </a:pPr>
            <a:r>
              <a:rPr lang="en-US" sz="1400" dirty="0">
                <a:solidFill>
                  <a:schemeClr val="bg2"/>
                </a:solidFill>
              </a:rPr>
              <a:t>Los pasos iniciales, cada uno con responsable</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Qué tenemos desarrollado</a:t>
            </a:r>
            <a:endParaRPr lang="en-US" sz="3000" dirty="0"/>
          </a:p>
        </p:txBody>
      </p:sp>
      <p:sp>
        <p:nvSpPr>
          <p:cNvPr id="3" name="Pieza 1"/>
          <p:cNvSpPr/>
          <p:nvPr/>
        </p:nvSpPr>
        <p:spPr>
          <a:xfrm>
            <a:off x="457200" y="1188720"/>
            <a:ext cx="4023360" cy="960120"/>
          </a:xfrm>
          <a:prstGeom prst="rect">
            <a:avLst/>
          </a:prstGeom>
          <a:solidFill>
            <a:schemeClr val="bg1"/>
          </a:solidFill>
          <a:ln/>
        </p:spPr>
        <p:txBody>
          <a:bodyPr/>
          <a:lstStyle/>
          <a:p>
            <a:endParaRPr lang="es-ES"/>
          </a:p>
        </p:txBody>
      </p:sp>
      <p:sp>
        <p:nvSpPr>
          <p:cNvPr id="4" name="Icono pieza 1 fondo"/>
          <p:cNvSpPr/>
          <p:nvPr/>
        </p:nvSpPr>
        <p:spPr>
          <a:xfrm>
            <a:off x="640080" y="1371600"/>
            <a:ext cx="594360" cy="594360"/>
          </a:xfrm>
          <a:prstGeom prst="rect">
            <a:avLst/>
          </a:prstGeom>
          <a:solidFill>
            <a:srgbClr val="C3D5C8"/>
          </a:solidFill>
          <a:ln/>
        </p:spPr>
        <p:txBody>
          <a:bodyPr/>
          <a:lstStyle/>
          <a:p>
            <a:endParaRPr lang="es-ES"/>
          </a:p>
        </p:txBody>
      </p:sp>
      <p:pic>
        <p:nvPicPr>
          <p:cNvPr id="5" name="Icono pieza 1 icono" descr="preencoded.png"/>
          <p:cNvPicPr>
            <a:picLocks noChangeAspect="1"/>
          </p:cNvPicPr>
          <p:nvPr/>
        </p:nvPicPr>
        <p:blipFill>
          <a:blip r:embed="rId3"/>
          <a:stretch>
            <a:fillRect/>
          </a:stretch>
        </p:blipFill>
        <p:spPr>
          <a:xfrm>
            <a:off x="782726" y="1514246"/>
            <a:ext cx="309067" cy="309067"/>
          </a:xfrm>
          <a:prstGeom prst="rect">
            <a:avLst/>
          </a:prstGeom>
        </p:spPr>
      </p:pic>
      <p:sp>
        <p:nvSpPr>
          <p:cNvPr id="6" name="Nombre pieza 1"/>
          <p:cNvSpPr txBox="1"/>
          <p:nvPr/>
        </p:nvSpPr>
        <p:spPr>
          <a:xfrm>
            <a:off x="1417320" y="1307592"/>
            <a:ext cx="2926080" cy="292608"/>
          </a:xfrm>
          <a:prstGeom prst="rect">
            <a:avLst/>
          </a:prstGeom>
          <a:noFill/>
          <a:ln/>
        </p:spPr>
        <p:txBody>
          <a:bodyPr wrap="square" lIns="0" tIns="0" rIns="0" bIns="0" rtlCol="0" anchor="t"/>
          <a:lstStyle/>
          <a:p>
            <a:pPr marL="0" indent="0">
              <a:buNone/>
            </a:pPr>
            <a:r>
              <a:rPr lang="en-US" sz="1500" b="1" dirty="0">
                <a:solidFill>
                  <a:schemeClr val="tx2"/>
                </a:solidFill>
              </a:rPr>
              <a:t>App familiar</a:t>
            </a:r>
            <a:endParaRPr lang="en-US" sz="1500" dirty="0"/>
          </a:p>
        </p:txBody>
      </p:sp>
      <p:sp>
        <p:nvSpPr>
          <p:cNvPr id="7" name="Detalle pieza 1"/>
          <p:cNvSpPr txBox="1"/>
          <p:nvPr/>
        </p:nvSpPr>
        <p:spPr>
          <a:xfrm>
            <a:off x="1417320" y="1609344"/>
            <a:ext cx="2926080" cy="502920"/>
          </a:xfrm>
          <a:prstGeom prst="rect">
            <a:avLst/>
          </a:prstGeom>
          <a:noFill/>
          <a:ln/>
        </p:spPr>
        <p:txBody>
          <a:bodyPr wrap="square" lIns="0" tIns="0" rIns="0" bIns="0" rtlCol="0" anchor="t"/>
          <a:lstStyle/>
          <a:p>
            <a:pPr marL="0" indent="0">
              <a:buNone/>
            </a:pPr>
            <a:r>
              <a:rPr lang="en-US" sz="1100" dirty="0">
                <a:solidFill>
                  <a:schemeClr val="tx1"/>
                </a:solidFill>
              </a:rPr>
              <a:t>Alertas, vídeo en directo, clip de caída e informes, con datos reales de AWS</a:t>
            </a:r>
            <a:endParaRPr lang="en-US" sz="1100" dirty="0"/>
          </a:p>
        </p:txBody>
      </p:sp>
      <p:sp>
        <p:nvSpPr>
          <p:cNvPr id="8" name="Pieza 2"/>
          <p:cNvSpPr/>
          <p:nvPr/>
        </p:nvSpPr>
        <p:spPr>
          <a:xfrm>
            <a:off x="4663440" y="1188720"/>
            <a:ext cx="4023360" cy="960120"/>
          </a:xfrm>
          <a:prstGeom prst="rect">
            <a:avLst/>
          </a:prstGeom>
          <a:solidFill>
            <a:schemeClr val="bg1"/>
          </a:solidFill>
          <a:ln/>
        </p:spPr>
        <p:txBody>
          <a:bodyPr/>
          <a:lstStyle/>
          <a:p>
            <a:endParaRPr lang="es-ES"/>
          </a:p>
        </p:txBody>
      </p:sp>
      <p:sp>
        <p:nvSpPr>
          <p:cNvPr id="9" name="Icono pieza 2 fondo"/>
          <p:cNvSpPr/>
          <p:nvPr/>
        </p:nvSpPr>
        <p:spPr>
          <a:xfrm>
            <a:off x="4846320" y="1371600"/>
            <a:ext cx="594360" cy="594360"/>
          </a:xfrm>
          <a:prstGeom prst="rect">
            <a:avLst/>
          </a:prstGeom>
          <a:solidFill>
            <a:srgbClr val="C3D5C8"/>
          </a:solidFill>
          <a:ln/>
        </p:spPr>
        <p:txBody>
          <a:bodyPr/>
          <a:lstStyle/>
          <a:p>
            <a:endParaRPr lang="es-ES"/>
          </a:p>
        </p:txBody>
      </p:sp>
      <p:pic>
        <p:nvPicPr>
          <p:cNvPr id="10" name="Icono pieza 2 icono" descr="preencoded.png"/>
          <p:cNvPicPr>
            <a:picLocks noChangeAspect="1"/>
          </p:cNvPicPr>
          <p:nvPr/>
        </p:nvPicPr>
        <p:blipFill>
          <a:blip r:embed="rId4"/>
          <a:stretch>
            <a:fillRect/>
          </a:stretch>
        </p:blipFill>
        <p:spPr>
          <a:xfrm>
            <a:off x="4988966" y="1514246"/>
            <a:ext cx="309067" cy="309067"/>
          </a:xfrm>
          <a:prstGeom prst="rect">
            <a:avLst/>
          </a:prstGeom>
        </p:spPr>
      </p:pic>
      <p:sp>
        <p:nvSpPr>
          <p:cNvPr id="11" name="Nombre pieza 2"/>
          <p:cNvSpPr txBox="1"/>
          <p:nvPr/>
        </p:nvSpPr>
        <p:spPr>
          <a:xfrm>
            <a:off x="5623560" y="1307592"/>
            <a:ext cx="2926080" cy="292608"/>
          </a:xfrm>
          <a:prstGeom prst="rect">
            <a:avLst/>
          </a:prstGeom>
          <a:noFill/>
          <a:ln/>
        </p:spPr>
        <p:txBody>
          <a:bodyPr wrap="square" lIns="0" tIns="0" rIns="0" bIns="0" rtlCol="0" anchor="t"/>
          <a:lstStyle/>
          <a:p>
            <a:pPr marL="0" indent="0">
              <a:buNone/>
            </a:pPr>
            <a:r>
              <a:rPr lang="en-US" sz="1500" b="1" dirty="0">
                <a:solidFill>
                  <a:schemeClr val="tx2"/>
                </a:solidFill>
              </a:rPr>
              <a:t>Hub con cámara</a:t>
            </a:r>
            <a:endParaRPr lang="en-US" sz="1500" dirty="0"/>
          </a:p>
        </p:txBody>
      </p:sp>
      <p:sp>
        <p:nvSpPr>
          <p:cNvPr id="12" name="Detalle pieza 2"/>
          <p:cNvSpPr txBox="1"/>
          <p:nvPr/>
        </p:nvSpPr>
        <p:spPr>
          <a:xfrm>
            <a:off x="5623560" y="1609344"/>
            <a:ext cx="2926080" cy="502920"/>
          </a:xfrm>
          <a:prstGeom prst="rect">
            <a:avLst/>
          </a:prstGeom>
          <a:noFill/>
          <a:ln/>
        </p:spPr>
        <p:txBody>
          <a:bodyPr wrap="square" lIns="0" tIns="0" rIns="0" bIns="0" rtlCol="0" anchor="t"/>
          <a:lstStyle/>
          <a:p>
            <a:pPr marL="0" indent="0">
              <a:buNone/>
            </a:pPr>
            <a:r>
              <a:rPr lang="en-US" sz="1100" dirty="0">
                <a:solidFill>
                  <a:schemeClr val="tx1"/>
                </a:solidFill>
              </a:rPr>
              <a:t>Detección de personas y caídas, clips y directo, probado en un Jetson real</a:t>
            </a:r>
            <a:endParaRPr lang="en-US" sz="1100" dirty="0"/>
          </a:p>
        </p:txBody>
      </p:sp>
      <p:sp>
        <p:nvSpPr>
          <p:cNvPr id="13" name="Pieza 3"/>
          <p:cNvSpPr/>
          <p:nvPr/>
        </p:nvSpPr>
        <p:spPr>
          <a:xfrm>
            <a:off x="457200" y="2286000"/>
            <a:ext cx="4023360" cy="960120"/>
          </a:xfrm>
          <a:prstGeom prst="rect">
            <a:avLst/>
          </a:prstGeom>
          <a:solidFill>
            <a:schemeClr val="bg1"/>
          </a:solidFill>
          <a:ln/>
        </p:spPr>
        <p:txBody>
          <a:bodyPr/>
          <a:lstStyle/>
          <a:p>
            <a:endParaRPr lang="es-ES"/>
          </a:p>
        </p:txBody>
      </p:sp>
      <p:sp>
        <p:nvSpPr>
          <p:cNvPr id="14" name="Icono pieza 3 fondo"/>
          <p:cNvSpPr/>
          <p:nvPr/>
        </p:nvSpPr>
        <p:spPr>
          <a:xfrm>
            <a:off x="640080" y="2468880"/>
            <a:ext cx="594360" cy="594360"/>
          </a:xfrm>
          <a:prstGeom prst="rect">
            <a:avLst/>
          </a:prstGeom>
          <a:solidFill>
            <a:srgbClr val="C3D5C8"/>
          </a:solidFill>
          <a:ln/>
        </p:spPr>
        <p:txBody>
          <a:bodyPr/>
          <a:lstStyle/>
          <a:p>
            <a:endParaRPr lang="es-ES"/>
          </a:p>
        </p:txBody>
      </p:sp>
      <p:pic>
        <p:nvPicPr>
          <p:cNvPr id="15" name="Icono pieza 3 icono" descr="preencoded.png"/>
          <p:cNvPicPr>
            <a:picLocks noChangeAspect="1"/>
          </p:cNvPicPr>
          <p:nvPr/>
        </p:nvPicPr>
        <p:blipFill>
          <a:blip r:embed="rId5"/>
          <a:stretch>
            <a:fillRect/>
          </a:stretch>
        </p:blipFill>
        <p:spPr>
          <a:xfrm>
            <a:off x="782726" y="2611526"/>
            <a:ext cx="309067" cy="309067"/>
          </a:xfrm>
          <a:prstGeom prst="rect">
            <a:avLst/>
          </a:prstGeom>
        </p:spPr>
      </p:pic>
      <p:sp>
        <p:nvSpPr>
          <p:cNvPr id="16" name="Nombre pieza 3"/>
          <p:cNvSpPr txBox="1"/>
          <p:nvPr/>
        </p:nvSpPr>
        <p:spPr>
          <a:xfrm>
            <a:off x="1417320" y="2404872"/>
            <a:ext cx="2926080" cy="292608"/>
          </a:xfrm>
          <a:prstGeom prst="rect">
            <a:avLst/>
          </a:prstGeom>
          <a:noFill/>
          <a:ln/>
        </p:spPr>
        <p:txBody>
          <a:bodyPr wrap="square" lIns="0" tIns="0" rIns="0" bIns="0" rtlCol="0" anchor="t"/>
          <a:lstStyle/>
          <a:p>
            <a:pPr marL="0" indent="0">
              <a:buNone/>
            </a:pPr>
            <a:r>
              <a:rPr lang="en-US" sz="1500" b="1" dirty="0">
                <a:solidFill>
                  <a:schemeClr val="tx2"/>
                </a:solidFill>
              </a:rPr>
              <a:t>Reloj con SOS</a:t>
            </a:r>
            <a:endParaRPr lang="en-US" sz="1500" dirty="0"/>
          </a:p>
        </p:txBody>
      </p:sp>
      <p:sp>
        <p:nvSpPr>
          <p:cNvPr id="17" name="Detalle pieza 3"/>
          <p:cNvSpPr txBox="1"/>
          <p:nvPr/>
        </p:nvSpPr>
        <p:spPr>
          <a:xfrm>
            <a:off x="1417320" y="2706624"/>
            <a:ext cx="2926080" cy="502920"/>
          </a:xfrm>
          <a:prstGeom prst="rect">
            <a:avLst/>
          </a:prstGeom>
          <a:noFill/>
          <a:ln/>
        </p:spPr>
        <p:txBody>
          <a:bodyPr wrap="square" lIns="0" tIns="0" rIns="0" bIns="0" rtlCol="0" anchor="t"/>
          <a:lstStyle/>
          <a:p>
            <a:pPr marL="0" indent="0">
              <a:buNone/>
            </a:pPr>
            <a:r>
              <a:rPr lang="en-US" sz="1100" dirty="0">
                <a:solidFill>
                  <a:schemeClr val="tx1"/>
                </a:solidFill>
              </a:rPr>
              <a:t>SOS, caídas y ubicación, probado con un reloj físico</a:t>
            </a:r>
            <a:endParaRPr lang="en-US" sz="1100" dirty="0"/>
          </a:p>
        </p:txBody>
      </p:sp>
      <p:sp>
        <p:nvSpPr>
          <p:cNvPr id="18" name="Pieza 4"/>
          <p:cNvSpPr/>
          <p:nvPr/>
        </p:nvSpPr>
        <p:spPr>
          <a:xfrm>
            <a:off x="4663440" y="2286000"/>
            <a:ext cx="4023360" cy="960120"/>
          </a:xfrm>
          <a:prstGeom prst="rect">
            <a:avLst/>
          </a:prstGeom>
          <a:solidFill>
            <a:schemeClr val="bg1"/>
          </a:solidFill>
          <a:ln/>
        </p:spPr>
        <p:txBody>
          <a:bodyPr/>
          <a:lstStyle/>
          <a:p>
            <a:endParaRPr lang="es-ES"/>
          </a:p>
        </p:txBody>
      </p:sp>
      <p:sp>
        <p:nvSpPr>
          <p:cNvPr id="19" name="Icono pieza 4 fondo"/>
          <p:cNvSpPr/>
          <p:nvPr/>
        </p:nvSpPr>
        <p:spPr>
          <a:xfrm>
            <a:off x="4846320" y="2468880"/>
            <a:ext cx="594360" cy="594360"/>
          </a:xfrm>
          <a:prstGeom prst="rect">
            <a:avLst/>
          </a:prstGeom>
          <a:solidFill>
            <a:srgbClr val="C3D5C8"/>
          </a:solidFill>
          <a:ln/>
        </p:spPr>
        <p:txBody>
          <a:bodyPr/>
          <a:lstStyle/>
          <a:p>
            <a:endParaRPr lang="es-ES"/>
          </a:p>
        </p:txBody>
      </p:sp>
      <p:pic>
        <p:nvPicPr>
          <p:cNvPr id="20" name="Icono pieza 4 icono" descr="preencoded.png"/>
          <p:cNvPicPr>
            <a:picLocks noChangeAspect="1"/>
          </p:cNvPicPr>
          <p:nvPr/>
        </p:nvPicPr>
        <p:blipFill>
          <a:blip r:embed="rId6"/>
          <a:stretch>
            <a:fillRect/>
          </a:stretch>
        </p:blipFill>
        <p:spPr>
          <a:xfrm>
            <a:off x="4988966" y="2611526"/>
            <a:ext cx="309067" cy="309067"/>
          </a:xfrm>
          <a:prstGeom prst="rect">
            <a:avLst/>
          </a:prstGeom>
        </p:spPr>
      </p:pic>
      <p:sp>
        <p:nvSpPr>
          <p:cNvPr id="21" name="Nombre pieza 4"/>
          <p:cNvSpPr txBox="1"/>
          <p:nvPr/>
        </p:nvSpPr>
        <p:spPr>
          <a:xfrm>
            <a:off x="5623560" y="2404872"/>
            <a:ext cx="2926080" cy="292608"/>
          </a:xfrm>
          <a:prstGeom prst="rect">
            <a:avLst/>
          </a:prstGeom>
          <a:noFill/>
          <a:ln/>
        </p:spPr>
        <p:txBody>
          <a:bodyPr wrap="square" lIns="0" tIns="0" rIns="0" bIns="0" rtlCol="0" anchor="t"/>
          <a:lstStyle/>
          <a:p>
            <a:pPr marL="0" indent="0">
              <a:buNone/>
            </a:pPr>
            <a:r>
              <a:rPr lang="en-US" sz="1500" b="1" dirty="0">
                <a:solidFill>
                  <a:schemeClr val="tx2"/>
                </a:solidFill>
              </a:rPr>
              <a:t>Motor de reglas</a:t>
            </a:r>
            <a:endParaRPr lang="en-US" sz="1500" dirty="0"/>
          </a:p>
        </p:txBody>
      </p:sp>
      <p:sp>
        <p:nvSpPr>
          <p:cNvPr id="22" name="Detalle pieza 4"/>
          <p:cNvSpPr txBox="1"/>
          <p:nvPr/>
        </p:nvSpPr>
        <p:spPr>
          <a:xfrm>
            <a:off x="5623560" y="2706624"/>
            <a:ext cx="2926080" cy="502920"/>
          </a:xfrm>
          <a:prstGeom prst="rect">
            <a:avLst/>
          </a:prstGeom>
          <a:noFill/>
          <a:ln/>
        </p:spPr>
        <p:txBody>
          <a:bodyPr wrap="square" lIns="0" tIns="0" rIns="0" bIns="0" rtlCol="0" anchor="t"/>
          <a:lstStyle/>
          <a:p>
            <a:pPr marL="0" indent="0">
              <a:buNone/>
            </a:pPr>
            <a:r>
              <a:rPr lang="en-US" sz="1100" dirty="0">
                <a:solidFill>
                  <a:schemeClr val="tx1"/>
                </a:solidFill>
              </a:rPr>
              <a:t>6 reglas: caída, inactividad, salida inesperada, cámara offline y más</a:t>
            </a:r>
            <a:endParaRPr lang="en-US" sz="1100" dirty="0"/>
          </a:p>
        </p:txBody>
      </p:sp>
      <p:sp>
        <p:nvSpPr>
          <p:cNvPr id="23" name="Pieza 5"/>
          <p:cNvSpPr/>
          <p:nvPr/>
        </p:nvSpPr>
        <p:spPr>
          <a:xfrm>
            <a:off x="457200" y="3383280"/>
            <a:ext cx="4023360" cy="960120"/>
          </a:xfrm>
          <a:prstGeom prst="rect">
            <a:avLst/>
          </a:prstGeom>
          <a:solidFill>
            <a:schemeClr val="bg1"/>
          </a:solidFill>
          <a:ln/>
        </p:spPr>
        <p:txBody>
          <a:bodyPr/>
          <a:lstStyle/>
          <a:p>
            <a:endParaRPr lang="es-ES"/>
          </a:p>
        </p:txBody>
      </p:sp>
      <p:sp>
        <p:nvSpPr>
          <p:cNvPr id="24" name="Icono pieza 5 fondo"/>
          <p:cNvSpPr/>
          <p:nvPr/>
        </p:nvSpPr>
        <p:spPr>
          <a:xfrm>
            <a:off x="640080" y="3566160"/>
            <a:ext cx="594360" cy="594360"/>
          </a:xfrm>
          <a:prstGeom prst="rect">
            <a:avLst/>
          </a:prstGeom>
          <a:solidFill>
            <a:srgbClr val="C3D5C8"/>
          </a:solidFill>
          <a:ln/>
        </p:spPr>
        <p:txBody>
          <a:bodyPr/>
          <a:lstStyle/>
          <a:p>
            <a:endParaRPr lang="es-ES"/>
          </a:p>
        </p:txBody>
      </p:sp>
      <p:pic>
        <p:nvPicPr>
          <p:cNvPr id="25" name="Icono pieza 5 icono" descr="preencoded.png"/>
          <p:cNvPicPr>
            <a:picLocks noChangeAspect="1"/>
          </p:cNvPicPr>
          <p:nvPr/>
        </p:nvPicPr>
        <p:blipFill>
          <a:blip r:embed="rId7"/>
          <a:stretch>
            <a:fillRect/>
          </a:stretch>
        </p:blipFill>
        <p:spPr>
          <a:xfrm>
            <a:off x="782726" y="3708806"/>
            <a:ext cx="309067" cy="309067"/>
          </a:xfrm>
          <a:prstGeom prst="rect">
            <a:avLst/>
          </a:prstGeom>
        </p:spPr>
      </p:pic>
      <p:sp>
        <p:nvSpPr>
          <p:cNvPr id="26" name="Nombre pieza 5"/>
          <p:cNvSpPr txBox="1"/>
          <p:nvPr/>
        </p:nvSpPr>
        <p:spPr>
          <a:xfrm>
            <a:off x="1417320" y="3502152"/>
            <a:ext cx="2926080" cy="292608"/>
          </a:xfrm>
          <a:prstGeom prst="rect">
            <a:avLst/>
          </a:prstGeom>
          <a:noFill/>
          <a:ln/>
        </p:spPr>
        <p:txBody>
          <a:bodyPr wrap="square" lIns="0" tIns="0" rIns="0" bIns="0" rtlCol="0" anchor="t"/>
          <a:lstStyle/>
          <a:p>
            <a:pPr marL="0" indent="0">
              <a:buNone/>
            </a:pPr>
            <a:r>
              <a:rPr lang="en-US" sz="1500" b="1" dirty="0">
                <a:solidFill>
                  <a:schemeClr val="tx2"/>
                </a:solidFill>
              </a:rPr>
              <a:t>Web comercial</a:t>
            </a:r>
            <a:endParaRPr lang="en-US" sz="1500" dirty="0"/>
          </a:p>
        </p:txBody>
      </p:sp>
      <p:sp>
        <p:nvSpPr>
          <p:cNvPr id="27" name="Detalle pieza 5"/>
          <p:cNvSpPr txBox="1"/>
          <p:nvPr/>
        </p:nvSpPr>
        <p:spPr>
          <a:xfrm>
            <a:off x="1417320" y="3803904"/>
            <a:ext cx="2926080" cy="502920"/>
          </a:xfrm>
          <a:prstGeom prst="rect">
            <a:avLst/>
          </a:prstGeom>
          <a:noFill/>
          <a:ln/>
        </p:spPr>
        <p:txBody>
          <a:bodyPr wrap="square" lIns="0" tIns="0" rIns="0" bIns="0" rtlCol="0" anchor="t"/>
          <a:lstStyle/>
          <a:p>
            <a:pPr marL="0" indent="0">
              <a:buNone/>
            </a:pPr>
            <a:r>
              <a:rPr lang="en-US" sz="1100" dirty="0">
                <a:solidFill>
                  <a:schemeClr val="tx1"/>
                </a:solidFill>
              </a:rPr>
              <a:t>Planes, registro y solicitudes: casi lista para publicar</a:t>
            </a:r>
            <a:endParaRPr lang="en-US" sz="1100" dirty="0"/>
          </a:p>
        </p:txBody>
      </p:sp>
      <p:sp>
        <p:nvSpPr>
          <p:cNvPr id="28" name="Pieza 6"/>
          <p:cNvSpPr/>
          <p:nvPr/>
        </p:nvSpPr>
        <p:spPr>
          <a:xfrm>
            <a:off x="4663440" y="3383280"/>
            <a:ext cx="4023360" cy="960120"/>
          </a:xfrm>
          <a:prstGeom prst="rect">
            <a:avLst/>
          </a:prstGeom>
          <a:solidFill>
            <a:schemeClr val="bg1"/>
          </a:solidFill>
          <a:ln/>
        </p:spPr>
        <p:txBody>
          <a:bodyPr/>
          <a:lstStyle/>
          <a:p>
            <a:endParaRPr lang="es-ES"/>
          </a:p>
        </p:txBody>
      </p:sp>
      <p:sp>
        <p:nvSpPr>
          <p:cNvPr id="29" name="Icono pieza 6 fondo"/>
          <p:cNvSpPr/>
          <p:nvPr/>
        </p:nvSpPr>
        <p:spPr>
          <a:xfrm>
            <a:off x="4846320" y="3566160"/>
            <a:ext cx="594360" cy="594360"/>
          </a:xfrm>
          <a:prstGeom prst="rect">
            <a:avLst/>
          </a:prstGeom>
          <a:solidFill>
            <a:srgbClr val="C3D5C8"/>
          </a:solidFill>
          <a:ln/>
        </p:spPr>
        <p:txBody>
          <a:bodyPr/>
          <a:lstStyle/>
          <a:p>
            <a:endParaRPr lang="es-ES"/>
          </a:p>
        </p:txBody>
      </p:sp>
      <p:pic>
        <p:nvPicPr>
          <p:cNvPr id="30" name="Icono pieza 6 icono" descr="preencoded.png"/>
          <p:cNvPicPr>
            <a:picLocks noChangeAspect="1"/>
          </p:cNvPicPr>
          <p:nvPr/>
        </p:nvPicPr>
        <p:blipFill>
          <a:blip r:embed="rId8"/>
          <a:stretch>
            <a:fillRect/>
          </a:stretch>
        </p:blipFill>
        <p:spPr>
          <a:xfrm>
            <a:off x="4988966" y="3708806"/>
            <a:ext cx="309067" cy="309067"/>
          </a:xfrm>
          <a:prstGeom prst="rect">
            <a:avLst/>
          </a:prstGeom>
        </p:spPr>
      </p:pic>
      <p:sp>
        <p:nvSpPr>
          <p:cNvPr id="31" name="Nombre pieza 6"/>
          <p:cNvSpPr txBox="1"/>
          <p:nvPr/>
        </p:nvSpPr>
        <p:spPr>
          <a:xfrm>
            <a:off x="5623560" y="3502152"/>
            <a:ext cx="2926080" cy="292608"/>
          </a:xfrm>
          <a:prstGeom prst="rect">
            <a:avLst/>
          </a:prstGeom>
          <a:noFill/>
          <a:ln/>
        </p:spPr>
        <p:txBody>
          <a:bodyPr wrap="square" lIns="0" tIns="0" rIns="0" bIns="0" rtlCol="0" anchor="t"/>
          <a:lstStyle/>
          <a:p>
            <a:pPr marL="0" indent="0">
              <a:buNone/>
            </a:pPr>
            <a:r>
              <a:rPr lang="en-US" sz="1500" b="1" dirty="0">
                <a:solidFill>
                  <a:schemeClr val="tx2"/>
                </a:solidFill>
              </a:rPr>
              <a:t>Infraestructura</a:t>
            </a:r>
            <a:endParaRPr lang="en-US" sz="1500" dirty="0"/>
          </a:p>
        </p:txBody>
      </p:sp>
      <p:sp>
        <p:nvSpPr>
          <p:cNvPr id="32" name="Detalle pieza 6"/>
          <p:cNvSpPr txBox="1"/>
          <p:nvPr/>
        </p:nvSpPr>
        <p:spPr>
          <a:xfrm>
            <a:off x="5623560" y="3803904"/>
            <a:ext cx="2926080" cy="502920"/>
          </a:xfrm>
          <a:prstGeom prst="rect">
            <a:avLst/>
          </a:prstGeom>
          <a:noFill/>
          <a:ln/>
        </p:spPr>
        <p:txBody>
          <a:bodyPr wrap="square" lIns="0" tIns="0" rIns="0" bIns="0" rtlCol="0" anchor="t"/>
          <a:lstStyle/>
          <a:p>
            <a:pPr marL="0" indent="0">
              <a:buNone/>
            </a:pPr>
            <a:r>
              <a:rPr lang="en-US" sz="1100" dirty="0">
                <a:solidFill>
                  <a:schemeClr val="tx1"/>
                </a:solidFill>
              </a:rPr>
              <a:t>12 stacks en AWS como código y ~2.480 tests automáticos</a:t>
            </a:r>
            <a:endParaRPr lang="en-US" sz="1100" dirty="0"/>
          </a:p>
        </p:txBody>
      </p:sp>
      <p:sp>
        <p:nvSpPr>
          <p:cNvPr id="33" name="Nota al pie"/>
          <p:cNvSpPr txBox="1"/>
          <p:nvPr/>
        </p:nvSpPr>
        <p:spPr>
          <a:xfrm>
            <a:off x="1234440" y="4690872"/>
            <a:ext cx="6858000" cy="292608"/>
          </a:xfrm>
          <a:prstGeom prst="rect">
            <a:avLst/>
          </a:prstGeom>
          <a:noFill/>
          <a:ln/>
        </p:spPr>
        <p:txBody>
          <a:bodyPr wrap="square" lIns="0" tIns="0" rIns="0" bIns="0" rtlCol="0" anchor="ctr"/>
          <a:lstStyle/>
          <a:p>
            <a:pPr marL="0" indent="0">
              <a:buNone/>
            </a:pPr>
            <a:r>
              <a:rPr lang="en-US" sz="1000" dirty="0">
                <a:solidFill>
                  <a:schemeClr val="accent5"/>
                </a:solidFill>
              </a:rPr>
              <a:t>Piloto funcional de punta a punta, desplegado solo en la cuenta AWS de desarrollo.</a:t>
            </a:r>
            <a:endParaRPr lang="en-US" sz="1000" dirty="0"/>
          </a:p>
        </p:txBody>
      </p:sp>
      <p:sp>
        <p:nvSpPr>
          <p:cNvPr id="34"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Lo que aún no tenemos</a:t>
            </a:r>
            <a:endParaRPr lang="en-US" sz="3000" dirty="0"/>
          </a:p>
        </p:txBody>
      </p:sp>
      <p:sp>
        <p:nvSpPr>
          <p:cNvPr id="3" name="Hueco 1"/>
          <p:cNvSpPr/>
          <p:nvPr/>
        </p:nvSpPr>
        <p:spPr>
          <a:xfrm>
            <a:off x="457200" y="1188720"/>
            <a:ext cx="4023360" cy="1508760"/>
          </a:xfrm>
          <a:prstGeom prst="rect">
            <a:avLst/>
          </a:prstGeom>
          <a:solidFill>
            <a:schemeClr val="bg1"/>
          </a:solidFill>
          <a:ln/>
        </p:spPr>
        <p:txBody>
          <a:bodyPr/>
          <a:lstStyle/>
          <a:p>
            <a:endParaRPr lang="es-ES"/>
          </a:p>
        </p:txBody>
      </p:sp>
      <p:sp>
        <p:nvSpPr>
          <p:cNvPr id="4" name="Numero hueco 1"/>
          <p:cNvSpPr txBox="1"/>
          <p:nvPr/>
        </p:nvSpPr>
        <p:spPr>
          <a:xfrm>
            <a:off x="685800" y="1371600"/>
            <a:ext cx="457200" cy="457200"/>
          </a:xfrm>
          <a:prstGeom prst="rect">
            <a:avLst/>
          </a:prstGeom>
          <a:noFill/>
          <a:ln/>
        </p:spPr>
        <p:txBody>
          <a:bodyPr wrap="square" lIns="0" tIns="0" rIns="0" bIns="0" rtlCol="0" anchor="t"/>
          <a:lstStyle/>
          <a:p>
            <a:pPr marL="0" indent="0">
              <a:buNone/>
            </a:pPr>
            <a:r>
              <a:rPr lang="en-US" sz="2600" b="1" dirty="0">
                <a:solidFill>
                  <a:schemeClr val="accent1"/>
                </a:solidFill>
              </a:rPr>
              <a:t>1</a:t>
            </a:r>
            <a:endParaRPr lang="en-US" sz="2600" dirty="0"/>
          </a:p>
        </p:txBody>
      </p:sp>
      <p:sp>
        <p:nvSpPr>
          <p:cNvPr id="5" name="Titulo hueco 1"/>
          <p:cNvSpPr txBox="1"/>
          <p:nvPr/>
        </p:nvSpPr>
        <p:spPr>
          <a:xfrm>
            <a:off x="1188720" y="1389888"/>
            <a:ext cx="3108960" cy="365760"/>
          </a:xfrm>
          <a:prstGeom prst="rect">
            <a:avLst/>
          </a:prstGeom>
          <a:noFill/>
          <a:ln/>
        </p:spPr>
        <p:txBody>
          <a:bodyPr wrap="square" lIns="0" tIns="0" rIns="0" bIns="0" rtlCol="0" anchor="t"/>
          <a:lstStyle/>
          <a:p>
            <a:pPr marL="0" indent="0">
              <a:buNone/>
            </a:pPr>
            <a:r>
              <a:rPr lang="en-US" sz="1500" b="1" dirty="0">
                <a:solidFill>
                  <a:schemeClr val="tx2"/>
                </a:solidFill>
              </a:rPr>
              <a:t>La alerta no llega a la familia</a:t>
            </a:r>
            <a:endParaRPr lang="en-US" sz="1500" dirty="0"/>
          </a:p>
        </p:txBody>
      </p:sp>
      <p:sp>
        <p:nvSpPr>
          <p:cNvPr id="6" name="Texto hueco 1"/>
          <p:cNvSpPr txBox="1"/>
          <p:nvPr/>
        </p:nvSpPr>
        <p:spPr>
          <a:xfrm>
            <a:off x="1188720" y="1783080"/>
            <a:ext cx="3108960" cy="822960"/>
          </a:xfrm>
          <a:prstGeom prst="rect">
            <a:avLst/>
          </a:prstGeom>
          <a:noFill/>
          <a:ln/>
        </p:spPr>
        <p:txBody>
          <a:bodyPr wrap="square" lIns="0" tIns="0" rIns="0" bIns="0" rtlCol="0" anchor="t"/>
          <a:lstStyle/>
          <a:p>
            <a:pPr marL="0" indent="0">
              <a:buNone/>
            </a:pPr>
            <a:r>
              <a:rPr lang="en-US" sz="1200" dirty="0">
                <a:solidFill>
                  <a:schemeClr val="tx1"/>
                </a:solidFill>
              </a:rPr>
              <a:t>Se genera, pero no se envía por SMS, email ni push. Es la pieza más importante y es pequeña.</a:t>
            </a:r>
            <a:endParaRPr lang="en-US" sz="1200" dirty="0"/>
          </a:p>
        </p:txBody>
      </p:sp>
      <p:sp>
        <p:nvSpPr>
          <p:cNvPr id="7" name="Hueco 2"/>
          <p:cNvSpPr/>
          <p:nvPr/>
        </p:nvSpPr>
        <p:spPr>
          <a:xfrm>
            <a:off x="4663440" y="1188720"/>
            <a:ext cx="4023360" cy="1508760"/>
          </a:xfrm>
          <a:prstGeom prst="rect">
            <a:avLst/>
          </a:prstGeom>
          <a:solidFill>
            <a:schemeClr val="bg1"/>
          </a:solidFill>
          <a:ln/>
        </p:spPr>
        <p:txBody>
          <a:bodyPr/>
          <a:lstStyle/>
          <a:p>
            <a:endParaRPr lang="es-ES"/>
          </a:p>
        </p:txBody>
      </p:sp>
      <p:sp>
        <p:nvSpPr>
          <p:cNvPr id="8" name="Numero hueco 2"/>
          <p:cNvSpPr txBox="1"/>
          <p:nvPr/>
        </p:nvSpPr>
        <p:spPr>
          <a:xfrm>
            <a:off x="4892040" y="1371600"/>
            <a:ext cx="457200" cy="457200"/>
          </a:xfrm>
          <a:prstGeom prst="rect">
            <a:avLst/>
          </a:prstGeom>
          <a:noFill/>
          <a:ln/>
        </p:spPr>
        <p:txBody>
          <a:bodyPr wrap="square" lIns="0" tIns="0" rIns="0" bIns="0" rtlCol="0" anchor="t"/>
          <a:lstStyle/>
          <a:p>
            <a:pPr marL="0" indent="0">
              <a:buNone/>
            </a:pPr>
            <a:r>
              <a:rPr lang="en-US" sz="2600" b="1" dirty="0">
                <a:solidFill>
                  <a:schemeClr val="accent1"/>
                </a:solidFill>
              </a:rPr>
              <a:t>2</a:t>
            </a:r>
            <a:endParaRPr lang="en-US" sz="2600" dirty="0"/>
          </a:p>
        </p:txBody>
      </p:sp>
      <p:sp>
        <p:nvSpPr>
          <p:cNvPr id="9" name="Titulo hueco 2"/>
          <p:cNvSpPr txBox="1"/>
          <p:nvPr/>
        </p:nvSpPr>
        <p:spPr>
          <a:xfrm>
            <a:off x="5394960" y="1389888"/>
            <a:ext cx="3108960" cy="365760"/>
          </a:xfrm>
          <a:prstGeom prst="rect">
            <a:avLst/>
          </a:prstGeom>
          <a:noFill/>
          <a:ln/>
        </p:spPr>
        <p:txBody>
          <a:bodyPr wrap="square" lIns="0" tIns="0" rIns="0" bIns="0" rtlCol="0" anchor="t"/>
          <a:lstStyle/>
          <a:p>
            <a:pPr marL="0" indent="0">
              <a:buNone/>
            </a:pPr>
            <a:r>
              <a:rPr lang="en-US" sz="1500" b="1" dirty="0">
                <a:solidFill>
                  <a:schemeClr val="tx2"/>
                </a:solidFill>
              </a:rPr>
              <a:t>No hay entorno de producción</a:t>
            </a:r>
            <a:endParaRPr lang="en-US" sz="1500" dirty="0"/>
          </a:p>
        </p:txBody>
      </p:sp>
      <p:sp>
        <p:nvSpPr>
          <p:cNvPr id="10" name="Texto hueco 2"/>
          <p:cNvSpPr txBox="1"/>
          <p:nvPr/>
        </p:nvSpPr>
        <p:spPr>
          <a:xfrm>
            <a:off x="5394960" y="1783080"/>
            <a:ext cx="3108960" cy="822960"/>
          </a:xfrm>
          <a:prstGeom prst="rect">
            <a:avLst/>
          </a:prstGeom>
          <a:noFill/>
          <a:ln/>
        </p:spPr>
        <p:txBody>
          <a:bodyPr wrap="square" lIns="0" tIns="0" rIns="0" bIns="0" rtlCol="0" anchor="t"/>
          <a:lstStyle/>
          <a:p>
            <a:pPr marL="0" indent="0">
              <a:buNone/>
            </a:pPr>
            <a:r>
              <a:rPr lang="en-US" sz="1200" dirty="0">
                <a:solidFill>
                  <a:schemeClr val="tx1"/>
                </a:solidFill>
              </a:rPr>
              <a:t>Todo está en desarrollo, desplegado a mano desde un portátil.</a:t>
            </a:r>
            <a:endParaRPr lang="en-US" sz="1200" dirty="0"/>
          </a:p>
        </p:txBody>
      </p:sp>
      <p:sp>
        <p:nvSpPr>
          <p:cNvPr id="11" name="Hueco 3"/>
          <p:cNvSpPr/>
          <p:nvPr/>
        </p:nvSpPr>
        <p:spPr>
          <a:xfrm>
            <a:off x="457200" y="2880360"/>
            <a:ext cx="4023360" cy="1508760"/>
          </a:xfrm>
          <a:prstGeom prst="rect">
            <a:avLst/>
          </a:prstGeom>
          <a:solidFill>
            <a:schemeClr val="bg1"/>
          </a:solidFill>
          <a:ln/>
        </p:spPr>
        <p:txBody>
          <a:bodyPr/>
          <a:lstStyle/>
          <a:p>
            <a:endParaRPr lang="es-ES"/>
          </a:p>
        </p:txBody>
      </p:sp>
      <p:sp>
        <p:nvSpPr>
          <p:cNvPr id="12" name="Numero hueco 3"/>
          <p:cNvSpPr txBox="1"/>
          <p:nvPr/>
        </p:nvSpPr>
        <p:spPr>
          <a:xfrm>
            <a:off x="685800" y="3063240"/>
            <a:ext cx="457200" cy="457200"/>
          </a:xfrm>
          <a:prstGeom prst="rect">
            <a:avLst/>
          </a:prstGeom>
          <a:noFill/>
          <a:ln/>
        </p:spPr>
        <p:txBody>
          <a:bodyPr wrap="square" lIns="0" tIns="0" rIns="0" bIns="0" rtlCol="0" anchor="t"/>
          <a:lstStyle/>
          <a:p>
            <a:pPr marL="0" indent="0">
              <a:buNone/>
            </a:pPr>
            <a:r>
              <a:rPr lang="en-US" sz="2600" b="1" dirty="0">
                <a:solidFill>
                  <a:schemeClr val="accent1"/>
                </a:solidFill>
              </a:rPr>
              <a:t>3</a:t>
            </a:r>
            <a:endParaRPr lang="en-US" sz="2600" dirty="0"/>
          </a:p>
        </p:txBody>
      </p:sp>
      <p:sp>
        <p:nvSpPr>
          <p:cNvPr id="13" name="Titulo hueco 3"/>
          <p:cNvSpPr txBox="1"/>
          <p:nvPr/>
        </p:nvSpPr>
        <p:spPr>
          <a:xfrm>
            <a:off x="1188720" y="3081528"/>
            <a:ext cx="3108960" cy="365760"/>
          </a:xfrm>
          <a:prstGeom prst="rect">
            <a:avLst/>
          </a:prstGeom>
          <a:noFill/>
          <a:ln/>
        </p:spPr>
        <p:txBody>
          <a:bodyPr wrap="square" lIns="0" tIns="0" rIns="0" bIns="0" rtlCol="0" anchor="t"/>
          <a:lstStyle/>
          <a:p>
            <a:pPr marL="0" indent="0">
              <a:buNone/>
            </a:pPr>
            <a:r>
              <a:rPr lang="en-US" sz="1500" b="1" dirty="0">
                <a:solidFill>
                  <a:schemeClr val="tx2"/>
                </a:solidFill>
              </a:rPr>
              <a:t>No hay cobro ni clientes</a:t>
            </a:r>
            <a:endParaRPr lang="en-US" sz="1500" dirty="0"/>
          </a:p>
        </p:txBody>
      </p:sp>
      <p:sp>
        <p:nvSpPr>
          <p:cNvPr id="14" name="Texto hueco 3"/>
          <p:cNvSpPr txBox="1"/>
          <p:nvPr/>
        </p:nvSpPr>
        <p:spPr>
          <a:xfrm>
            <a:off x="1188720" y="3474720"/>
            <a:ext cx="3108960" cy="822960"/>
          </a:xfrm>
          <a:prstGeom prst="rect">
            <a:avLst/>
          </a:prstGeom>
          <a:noFill/>
          <a:ln/>
        </p:spPr>
        <p:txBody>
          <a:bodyPr wrap="square" lIns="0" tIns="0" rIns="0" bIns="0" rtlCol="0" anchor="t"/>
          <a:lstStyle/>
          <a:p>
            <a:pPr marL="0" indent="0">
              <a:buNone/>
            </a:pPr>
            <a:r>
              <a:rPr lang="en-US" sz="1200" dirty="0">
                <a:solidFill>
                  <a:schemeClr val="tx1"/>
                </a:solidFill>
              </a:rPr>
              <a:t>Ninguna familia paga todavía y no hay forma de cobrar.</a:t>
            </a:r>
            <a:endParaRPr lang="en-US" sz="1200" dirty="0"/>
          </a:p>
        </p:txBody>
      </p:sp>
      <p:sp>
        <p:nvSpPr>
          <p:cNvPr id="15" name="Hueco 4"/>
          <p:cNvSpPr/>
          <p:nvPr/>
        </p:nvSpPr>
        <p:spPr>
          <a:xfrm>
            <a:off x="4663440" y="2880360"/>
            <a:ext cx="4023360" cy="1508760"/>
          </a:xfrm>
          <a:prstGeom prst="rect">
            <a:avLst/>
          </a:prstGeom>
          <a:solidFill>
            <a:schemeClr val="bg1"/>
          </a:solidFill>
          <a:ln/>
        </p:spPr>
        <p:txBody>
          <a:bodyPr/>
          <a:lstStyle/>
          <a:p>
            <a:endParaRPr lang="es-ES"/>
          </a:p>
        </p:txBody>
      </p:sp>
      <p:sp>
        <p:nvSpPr>
          <p:cNvPr id="16" name="Numero hueco 4"/>
          <p:cNvSpPr txBox="1"/>
          <p:nvPr/>
        </p:nvSpPr>
        <p:spPr>
          <a:xfrm>
            <a:off x="4892040" y="3063240"/>
            <a:ext cx="457200" cy="457200"/>
          </a:xfrm>
          <a:prstGeom prst="rect">
            <a:avLst/>
          </a:prstGeom>
          <a:noFill/>
          <a:ln/>
        </p:spPr>
        <p:txBody>
          <a:bodyPr wrap="square" lIns="0" tIns="0" rIns="0" bIns="0" rtlCol="0" anchor="t"/>
          <a:lstStyle/>
          <a:p>
            <a:pPr marL="0" indent="0">
              <a:buNone/>
            </a:pPr>
            <a:r>
              <a:rPr lang="en-US" sz="2600" b="1" dirty="0">
                <a:solidFill>
                  <a:schemeClr val="accent1"/>
                </a:solidFill>
              </a:rPr>
              <a:t>4</a:t>
            </a:r>
            <a:endParaRPr lang="en-US" sz="2600" dirty="0"/>
          </a:p>
        </p:txBody>
      </p:sp>
      <p:sp>
        <p:nvSpPr>
          <p:cNvPr id="17" name="Titulo hueco 4"/>
          <p:cNvSpPr txBox="1"/>
          <p:nvPr/>
        </p:nvSpPr>
        <p:spPr>
          <a:xfrm>
            <a:off x="5394960" y="3081528"/>
            <a:ext cx="3108960" cy="365760"/>
          </a:xfrm>
          <a:prstGeom prst="rect">
            <a:avLst/>
          </a:prstGeom>
          <a:noFill/>
          <a:ln/>
        </p:spPr>
        <p:txBody>
          <a:bodyPr wrap="square" lIns="0" tIns="0" rIns="0" bIns="0" rtlCol="0" anchor="t"/>
          <a:lstStyle/>
          <a:p>
            <a:pPr marL="0" indent="0">
              <a:buNone/>
            </a:pPr>
            <a:r>
              <a:rPr lang="en-US" sz="1500" b="1" dirty="0">
                <a:solidFill>
                  <a:schemeClr val="tx2"/>
                </a:solidFill>
              </a:rPr>
              <a:t>La visión va por delante</a:t>
            </a:r>
            <a:endParaRPr lang="en-US" sz="1500" dirty="0"/>
          </a:p>
        </p:txBody>
      </p:sp>
      <p:sp>
        <p:nvSpPr>
          <p:cNvPr id="18" name="Texto hueco 4"/>
          <p:cNvSpPr txBox="1"/>
          <p:nvPr/>
        </p:nvSpPr>
        <p:spPr>
          <a:xfrm>
            <a:off x="5394960" y="3474720"/>
            <a:ext cx="3108960" cy="822960"/>
          </a:xfrm>
          <a:prstGeom prst="rect">
            <a:avLst/>
          </a:prstGeom>
          <a:noFill/>
          <a:ln/>
        </p:spPr>
        <p:txBody>
          <a:bodyPr wrap="square" lIns="0" tIns="0" rIns="0" bIns="0" rtlCol="0" anchor="t"/>
          <a:lstStyle/>
          <a:p>
            <a:pPr marL="0" indent="0">
              <a:buNone/>
            </a:pPr>
            <a:r>
              <a:rPr lang="en-US" sz="1200" dirty="0">
                <a:solidFill>
                  <a:schemeClr val="tx1"/>
                </a:solidFill>
              </a:rPr>
              <a:t>IA de voz, motor de IA, geocercas o pastillero están en los documentos, pero no existen.</a:t>
            </a:r>
            <a:endParaRPr lang="en-US" sz="1200" dirty="0"/>
          </a:p>
        </p:txBody>
      </p:sp>
      <p:sp>
        <p:nvSpPr>
          <p:cNvPr id="19" name="Nota al pie"/>
          <p:cNvSpPr txBox="1"/>
          <p:nvPr/>
        </p:nvSpPr>
        <p:spPr>
          <a:xfrm>
            <a:off x="1234440" y="4690872"/>
            <a:ext cx="6858000" cy="292608"/>
          </a:xfrm>
          <a:prstGeom prst="rect">
            <a:avLst/>
          </a:prstGeom>
          <a:noFill/>
          <a:ln/>
        </p:spPr>
        <p:txBody>
          <a:bodyPr wrap="square" lIns="0" tIns="0" rIns="0" bIns="0" rtlCol="0" anchor="ctr"/>
          <a:lstStyle/>
          <a:p>
            <a:pPr marL="0" indent="0">
              <a:buNone/>
            </a:pPr>
            <a:r>
              <a:rPr lang="en-US" sz="1000" dirty="0">
                <a:solidFill>
                  <a:schemeClr val="accent5"/>
                </a:solidFill>
              </a:rPr>
              <a:t>Además: el reloj no cifra la conexión (sin TLS) y hay datos reales del piloto en la cuenta de desarrollo.</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Qué ofrecen otras empresas</a:t>
            </a:r>
            <a:endParaRPr lang="en-US" sz="3000" dirty="0"/>
          </a:p>
        </p:txBody>
      </p:sp>
      <p:sp>
        <p:nvSpPr>
          <p:cNvPr id="3" name="Pilar 1"/>
          <p:cNvSpPr/>
          <p:nvPr/>
        </p:nvSpPr>
        <p:spPr>
          <a:xfrm>
            <a:off x="457200" y="1143000"/>
            <a:ext cx="1920240" cy="3429000"/>
          </a:xfrm>
          <a:prstGeom prst="rect">
            <a:avLst/>
          </a:prstGeom>
          <a:solidFill>
            <a:schemeClr val="bg1"/>
          </a:solidFill>
          <a:ln/>
        </p:spPr>
        <p:txBody>
          <a:bodyPr/>
          <a:lstStyle/>
          <a:p>
            <a:endParaRPr lang="es-ES"/>
          </a:p>
        </p:txBody>
      </p:sp>
      <p:sp>
        <p:nvSpPr>
          <p:cNvPr id="4" name="Icono pilar 1 fondo"/>
          <p:cNvSpPr/>
          <p:nvPr/>
        </p:nvSpPr>
        <p:spPr>
          <a:xfrm>
            <a:off x="640080" y="1325880"/>
            <a:ext cx="502920" cy="502920"/>
          </a:xfrm>
          <a:prstGeom prst="rect">
            <a:avLst/>
          </a:prstGeom>
          <a:solidFill>
            <a:srgbClr val="293D36"/>
          </a:solidFill>
          <a:ln/>
        </p:spPr>
        <p:txBody>
          <a:bodyPr/>
          <a:lstStyle/>
          <a:p>
            <a:endParaRPr lang="es-ES"/>
          </a:p>
        </p:txBody>
      </p:sp>
      <p:pic>
        <p:nvPicPr>
          <p:cNvPr id="5" name="Icono pilar 1 icono" descr="preencoded.png"/>
          <p:cNvPicPr>
            <a:picLocks noChangeAspect="1"/>
          </p:cNvPicPr>
          <p:nvPr/>
        </p:nvPicPr>
        <p:blipFill>
          <a:blip r:embed="rId3"/>
          <a:stretch>
            <a:fillRect/>
          </a:stretch>
        </p:blipFill>
        <p:spPr>
          <a:xfrm>
            <a:off x="760781" y="1446581"/>
            <a:ext cx="261518" cy="261518"/>
          </a:xfrm>
          <a:prstGeom prst="rect">
            <a:avLst/>
          </a:prstGeom>
        </p:spPr>
      </p:pic>
      <p:sp>
        <p:nvSpPr>
          <p:cNvPr id="6" name="Pilar titulo 1"/>
          <p:cNvSpPr txBox="1"/>
          <p:nvPr/>
        </p:nvSpPr>
        <p:spPr>
          <a:xfrm>
            <a:off x="640080" y="1965960"/>
            <a:ext cx="1600200" cy="502920"/>
          </a:xfrm>
          <a:prstGeom prst="rect">
            <a:avLst/>
          </a:prstGeom>
          <a:noFill/>
          <a:ln/>
        </p:spPr>
        <p:txBody>
          <a:bodyPr wrap="square" lIns="0" tIns="0" rIns="0" bIns="0" rtlCol="0" anchor="t"/>
          <a:lstStyle/>
          <a:p>
            <a:pPr marL="0" indent="0">
              <a:buNone/>
            </a:pPr>
            <a:r>
              <a:rPr lang="en-US" sz="1400" b="1" dirty="0">
                <a:solidFill>
                  <a:schemeClr val="tx2"/>
                </a:solidFill>
              </a:rPr>
              <a:t>Teleasistencia</a:t>
            </a:r>
            <a:endParaRPr lang="en-US" sz="1400" dirty="0"/>
          </a:p>
        </p:txBody>
      </p:sp>
      <p:sp>
        <p:nvSpPr>
          <p:cNvPr id="7" name="Pilar oferta 1"/>
          <p:cNvSpPr txBox="1"/>
          <p:nvPr/>
        </p:nvSpPr>
        <p:spPr>
          <a:xfrm>
            <a:off x="640080" y="2487168"/>
            <a:ext cx="1600200" cy="777240"/>
          </a:xfrm>
          <a:prstGeom prst="rect">
            <a:avLst/>
          </a:prstGeom>
          <a:noFill/>
          <a:ln/>
        </p:spPr>
        <p:txBody>
          <a:bodyPr wrap="square" lIns="0" tIns="0" rIns="0" bIns="0" rtlCol="0" anchor="t"/>
          <a:lstStyle/>
          <a:p>
            <a:pPr marL="0" indent="0">
              <a:buNone/>
            </a:pPr>
            <a:r>
              <a:rPr lang="en-US" sz="1200" dirty="0">
                <a:solidFill>
                  <a:schemeClr val="tx1"/>
                </a:solidFill>
              </a:rPr>
              <a:t>Botón o colgante y central humana 24/7</a:t>
            </a:r>
            <a:endParaRPr lang="en-US" sz="1200" dirty="0"/>
          </a:p>
        </p:txBody>
      </p:sp>
      <p:sp>
        <p:nvSpPr>
          <p:cNvPr id="8" name="Pilar actores 1"/>
          <p:cNvSpPr txBox="1"/>
          <p:nvPr/>
        </p:nvSpPr>
        <p:spPr>
          <a:xfrm>
            <a:off x="640080" y="3291840"/>
            <a:ext cx="1600200" cy="1188720"/>
          </a:xfrm>
          <a:prstGeom prst="rect">
            <a:avLst/>
          </a:prstGeom>
          <a:noFill/>
          <a:ln/>
        </p:spPr>
        <p:txBody>
          <a:bodyPr wrap="square" lIns="0" tIns="0" rIns="0" bIns="0" rtlCol="0" anchor="t"/>
          <a:lstStyle/>
          <a:p>
            <a:pPr marL="0" indent="0">
              <a:buNone/>
            </a:pPr>
            <a:r>
              <a:rPr lang="en-US" sz="1100" i="1" dirty="0">
                <a:solidFill>
                  <a:schemeClr val="accent5"/>
                </a:solidFill>
              </a:rPr>
              <a:t>Pública (gratis o copago), </a:t>
            </a:r>
            <a:r>
              <a:rPr lang="en-US" sz="1100" b="1" i="1" dirty="0">
                <a:solidFill>
                  <a:schemeClr val="accent5"/>
                </a:solidFill>
              </a:rPr>
              <a:t>Cruz Roja</a:t>
            </a:r>
            <a:r>
              <a:rPr lang="en-US" sz="1100" i="1" dirty="0">
                <a:solidFill>
                  <a:schemeClr val="accent5"/>
                </a:solidFill>
              </a:rPr>
              <a:t>, Tunstall Televida, SICOR, Securitas</a:t>
            </a:r>
            <a:endParaRPr lang="en-US" sz="1100" dirty="0"/>
          </a:p>
        </p:txBody>
      </p:sp>
      <p:sp>
        <p:nvSpPr>
          <p:cNvPr id="9" name="Pilar 2"/>
          <p:cNvSpPr/>
          <p:nvPr/>
        </p:nvSpPr>
        <p:spPr>
          <a:xfrm>
            <a:off x="2560320" y="1143000"/>
            <a:ext cx="1920240" cy="3429000"/>
          </a:xfrm>
          <a:prstGeom prst="rect">
            <a:avLst/>
          </a:prstGeom>
          <a:solidFill>
            <a:schemeClr val="bg1"/>
          </a:solidFill>
          <a:ln/>
        </p:spPr>
        <p:txBody>
          <a:bodyPr/>
          <a:lstStyle/>
          <a:p>
            <a:endParaRPr lang="es-ES"/>
          </a:p>
        </p:txBody>
      </p:sp>
      <p:sp>
        <p:nvSpPr>
          <p:cNvPr id="10" name="Icono pilar 2 fondo"/>
          <p:cNvSpPr/>
          <p:nvPr/>
        </p:nvSpPr>
        <p:spPr>
          <a:xfrm>
            <a:off x="2743200" y="1325880"/>
            <a:ext cx="502920" cy="502920"/>
          </a:xfrm>
          <a:prstGeom prst="rect">
            <a:avLst/>
          </a:prstGeom>
          <a:solidFill>
            <a:srgbClr val="293D36"/>
          </a:solidFill>
          <a:ln/>
        </p:spPr>
        <p:txBody>
          <a:bodyPr/>
          <a:lstStyle/>
          <a:p>
            <a:endParaRPr lang="es-ES"/>
          </a:p>
        </p:txBody>
      </p:sp>
      <p:pic>
        <p:nvPicPr>
          <p:cNvPr id="11" name="Icono pilar 2 icono" descr="preencoded.png"/>
          <p:cNvPicPr>
            <a:picLocks noChangeAspect="1"/>
          </p:cNvPicPr>
          <p:nvPr/>
        </p:nvPicPr>
        <p:blipFill>
          <a:blip r:embed="rId4"/>
          <a:stretch>
            <a:fillRect/>
          </a:stretch>
        </p:blipFill>
        <p:spPr>
          <a:xfrm>
            <a:off x="2863901" y="1446581"/>
            <a:ext cx="261518" cy="261518"/>
          </a:xfrm>
          <a:prstGeom prst="rect">
            <a:avLst/>
          </a:prstGeom>
        </p:spPr>
      </p:pic>
      <p:sp>
        <p:nvSpPr>
          <p:cNvPr id="12" name="Pilar titulo 2"/>
          <p:cNvSpPr txBox="1"/>
          <p:nvPr/>
        </p:nvSpPr>
        <p:spPr>
          <a:xfrm>
            <a:off x="2743200" y="1965960"/>
            <a:ext cx="1600200" cy="502920"/>
          </a:xfrm>
          <a:prstGeom prst="rect">
            <a:avLst/>
          </a:prstGeom>
          <a:noFill/>
          <a:ln/>
        </p:spPr>
        <p:txBody>
          <a:bodyPr wrap="square" lIns="0" tIns="0" rIns="0" bIns="0" rtlCol="0" anchor="t"/>
          <a:lstStyle/>
          <a:p>
            <a:pPr marL="0" indent="0">
              <a:buNone/>
            </a:pPr>
            <a:r>
              <a:rPr lang="en-US" sz="1400" b="1" dirty="0">
                <a:solidFill>
                  <a:schemeClr val="tx2"/>
                </a:solidFill>
              </a:rPr>
              <a:t>Relojes con SOS</a:t>
            </a:r>
            <a:endParaRPr lang="en-US" sz="1400" dirty="0"/>
          </a:p>
        </p:txBody>
      </p:sp>
      <p:sp>
        <p:nvSpPr>
          <p:cNvPr id="13" name="Pilar oferta 2"/>
          <p:cNvSpPr txBox="1"/>
          <p:nvPr/>
        </p:nvSpPr>
        <p:spPr>
          <a:xfrm>
            <a:off x="2743200" y="2487168"/>
            <a:ext cx="1600200" cy="777240"/>
          </a:xfrm>
          <a:prstGeom prst="rect">
            <a:avLst/>
          </a:prstGeom>
          <a:noFill/>
          <a:ln/>
        </p:spPr>
        <p:txBody>
          <a:bodyPr wrap="square" lIns="0" tIns="0" rIns="0" bIns="0" rtlCol="0" anchor="t"/>
          <a:lstStyle/>
          <a:p>
            <a:pPr marL="0" indent="0">
              <a:buNone/>
            </a:pPr>
            <a:r>
              <a:rPr lang="en-US" sz="1200" dirty="0">
                <a:solidFill>
                  <a:schemeClr val="tx1"/>
                </a:solidFill>
              </a:rPr>
              <a:t>SOS, GPS, caídas, app familiar y central 24/7</a:t>
            </a:r>
            <a:endParaRPr lang="en-US" sz="1200" dirty="0"/>
          </a:p>
        </p:txBody>
      </p:sp>
      <p:sp>
        <p:nvSpPr>
          <p:cNvPr id="14" name="Pilar actores 2"/>
          <p:cNvSpPr txBox="1"/>
          <p:nvPr/>
        </p:nvSpPr>
        <p:spPr>
          <a:xfrm>
            <a:off x="2743200" y="3291840"/>
            <a:ext cx="1600200" cy="1188720"/>
          </a:xfrm>
          <a:prstGeom prst="rect">
            <a:avLst/>
          </a:prstGeom>
          <a:noFill/>
          <a:ln/>
        </p:spPr>
        <p:txBody>
          <a:bodyPr wrap="square" lIns="0" tIns="0" rIns="0" bIns="0" rtlCol="0" anchor="t"/>
          <a:lstStyle/>
          <a:p>
            <a:pPr marL="0" indent="0">
              <a:buNone/>
            </a:pPr>
            <a:r>
              <a:rPr lang="en-US" sz="1100" b="1" i="1" dirty="0">
                <a:solidFill>
                  <a:schemeClr val="accent5"/>
                </a:solidFill>
              </a:rPr>
              <a:t>Durcal</a:t>
            </a:r>
            <a:r>
              <a:rPr lang="en-US" sz="1100" i="1" dirty="0">
                <a:solidFill>
                  <a:schemeClr val="accent5"/>
                </a:solidFill>
              </a:rPr>
              <a:t> (Telefónica invirtió 8 M€), Movistar Prosegur TeCuida</a:t>
            </a:r>
            <a:endParaRPr lang="en-US" sz="1100" dirty="0"/>
          </a:p>
        </p:txBody>
      </p:sp>
      <p:sp>
        <p:nvSpPr>
          <p:cNvPr id="15" name="Pilar 3"/>
          <p:cNvSpPr/>
          <p:nvPr/>
        </p:nvSpPr>
        <p:spPr>
          <a:xfrm>
            <a:off x="4663440" y="1143000"/>
            <a:ext cx="1920240" cy="3429000"/>
          </a:xfrm>
          <a:prstGeom prst="rect">
            <a:avLst/>
          </a:prstGeom>
          <a:solidFill>
            <a:schemeClr val="bg1"/>
          </a:solidFill>
          <a:ln/>
        </p:spPr>
        <p:txBody>
          <a:bodyPr/>
          <a:lstStyle/>
          <a:p>
            <a:endParaRPr lang="es-ES"/>
          </a:p>
        </p:txBody>
      </p:sp>
      <p:sp>
        <p:nvSpPr>
          <p:cNvPr id="16" name="Icono pilar 3 fondo"/>
          <p:cNvSpPr/>
          <p:nvPr/>
        </p:nvSpPr>
        <p:spPr>
          <a:xfrm>
            <a:off x="4846320" y="1325880"/>
            <a:ext cx="502920" cy="502920"/>
          </a:xfrm>
          <a:prstGeom prst="rect">
            <a:avLst/>
          </a:prstGeom>
          <a:solidFill>
            <a:srgbClr val="293D36"/>
          </a:solidFill>
          <a:ln/>
        </p:spPr>
        <p:txBody>
          <a:bodyPr/>
          <a:lstStyle/>
          <a:p>
            <a:endParaRPr lang="es-ES"/>
          </a:p>
        </p:txBody>
      </p:sp>
      <p:pic>
        <p:nvPicPr>
          <p:cNvPr id="17" name="Icono pilar 3 icono" descr="preencoded.png"/>
          <p:cNvPicPr>
            <a:picLocks noChangeAspect="1"/>
          </p:cNvPicPr>
          <p:nvPr/>
        </p:nvPicPr>
        <p:blipFill>
          <a:blip r:embed="rId5"/>
          <a:stretch>
            <a:fillRect/>
          </a:stretch>
        </p:blipFill>
        <p:spPr>
          <a:xfrm>
            <a:off x="4967021" y="1446581"/>
            <a:ext cx="261518" cy="261518"/>
          </a:xfrm>
          <a:prstGeom prst="rect">
            <a:avLst/>
          </a:prstGeom>
        </p:spPr>
      </p:pic>
      <p:sp>
        <p:nvSpPr>
          <p:cNvPr id="18" name="Pilar titulo 3"/>
          <p:cNvSpPr txBox="1"/>
          <p:nvPr/>
        </p:nvSpPr>
        <p:spPr>
          <a:xfrm>
            <a:off x="4846320" y="1965960"/>
            <a:ext cx="1600200" cy="502920"/>
          </a:xfrm>
          <a:prstGeom prst="rect">
            <a:avLst/>
          </a:prstGeom>
          <a:noFill/>
          <a:ln/>
        </p:spPr>
        <p:txBody>
          <a:bodyPr wrap="square" lIns="0" tIns="0" rIns="0" bIns="0" rtlCol="0" anchor="t"/>
          <a:lstStyle/>
          <a:p>
            <a:pPr marL="0" indent="0">
              <a:buNone/>
            </a:pPr>
            <a:r>
              <a:rPr lang="en-US" sz="1400" b="1" dirty="0">
                <a:solidFill>
                  <a:schemeClr val="tx2"/>
                </a:solidFill>
              </a:rPr>
              <a:t>Detección pasiva</a:t>
            </a:r>
            <a:endParaRPr lang="en-US" sz="1400" dirty="0"/>
          </a:p>
        </p:txBody>
      </p:sp>
      <p:sp>
        <p:nvSpPr>
          <p:cNvPr id="19" name="Pilar oferta 3"/>
          <p:cNvSpPr txBox="1"/>
          <p:nvPr/>
        </p:nvSpPr>
        <p:spPr>
          <a:xfrm>
            <a:off x="4846320" y="2487168"/>
            <a:ext cx="1600200" cy="777240"/>
          </a:xfrm>
          <a:prstGeom prst="rect">
            <a:avLst/>
          </a:prstGeom>
          <a:noFill/>
          <a:ln/>
        </p:spPr>
        <p:txBody>
          <a:bodyPr wrap="square" lIns="0" tIns="0" rIns="0" bIns="0" rtlCol="0" anchor="t"/>
          <a:lstStyle/>
          <a:p>
            <a:pPr marL="0" indent="0">
              <a:buNone/>
            </a:pPr>
            <a:r>
              <a:rPr lang="en-US" sz="1200" dirty="0">
                <a:solidFill>
                  <a:schemeClr val="tx1"/>
                </a:solidFill>
              </a:rPr>
              <a:t>Sensores que detectan caídas sin llevar nada puesto</a:t>
            </a:r>
            <a:endParaRPr lang="en-US" sz="1200" dirty="0"/>
          </a:p>
        </p:txBody>
      </p:sp>
      <p:sp>
        <p:nvSpPr>
          <p:cNvPr id="20" name="Pilar actores 3"/>
          <p:cNvSpPr txBox="1"/>
          <p:nvPr/>
        </p:nvSpPr>
        <p:spPr>
          <a:xfrm>
            <a:off x="4846320" y="3291840"/>
            <a:ext cx="1600200" cy="1188720"/>
          </a:xfrm>
          <a:prstGeom prst="rect">
            <a:avLst/>
          </a:prstGeom>
          <a:noFill/>
          <a:ln/>
        </p:spPr>
        <p:txBody>
          <a:bodyPr wrap="square" lIns="0" tIns="0" rIns="0" bIns="0" rtlCol="0" anchor="t"/>
          <a:lstStyle/>
          <a:p>
            <a:pPr marL="0" indent="0">
              <a:buNone/>
            </a:pPr>
            <a:r>
              <a:rPr lang="en-US" sz="1100" b="1" i="1" dirty="0">
                <a:solidFill>
                  <a:schemeClr val="accent5"/>
                </a:solidFill>
              </a:rPr>
              <a:t>Nobi</a:t>
            </a:r>
            <a:r>
              <a:rPr lang="en-US" sz="1100" i="1" dirty="0">
                <a:solidFill>
                  <a:schemeClr val="accent5"/>
                </a:solidFill>
              </a:rPr>
              <a:t> (lámpara, 35 M€), Vayyar (radar), Essence, Kami (cámara, EE. UU.)</a:t>
            </a:r>
            <a:endParaRPr lang="en-US" sz="1100" dirty="0"/>
          </a:p>
        </p:txBody>
      </p:sp>
      <p:sp>
        <p:nvSpPr>
          <p:cNvPr id="21" name="Pilar 4"/>
          <p:cNvSpPr/>
          <p:nvPr/>
        </p:nvSpPr>
        <p:spPr>
          <a:xfrm>
            <a:off x="6766560" y="1143000"/>
            <a:ext cx="1920240" cy="3429000"/>
          </a:xfrm>
          <a:prstGeom prst="rect">
            <a:avLst/>
          </a:prstGeom>
          <a:solidFill>
            <a:schemeClr val="bg1"/>
          </a:solidFill>
          <a:ln/>
        </p:spPr>
        <p:txBody>
          <a:bodyPr/>
          <a:lstStyle/>
          <a:p>
            <a:endParaRPr lang="es-ES"/>
          </a:p>
        </p:txBody>
      </p:sp>
      <p:sp>
        <p:nvSpPr>
          <p:cNvPr id="22" name="Icono pilar 4 fondo"/>
          <p:cNvSpPr/>
          <p:nvPr/>
        </p:nvSpPr>
        <p:spPr>
          <a:xfrm>
            <a:off x="6949440" y="1325880"/>
            <a:ext cx="502920" cy="502920"/>
          </a:xfrm>
          <a:prstGeom prst="rect">
            <a:avLst/>
          </a:prstGeom>
          <a:solidFill>
            <a:srgbClr val="293D36"/>
          </a:solidFill>
          <a:ln/>
        </p:spPr>
        <p:txBody>
          <a:bodyPr/>
          <a:lstStyle/>
          <a:p>
            <a:endParaRPr lang="es-ES"/>
          </a:p>
        </p:txBody>
      </p:sp>
      <p:pic>
        <p:nvPicPr>
          <p:cNvPr id="23" name="Icono pilar 4 icono" descr="preencoded.png"/>
          <p:cNvPicPr>
            <a:picLocks noChangeAspect="1"/>
          </p:cNvPicPr>
          <p:nvPr/>
        </p:nvPicPr>
        <p:blipFill>
          <a:blip r:embed="rId6"/>
          <a:stretch>
            <a:fillRect/>
          </a:stretch>
        </p:blipFill>
        <p:spPr>
          <a:xfrm>
            <a:off x="7070141" y="1446581"/>
            <a:ext cx="261518" cy="261518"/>
          </a:xfrm>
          <a:prstGeom prst="rect">
            <a:avLst/>
          </a:prstGeom>
        </p:spPr>
      </p:pic>
      <p:sp>
        <p:nvSpPr>
          <p:cNvPr id="24" name="Pilar titulo 4"/>
          <p:cNvSpPr txBox="1"/>
          <p:nvPr/>
        </p:nvSpPr>
        <p:spPr>
          <a:xfrm>
            <a:off x="6949440" y="1965960"/>
            <a:ext cx="1600200" cy="502920"/>
          </a:xfrm>
          <a:prstGeom prst="rect">
            <a:avLst/>
          </a:prstGeom>
          <a:noFill/>
          <a:ln/>
        </p:spPr>
        <p:txBody>
          <a:bodyPr wrap="square" lIns="0" tIns="0" rIns="0" bIns="0" rtlCol="0" anchor="t"/>
          <a:lstStyle/>
          <a:p>
            <a:pPr marL="0" indent="0">
              <a:buNone/>
            </a:pPr>
            <a:r>
              <a:rPr lang="en-US" sz="1400" b="1" dirty="0">
                <a:solidFill>
                  <a:schemeClr val="tx2"/>
                </a:solidFill>
              </a:rPr>
              <a:t>Cuidados y plataformas</a:t>
            </a:r>
            <a:endParaRPr lang="en-US" sz="1400" dirty="0"/>
          </a:p>
        </p:txBody>
      </p:sp>
      <p:sp>
        <p:nvSpPr>
          <p:cNvPr id="25" name="Pilar oferta 4"/>
          <p:cNvSpPr txBox="1"/>
          <p:nvPr/>
        </p:nvSpPr>
        <p:spPr>
          <a:xfrm>
            <a:off x="6949440" y="2487168"/>
            <a:ext cx="1600200" cy="777240"/>
          </a:xfrm>
          <a:prstGeom prst="rect">
            <a:avLst/>
          </a:prstGeom>
          <a:noFill/>
          <a:ln/>
        </p:spPr>
        <p:txBody>
          <a:bodyPr wrap="square" lIns="0" tIns="0" rIns="0" bIns="0" rtlCol="0" anchor="t"/>
          <a:lstStyle/>
          <a:p>
            <a:pPr marL="0" indent="0">
              <a:buNone/>
            </a:pPr>
            <a:r>
              <a:rPr lang="en-US" sz="1200" dirty="0">
                <a:solidFill>
                  <a:schemeClr val="tx1"/>
                </a:solidFill>
              </a:rPr>
              <a:t>Ayuda a domicilio, monitorización y seguros</a:t>
            </a:r>
            <a:endParaRPr lang="en-US" sz="1200" dirty="0"/>
          </a:p>
        </p:txBody>
      </p:sp>
      <p:sp>
        <p:nvSpPr>
          <p:cNvPr id="26" name="Pilar actores 4"/>
          <p:cNvSpPr txBox="1"/>
          <p:nvPr/>
        </p:nvSpPr>
        <p:spPr>
          <a:xfrm>
            <a:off x="6949440" y="3291840"/>
            <a:ext cx="1600200" cy="1188720"/>
          </a:xfrm>
          <a:prstGeom prst="rect">
            <a:avLst/>
          </a:prstGeom>
          <a:noFill/>
          <a:ln/>
        </p:spPr>
        <p:txBody>
          <a:bodyPr wrap="square" lIns="0" tIns="0" rIns="0" bIns="0" rtlCol="0" anchor="t"/>
          <a:lstStyle/>
          <a:p>
            <a:pPr marL="0" indent="0">
              <a:buNone/>
            </a:pPr>
            <a:r>
              <a:rPr lang="en-US" sz="1100" i="1" dirty="0">
                <a:solidFill>
                  <a:schemeClr val="accent5"/>
                </a:solidFill>
              </a:rPr>
              <a:t>Qida (37 M€), Tunstall Cognitive Care, aseguradoras de decesos</a:t>
            </a:r>
            <a:endParaRPr lang="en-US" sz="1100" dirty="0"/>
          </a:p>
        </p:txBody>
      </p:sp>
      <p:sp>
        <p:nvSpPr>
          <p:cNvPr id="27" name="Nota al pie"/>
          <p:cNvSpPr txBox="1"/>
          <p:nvPr/>
        </p:nvSpPr>
        <p:spPr>
          <a:xfrm>
            <a:off x="1234440" y="4690872"/>
            <a:ext cx="6858000" cy="292608"/>
          </a:xfrm>
          <a:prstGeom prst="rect">
            <a:avLst/>
          </a:prstGeom>
          <a:noFill/>
          <a:ln/>
        </p:spPr>
        <p:txBody>
          <a:bodyPr wrap="square" lIns="0" tIns="0" rIns="0" bIns="0" rtlCol="0" anchor="ctr"/>
          <a:lstStyle/>
          <a:p>
            <a:pPr marL="0" indent="0">
              <a:buNone/>
            </a:pPr>
            <a:r>
              <a:rPr lang="en-US" sz="1000" dirty="0">
                <a:solidFill>
                  <a:schemeClr val="accent5"/>
                </a:solidFill>
              </a:rPr>
              <a:t>Fuentes públicas consultadas el 28-10-2026 (detalle en el documento Word).</a:t>
            </a:r>
            <a:endParaRPr lang="en-US" sz="1000" dirty="0"/>
          </a:p>
        </p:txBody>
      </p:sp>
      <p:sp>
        <p:nvSpPr>
          <p:cNvPr id="28"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Vita frente al mercado</a:t>
            </a:r>
            <a:endParaRPr lang="en-US" sz="3000" dirty="0"/>
          </a:p>
        </p:txBody>
      </p:sp>
      <p:graphicFrame>
        <p:nvGraphicFramePr>
          <p:cNvPr id="7" name="Tabla comparativa"/>
          <p:cNvGraphicFramePr>
            <a:graphicFrameLocks noGrp="1"/>
          </p:cNvGraphicFramePr>
          <p:nvPr>
            <p:extLst>
              <p:ext uri="{D42A27DB-BD31-4B8C-83A1-F6EECF244321}">
                <p14:modId xmlns:p14="http://schemas.microsoft.com/office/powerpoint/2010/main" val="3919611749"/>
              </p:ext>
            </p:extLst>
          </p:nvPr>
        </p:nvGraphicFramePr>
        <p:xfrm>
          <a:off x="457200" y="1097280"/>
          <a:ext cx="8229600" cy="2950464"/>
        </p:xfrm>
        <a:graphic>
          <a:graphicData uri="http://schemas.openxmlformats.org/drawingml/2006/table">
            <a:tbl>
              <a:tblPr/>
              <a:tblGrid>
                <a:gridCol w="23774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65760">
                <a:tc>
                  <a:txBody>
                    <a:bodyPr/>
                    <a:lstStyle/>
                    <a:p>
                      <a:pPr marL="0" indent="0">
                        <a:buNone/>
                      </a:pP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293D36"/>
                    </a:solidFill>
                  </a:tcPr>
                </a:tc>
                <a:tc>
                  <a:txBody>
                    <a:bodyPr/>
                    <a:lstStyle/>
                    <a:p>
                      <a:pPr marL="0" indent="0">
                        <a:buNone/>
                      </a:pPr>
                      <a:r>
                        <a:rPr lang="en-US" sz="1100" b="1" dirty="0">
                          <a:solidFill>
                            <a:srgbClr val="F1EEE4"/>
                          </a:solidFill>
                          <a:latin typeface="Arial" pitchFamily="34" charset="0"/>
                          <a:ea typeface="Arial" pitchFamily="34" charset="-122"/>
                          <a:cs typeface="Arial" pitchFamily="34" charset="-120"/>
                        </a:rPr>
                        <a:t>Teleasistencia</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293D36"/>
                    </a:solidFill>
                  </a:tcPr>
                </a:tc>
                <a:tc>
                  <a:txBody>
                    <a:bodyPr/>
                    <a:lstStyle/>
                    <a:p>
                      <a:pPr marL="0" indent="0">
                        <a:buNone/>
                      </a:pPr>
                      <a:r>
                        <a:rPr lang="en-US" sz="1100" b="1" dirty="0">
                          <a:solidFill>
                            <a:srgbClr val="F1EEE4"/>
                          </a:solidFill>
                          <a:latin typeface="Arial" pitchFamily="34" charset="0"/>
                          <a:ea typeface="Arial" pitchFamily="34" charset="-122"/>
                          <a:cs typeface="Arial" pitchFamily="34" charset="-120"/>
                        </a:rPr>
                        <a:t>Reloj (Durcal, TeCuida)</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293D36"/>
                    </a:solidFill>
                  </a:tcPr>
                </a:tc>
                <a:tc>
                  <a:txBody>
                    <a:bodyPr/>
                    <a:lstStyle/>
                    <a:p>
                      <a:pPr marL="0" indent="0">
                        <a:buNone/>
                      </a:pPr>
                      <a:r>
                        <a:rPr lang="en-US" sz="1100" b="1" dirty="0">
                          <a:solidFill>
                            <a:srgbClr val="F1EEE4"/>
                          </a:solidFill>
                          <a:latin typeface="Arial" pitchFamily="34" charset="0"/>
                          <a:ea typeface="Arial" pitchFamily="34" charset="-122"/>
                          <a:cs typeface="Arial" pitchFamily="34" charset="-120"/>
                        </a:rPr>
                        <a:t>Cámara (Kami - Nobi)</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293D36"/>
                    </a:solidFill>
                  </a:tcPr>
                </a:tc>
                <a:tc>
                  <a:txBody>
                    <a:bodyPr/>
                    <a:lstStyle/>
                    <a:p>
                      <a:pPr marL="0" indent="0">
                        <a:buNone/>
                      </a:pPr>
                      <a:r>
                        <a:rPr lang="en-US" sz="1100" b="1" dirty="0">
                          <a:solidFill>
                            <a:srgbClr val="F1EEE4"/>
                          </a:solidFill>
                          <a:latin typeface="Arial" pitchFamily="34" charset="0"/>
                          <a:ea typeface="Arial" pitchFamily="34" charset="-122"/>
                          <a:cs typeface="Arial" pitchFamily="34" charset="-120"/>
                        </a:rPr>
                        <a:t>Vita hoy</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293D36"/>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293D36"/>
                          </a:solidFill>
                          <a:latin typeface="Arial" pitchFamily="34" charset="0"/>
                          <a:ea typeface="Arial" pitchFamily="34" charset="-122"/>
                          <a:cs typeface="Arial" pitchFamily="34" charset="-120"/>
                        </a:rPr>
                        <a:t>Central humana 24/7</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b="1" dirty="0">
                          <a:solidFill>
                            <a:srgbClr val="293D36"/>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C3D5C8"/>
                    </a:solidFill>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293D36"/>
                          </a:solidFill>
                          <a:latin typeface="Arial" pitchFamily="34" charset="0"/>
                          <a:ea typeface="Arial" pitchFamily="34" charset="-122"/>
                          <a:cs typeface="Arial" pitchFamily="34" charset="-120"/>
                        </a:rPr>
                        <a:t>Avisa sin llevar nada puesto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b="1" dirty="0">
                          <a:solidFill>
                            <a:srgbClr val="293D36"/>
                          </a:solidFill>
                          <a:latin typeface="Arial" pitchFamily="34" charset="0"/>
                          <a:ea typeface="Arial" pitchFamily="34" charset="-122"/>
                          <a:cs typeface="Arial" pitchFamily="34" charset="-120"/>
                        </a:rPr>
                        <a:t>Sí (en una sala)</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C3D5C8"/>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293D36"/>
                          </a:solidFill>
                          <a:latin typeface="Arial" pitchFamily="34" charset="0"/>
                          <a:ea typeface="Arial" pitchFamily="34" charset="-122"/>
                          <a:cs typeface="Arial" pitchFamily="34" charset="-120"/>
                        </a:rPr>
                        <a:t>La familia ve qué ha pasado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b="1" dirty="0">
                          <a:solidFill>
                            <a:srgbClr val="293D36"/>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C3D5C8"/>
                    </a:solidFill>
                  </a:tcPr>
                </a:tc>
                <a:extLst>
                  <a:ext uri="{0D108BD9-81ED-4DB2-BD59-A6C34878D82A}">
                    <a16:rowId xmlns:a16="http://schemas.microsoft.com/office/drawing/2014/main" val="10003"/>
                  </a:ext>
                </a:extLst>
              </a:tr>
              <a:tr h="365760">
                <a:tc>
                  <a:txBody>
                    <a:bodyPr/>
                    <a:lstStyle/>
                    <a:p>
                      <a:pPr marL="0" indent="0">
                        <a:buNone/>
                      </a:pPr>
                      <a:r>
                        <a:rPr lang="en-US" sz="1100" b="1" dirty="0">
                          <a:solidFill>
                            <a:srgbClr val="293D36"/>
                          </a:solidFill>
                          <a:latin typeface="Arial" pitchFamily="34" charset="0"/>
                          <a:ea typeface="Arial" pitchFamily="34" charset="-122"/>
                          <a:cs typeface="Arial" pitchFamily="34" charset="-120"/>
                        </a:rPr>
                        <a:t>Sin cámara en casa</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b="1" dirty="0">
                          <a:solidFill>
                            <a:srgbClr val="293D36"/>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C3D5C8"/>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293D36"/>
                          </a:solidFill>
                          <a:latin typeface="Arial" pitchFamily="34" charset="0"/>
                          <a:ea typeface="Arial" pitchFamily="34" charset="-122"/>
                          <a:cs typeface="Arial" pitchFamily="34" charset="-120"/>
                        </a:rPr>
                        <a:t>El aviso llega a la familia</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b="1" dirty="0">
                          <a:solidFill>
                            <a:srgbClr val="293D36"/>
                          </a:solidFill>
                          <a:latin typeface="Arial" pitchFamily="34" charset="0"/>
                          <a:ea typeface="Arial" pitchFamily="34" charset="-122"/>
                          <a:cs typeface="Arial" pitchFamily="34" charset="-120"/>
                        </a:rPr>
                        <a:t>Aún no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C3D5C8"/>
                    </a:solidFill>
                  </a:tcPr>
                </a:tc>
                <a:extLst>
                  <a:ext uri="{0D108BD9-81ED-4DB2-BD59-A6C34878D82A}">
                    <a16:rowId xmlns:a16="http://schemas.microsoft.com/office/drawing/2014/main" val="10005"/>
                  </a:ext>
                </a:extLst>
              </a:tr>
              <a:tr h="365760">
                <a:tc>
                  <a:txBody>
                    <a:bodyPr/>
                    <a:lstStyle/>
                    <a:p>
                      <a:pPr marL="0" indent="0">
                        <a:buNone/>
                      </a:pPr>
                      <a:r>
                        <a:rPr lang="en-US" sz="1100" b="1" dirty="0">
                          <a:solidFill>
                            <a:srgbClr val="293D36"/>
                          </a:solidFill>
                          <a:latin typeface="Arial" pitchFamily="34" charset="0"/>
                          <a:ea typeface="Arial" pitchFamily="34" charset="-122"/>
                          <a:cs typeface="Arial" pitchFamily="34" charset="-120"/>
                        </a:rPr>
                        <a:t>Disponible en España</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b="1" dirty="0">
                          <a:solidFill>
                            <a:srgbClr val="293D36"/>
                          </a:solidFill>
                          <a:latin typeface="Arial" pitchFamily="34" charset="0"/>
                          <a:ea typeface="Arial" pitchFamily="34" charset="-122"/>
                          <a:cs typeface="Arial" pitchFamily="34" charset="-120"/>
                        </a:rPr>
                        <a:t>Piloto</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C3D5C8"/>
                    </a:solidFill>
                  </a:tcPr>
                </a:tc>
                <a:extLst>
                  <a:ext uri="{0D108BD9-81ED-4DB2-BD59-A6C34878D82A}">
                    <a16:rowId xmlns:a16="http://schemas.microsoft.com/office/drawing/2014/main" val="10006"/>
                  </a:ext>
                </a:extLst>
              </a:tr>
              <a:tr h="365760">
                <a:tc>
                  <a:txBody>
                    <a:bodyPr/>
                    <a:lstStyle/>
                    <a:p>
                      <a:pPr marL="0" indent="0">
                        <a:buNone/>
                      </a:pPr>
                      <a:r>
                        <a:rPr lang="en-US" sz="1100" b="1" dirty="0">
                          <a:solidFill>
                            <a:srgbClr val="293D36"/>
                          </a:solidFill>
                          <a:latin typeface="Arial" pitchFamily="34" charset="0"/>
                          <a:ea typeface="Arial" pitchFamily="34" charset="-122"/>
                          <a:cs typeface="Arial" pitchFamily="34" charset="-120"/>
                        </a:rPr>
                        <a:t>Precio al mes</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0-30 €</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~20-25 €</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dirty="0">
                          <a:solidFill>
                            <a:srgbClr val="252B2B"/>
                          </a:solidFill>
                          <a:latin typeface="Arial" pitchFamily="34" charset="0"/>
                          <a:ea typeface="Arial" pitchFamily="34" charset="-122"/>
                          <a:cs typeface="Arial" pitchFamily="34" charset="-120"/>
                        </a:rPr>
                        <a:t>45 USD-240 USD </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100" b="1" dirty="0">
                          <a:solidFill>
                            <a:srgbClr val="293D36"/>
                          </a:solidFill>
                          <a:latin typeface="Arial" pitchFamily="34" charset="0"/>
                          <a:ea typeface="Arial" pitchFamily="34" charset="-122"/>
                          <a:cs typeface="Arial" pitchFamily="34" charset="-120"/>
                        </a:rPr>
                        <a:t>≥ 51-57 €</a:t>
                      </a:r>
                      <a:endParaRPr lang="en-US" sz="11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C3D5C8"/>
                    </a:solidFill>
                  </a:tcPr>
                </a:tc>
                <a:extLst>
                  <a:ext uri="{0D108BD9-81ED-4DB2-BD59-A6C34878D82A}">
                    <a16:rowId xmlns:a16="http://schemas.microsoft.com/office/drawing/2014/main" val="10007"/>
                  </a:ext>
                </a:extLst>
              </a:tr>
            </a:tbl>
          </a:graphicData>
        </a:graphic>
      </p:graphicFrame>
      <p:sp>
        <p:nvSpPr>
          <p:cNvPr id="4" name="Lectura comparativa"/>
          <p:cNvSpPr txBox="1"/>
          <p:nvPr/>
        </p:nvSpPr>
        <p:spPr>
          <a:xfrm>
            <a:off x="457200" y="4114800"/>
            <a:ext cx="8229600" cy="457200"/>
          </a:xfrm>
          <a:prstGeom prst="rect">
            <a:avLst/>
          </a:prstGeom>
          <a:noFill/>
          <a:ln/>
        </p:spPr>
        <p:txBody>
          <a:bodyPr wrap="square" lIns="0" tIns="0" rIns="0" bIns="0" rtlCol="0" anchor="t"/>
          <a:lstStyle/>
          <a:p>
            <a:pPr marL="0" indent="0">
              <a:buNone/>
            </a:pPr>
            <a:r>
              <a:rPr lang="en-US" sz="1300" b="1" dirty="0">
                <a:solidFill>
                  <a:schemeClr val="tx2"/>
                </a:solidFill>
              </a:rPr>
              <a:t>Lectura: </a:t>
            </a:r>
            <a:r>
              <a:rPr lang="en-US" sz="1300" dirty="0">
                <a:solidFill>
                  <a:schemeClr val="tx2"/>
                </a:solidFill>
              </a:rPr>
              <a:t>Hoy </a:t>
            </a:r>
            <a:r>
              <a:rPr lang="en-US" sz="1300" dirty="0" err="1">
                <a:solidFill>
                  <a:schemeClr val="tx2"/>
                </a:solidFill>
              </a:rPr>
              <a:t>en</a:t>
            </a:r>
            <a:r>
              <a:rPr lang="en-US" sz="1300" dirty="0">
                <a:solidFill>
                  <a:schemeClr val="tx2"/>
                </a:solidFill>
              </a:rPr>
              <a:t> </a:t>
            </a:r>
            <a:r>
              <a:rPr lang="en-US" sz="1300" dirty="0" err="1">
                <a:solidFill>
                  <a:schemeClr val="tx2"/>
                </a:solidFill>
              </a:rPr>
              <a:t>dia</a:t>
            </a:r>
            <a:r>
              <a:rPr lang="en-US" sz="1300" dirty="0">
                <a:solidFill>
                  <a:schemeClr val="tx2"/>
                </a:solidFill>
              </a:rPr>
              <a:t> </a:t>
            </a:r>
            <a:r>
              <a:rPr lang="en-US" sz="1300" dirty="0" err="1">
                <a:solidFill>
                  <a:schemeClr val="tx2"/>
                </a:solidFill>
              </a:rPr>
              <a:t>ya</a:t>
            </a:r>
            <a:r>
              <a:rPr lang="en-US" sz="1300" dirty="0">
                <a:solidFill>
                  <a:schemeClr val="tx2"/>
                </a:solidFill>
              </a:rPr>
              <a:t> </a:t>
            </a:r>
            <a:r>
              <a:rPr lang="en-US" sz="1300" dirty="0" err="1">
                <a:solidFill>
                  <a:schemeClr val="tx2"/>
                </a:solidFill>
              </a:rPr>
              <a:t>existen</a:t>
            </a:r>
            <a:r>
              <a:rPr lang="en-US" sz="1300" dirty="0">
                <a:solidFill>
                  <a:schemeClr val="tx2"/>
                </a:solidFill>
              </a:rPr>
              <a:t> </a:t>
            </a:r>
            <a:r>
              <a:rPr lang="en-US" sz="1300" dirty="0" err="1">
                <a:solidFill>
                  <a:schemeClr val="tx2"/>
                </a:solidFill>
              </a:rPr>
              <a:t>productos</a:t>
            </a:r>
            <a:r>
              <a:rPr lang="en-US" sz="1300" dirty="0">
                <a:solidFill>
                  <a:schemeClr val="tx2"/>
                </a:solidFill>
              </a:rPr>
              <a:t> </a:t>
            </a:r>
            <a:r>
              <a:rPr lang="en-US" sz="1300" dirty="0" err="1">
                <a:solidFill>
                  <a:schemeClr val="tx2"/>
                </a:solidFill>
              </a:rPr>
              <a:t>que</a:t>
            </a:r>
            <a:r>
              <a:rPr lang="en-US" sz="1300" dirty="0">
                <a:solidFill>
                  <a:schemeClr val="tx2"/>
                </a:solidFill>
              </a:rPr>
              <a:t> </a:t>
            </a:r>
            <a:r>
              <a:rPr lang="en-US" sz="1300" dirty="0" err="1">
                <a:solidFill>
                  <a:schemeClr val="tx2"/>
                </a:solidFill>
              </a:rPr>
              <a:t>solucionan</a:t>
            </a:r>
            <a:r>
              <a:rPr lang="en-US" sz="1300" dirty="0">
                <a:solidFill>
                  <a:schemeClr val="tx2"/>
                </a:solidFill>
              </a:rPr>
              <a:t> el </a:t>
            </a:r>
            <a:r>
              <a:rPr lang="en-US" sz="1300" dirty="0" err="1">
                <a:solidFill>
                  <a:schemeClr val="tx2"/>
                </a:solidFill>
              </a:rPr>
              <a:t>problema</a:t>
            </a:r>
            <a:r>
              <a:rPr lang="en-US" sz="1300" dirty="0">
                <a:solidFill>
                  <a:schemeClr val="tx2"/>
                </a:solidFill>
              </a:rPr>
              <a:t> </a:t>
            </a:r>
            <a:r>
              <a:rPr lang="en-US" sz="1300" dirty="0" err="1">
                <a:solidFill>
                  <a:schemeClr val="tx2"/>
                </a:solidFill>
              </a:rPr>
              <a:t>que</a:t>
            </a:r>
            <a:r>
              <a:rPr lang="en-US" sz="1300" dirty="0">
                <a:solidFill>
                  <a:schemeClr val="tx2"/>
                </a:solidFill>
              </a:rPr>
              <a:t> vita </a:t>
            </a:r>
            <a:r>
              <a:rPr lang="en-US" sz="1300" dirty="0" err="1">
                <a:solidFill>
                  <a:schemeClr val="tx2"/>
                </a:solidFill>
              </a:rPr>
              <a:t>soluciona</a:t>
            </a:r>
            <a:r>
              <a:rPr lang="en-US" sz="1300" dirty="0">
                <a:solidFill>
                  <a:schemeClr val="tx2"/>
                </a:solidFill>
              </a:rPr>
              <a:t> </a:t>
            </a:r>
            <a:r>
              <a:rPr lang="en-US" sz="1300" dirty="0" err="1">
                <a:solidFill>
                  <a:schemeClr val="tx2"/>
                </a:solidFill>
              </a:rPr>
              <a:t>pero</a:t>
            </a:r>
            <a:r>
              <a:rPr lang="en-US" sz="1300" dirty="0">
                <a:solidFill>
                  <a:schemeClr val="tx2"/>
                </a:solidFill>
              </a:rPr>
              <a:t> </a:t>
            </a:r>
            <a:r>
              <a:rPr lang="en-US" sz="1300" dirty="0" err="1">
                <a:solidFill>
                  <a:schemeClr val="tx2"/>
                </a:solidFill>
              </a:rPr>
              <a:t>por</a:t>
            </a:r>
            <a:r>
              <a:rPr lang="en-US" sz="1300" dirty="0">
                <a:solidFill>
                  <a:schemeClr val="tx2"/>
                </a:solidFill>
              </a:rPr>
              <a:t> </a:t>
            </a:r>
            <a:r>
              <a:rPr lang="en-US" sz="1300" dirty="0" err="1">
                <a:solidFill>
                  <a:schemeClr val="tx2"/>
                </a:solidFill>
              </a:rPr>
              <a:t>separado</a:t>
            </a:r>
            <a:r>
              <a:rPr lang="en-US" sz="1300" dirty="0">
                <a:solidFill>
                  <a:schemeClr val="tx2"/>
                </a:solidFill>
              </a:rPr>
              <a:t> a un </a:t>
            </a:r>
            <a:r>
              <a:rPr lang="en-US" sz="1300" dirty="0" err="1">
                <a:solidFill>
                  <a:schemeClr val="tx2"/>
                </a:solidFill>
              </a:rPr>
              <a:t>coste</a:t>
            </a:r>
            <a:r>
              <a:rPr lang="en-US" sz="1300" dirty="0">
                <a:solidFill>
                  <a:schemeClr val="tx2"/>
                </a:solidFill>
              </a:rPr>
              <a:t> inferior a 100 €</a:t>
            </a:r>
            <a:r>
              <a:rPr lang="en-US" sz="1300" dirty="0">
                <a:solidFill>
                  <a:schemeClr val="tx1"/>
                </a:solidFill>
              </a:rPr>
              <a:t>.</a:t>
            </a:r>
            <a:endParaRPr lang="en-US" sz="1300" dirty="0"/>
          </a:p>
        </p:txBody>
      </p:sp>
      <p:sp>
        <p:nvSpPr>
          <p:cNvPr id="5" name="Nota al pie"/>
          <p:cNvSpPr txBox="1"/>
          <p:nvPr/>
        </p:nvSpPr>
        <p:spPr>
          <a:xfrm>
            <a:off x="1234440" y="4690872"/>
            <a:ext cx="6858000" cy="292608"/>
          </a:xfrm>
          <a:prstGeom prst="rect">
            <a:avLst/>
          </a:prstGeom>
          <a:noFill/>
          <a:ln/>
        </p:spPr>
        <p:txBody>
          <a:bodyPr wrap="square" lIns="0" tIns="0" rIns="0" bIns="0" rtlCol="0" anchor="ctr"/>
          <a:lstStyle/>
          <a:p>
            <a:pPr marL="0" indent="0">
              <a:buNone/>
            </a:pPr>
            <a:r>
              <a:rPr lang="en-US" sz="1000" dirty="0">
                <a:solidFill>
                  <a:schemeClr val="accent5"/>
                </a:solidFill>
              </a:rPr>
              <a:t>Kami (EE. UU.): 99 USD la cámara más 45 USD/mes con monitorización profesional. Elaboración propia con fuentes públicas.</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Precios frente a la competencia</a:t>
            </a:r>
            <a:endParaRPr lang="en-US" sz="3000" dirty="0"/>
          </a:p>
        </p:txBody>
      </p:sp>
      <p:graphicFrame>
        <p:nvGraphicFramePr>
          <p:cNvPr id="3" name="Grafico precios"/>
          <p:cNvGraphicFramePr/>
          <p:nvPr>
            <p:extLst>
              <p:ext uri="{D42A27DB-BD31-4B8C-83A1-F6EECF244321}">
                <p14:modId xmlns:p14="http://schemas.microsoft.com/office/powerpoint/2010/main" val="2612523175"/>
              </p:ext>
            </p:extLst>
          </p:nvPr>
        </p:nvGraphicFramePr>
        <p:xfrm>
          <a:off x="457200" y="1097280"/>
          <a:ext cx="512064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Lectura"/>
          <p:cNvSpPr/>
          <p:nvPr/>
        </p:nvSpPr>
        <p:spPr>
          <a:xfrm>
            <a:off x="5852160" y="1097280"/>
            <a:ext cx="2834640" cy="3474720"/>
          </a:xfrm>
          <a:prstGeom prst="rect">
            <a:avLst/>
          </a:prstGeom>
          <a:solidFill>
            <a:schemeClr val="bg1"/>
          </a:solidFill>
          <a:ln/>
        </p:spPr>
        <p:txBody>
          <a:bodyPr/>
          <a:lstStyle/>
          <a:p>
            <a:endParaRPr lang="es-ES"/>
          </a:p>
        </p:txBody>
      </p:sp>
      <p:sp>
        <p:nvSpPr>
          <p:cNvPr id="5" name="Lectura titulo"/>
          <p:cNvSpPr txBox="1"/>
          <p:nvPr/>
        </p:nvSpPr>
        <p:spPr>
          <a:xfrm>
            <a:off x="6080760" y="1280160"/>
            <a:ext cx="2423160" cy="320040"/>
          </a:xfrm>
          <a:prstGeom prst="rect">
            <a:avLst/>
          </a:prstGeom>
          <a:noFill/>
          <a:ln/>
        </p:spPr>
        <p:txBody>
          <a:bodyPr wrap="square" lIns="0" tIns="0" rIns="0" bIns="0" rtlCol="0" anchor="t"/>
          <a:lstStyle/>
          <a:p>
            <a:pPr marL="0" indent="0">
              <a:buNone/>
            </a:pPr>
            <a:r>
              <a:rPr lang="en-US" sz="1600" b="1" dirty="0">
                <a:solidFill>
                  <a:schemeClr val="tx2"/>
                </a:solidFill>
              </a:rPr>
              <a:t>Qué significa</a:t>
            </a:r>
            <a:endParaRPr lang="en-US" sz="1600" dirty="0"/>
          </a:p>
        </p:txBody>
      </p:sp>
      <p:sp>
        <p:nvSpPr>
          <p:cNvPr id="6" name="Lectura texto"/>
          <p:cNvSpPr txBox="1"/>
          <p:nvPr/>
        </p:nvSpPr>
        <p:spPr>
          <a:xfrm>
            <a:off x="6080760" y="1691640"/>
            <a:ext cx="242316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Nuestro precio mínimo es entre 2 y 4 veces el de la teleasistencia.</a:t>
            </a:r>
            <a:endParaRPr lang="en-US" sz="1300" dirty="0"/>
          </a:p>
          <a:p>
            <a:pPr marL="342900" indent="-342900">
              <a:spcAft>
                <a:spcPts val="800"/>
              </a:spcAft>
              <a:buSzPct val="100000"/>
              <a:buChar char="•"/>
            </a:pPr>
            <a:r>
              <a:rPr lang="en-US" sz="1300" dirty="0">
                <a:solidFill>
                  <a:schemeClr val="tx1"/>
                </a:solidFill>
              </a:rPr>
              <a:t>No podemos competir </a:t>
            </a:r>
            <a:r>
              <a:rPr lang="en-US" sz="1300" dirty="0" err="1">
                <a:solidFill>
                  <a:schemeClr val="tx1"/>
                </a:solidFill>
              </a:rPr>
              <a:t>en</a:t>
            </a:r>
            <a:r>
              <a:rPr lang="en-US" sz="1300" dirty="0">
                <a:solidFill>
                  <a:schemeClr val="tx1"/>
                </a:solidFill>
              </a:rPr>
              <a:t> </a:t>
            </a:r>
            <a:r>
              <a:rPr lang="en-US" sz="1300" dirty="0" err="1">
                <a:solidFill>
                  <a:schemeClr val="tx1"/>
                </a:solidFill>
              </a:rPr>
              <a:t>precio</a:t>
            </a:r>
            <a:r>
              <a:rPr lang="en-US" sz="1300" dirty="0">
                <a:solidFill>
                  <a:schemeClr val="tx1"/>
                </a:solidFill>
              </a:rPr>
              <a:t>.</a:t>
            </a:r>
            <a:endParaRPr lang="en-US" sz="1300" dirty="0"/>
          </a:p>
          <a:p>
            <a:pPr marL="342900" indent="-342900">
              <a:spcAft>
                <a:spcPts val="800"/>
              </a:spcAft>
              <a:buSzPct val="100000"/>
              <a:buChar char="•"/>
            </a:pPr>
            <a:r>
              <a:rPr lang="en-US" sz="1300" dirty="0">
                <a:solidFill>
                  <a:schemeClr val="tx1"/>
                </a:solidFill>
              </a:rPr>
              <a:t>Antes de construir más, hay que comprobar si alguien paga 59 € o más.</a:t>
            </a:r>
            <a:endParaRPr lang="en-US" sz="1300" dirty="0"/>
          </a:p>
        </p:txBody>
      </p:sp>
      <p:sp>
        <p:nvSpPr>
          <p:cNvPr id="7" name="Nota al pie"/>
          <p:cNvSpPr txBox="1"/>
          <p:nvPr/>
        </p:nvSpPr>
        <p:spPr>
          <a:xfrm>
            <a:off x="1234440" y="4690872"/>
            <a:ext cx="6858000" cy="292608"/>
          </a:xfrm>
          <a:prstGeom prst="rect">
            <a:avLst/>
          </a:prstGeom>
          <a:noFill/>
          <a:ln/>
        </p:spPr>
        <p:txBody>
          <a:bodyPr wrap="square" lIns="0" tIns="0" rIns="0" bIns="0" rtlCol="0" anchor="ctr"/>
          <a:lstStyle/>
          <a:p>
            <a:pPr marL="0" indent="0">
              <a:buNone/>
            </a:pPr>
            <a:r>
              <a:rPr lang="en-US" sz="1000" dirty="0">
                <a:solidFill>
                  <a:schemeClr val="accent5"/>
                </a:solidFill>
              </a:rPr>
              <a:t>Cruz Roja: 10 € + 4 € de detector de caídas. Vita mín.: 57 € con reloj, 51 € sin él. Precios públicos del 28-10-2026.</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Lo que cuesta lo que hacemos</a:t>
            </a:r>
            <a:endParaRPr lang="en-US" sz="3000" dirty="0"/>
          </a:p>
        </p:txBody>
      </p:sp>
      <p:graphicFrame>
        <p:nvGraphicFramePr>
          <p:cNvPr id="9" name="Tabla costes"/>
          <p:cNvGraphicFramePr>
            <a:graphicFrameLocks noGrp="1"/>
          </p:cNvGraphicFramePr>
          <p:nvPr>
            <p:extLst>
              <p:ext uri="{D42A27DB-BD31-4B8C-83A1-F6EECF244321}">
                <p14:modId xmlns:p14="http://schemas.microsoft.com/office/powerpoint/2010/main" val="1579011935"/>
              </p:ext>
            </p:extLst>
          </p:nvPr>
        </p:nvGraphicFramePr>
        <p:xfrm>
          <a:off x="457200" y="1097280"/>
          <a:ext cx="4754880" cy="2880360"/>
        </p:xfrm>
        <a:graphic>
          <a:graphicData uri="http://schemas.openxmlformats.org/drawingml/2006/table">
            <a:tbl>
              <a:tblPr/>
              <a:tblGrid>
                <a:gridCol w="34290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411480">
                <a:tc>
                  <a:txBody>
                    <a:bodyPr/>
                    <a:lstStyle/>
                    <a:p>
                      <a:pPr marL="0" indent="0">
                        <a:buNone/>
                      </a:pPr>
                      <a:r>
                        <a:rPr lang="en-US" sz="1200" b="1" dirty="0">
                          <a:solidFill>
                            <a:srgbClr val="F1EEE4"/>
                          </a:solidFill>
                          <a:latin typeface="Arial" pitchFamily="34" charset="0"/>
                          <a:ea typeface="Arial" pitchFamily="34" charset="-122"/>
                          <a:cs typeface="Arial" pitchFamily="34" charset="-120"/>
                        </a:rPr>
                        <a:t>Partida</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293D36"/>
                    </a:solidFill>
                  </a:tcPr>
                </a:tc>
                <a:tc>
                  <a:txBody>
                    <a:bodyPr/>
                    <a:lstStyle/>
                    <a:p>
                      <a:pPr marL="0" indent="0">
                        <a:buNone/>
                      </a:pPr>
                      <a:r>
                        <a:rPr lang="en-US" sz="1200" b="1" dirty="0">
                          <a:solidFill>
                            <a:srgbClr val="F1EEE4"/>
                          </a:solidFill>
                          <a:latin typeface="Arial" pitchFamily="34" charset="0"/>
                          <a:ea typeface="Arial" pitchFamily="34" charset="-122"/>
                          <a:cs typeface="Arial" pitchFamily="34" charset="-120"/>
                        </a:rPr>
                        <a:t>Estimación</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293D36"/>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252B2B"/>
                          </a:solidFill>
                          <a:latin typeface="Arial" pitchFamily="34" charset="0"/>
                          <a:ea typeface="Arial" pitchFamily="34" charset="-122"/>
                          <a:cs typeface="Arial" pitchFamily="34" charset="-120"/>
                        </a:rPr>
                        <a:t>Equipo por hogar (hub, cámaras, accesorios)</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200" dirty="0">
                          <a:solidFill>
                            <a:srgbClr val="252B2B"/>
                          </a:solidFill>
                          <a:latin typeface="Arial" pitchFamily="34" charset="0"/>
                          <a:ea typeface="Arial" pitchFamily="34" charset="-122"/>
                          <a:cs typeface="Arial" pitchFamily="34" charset="-120"/>
                        </a:rPr>
                        <a:t>450-510 €</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rgbClr val="252B2B"/>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200" dirty="0">
                          <a:solidFill>
                            <a:srgbClr val="252B2B"/>
                          </a:solidFill>
                          <a:latin typeface="Arial" pitchFamily="34" charset="0"/>
                          <a:ea typeface="Arial" pitchFamily="34" charset="-122"/>
                          <a:cs typeface="Arial" pitchFamily="34" charset="-120"/>
                        </a:rPr>
                        <a:t>~120 €</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rgbClr val="252B2B"/>
                          </a:solidFill>
                          <a:latin typeface="Arial" pitchFamily="34" charset="0"/>
                          <a:ea typeface="Arial" pitchFamily="34" charset="-122"/>
                          <a:cs typeface="Arial" pitchFamily="34" charset="-120"/>
                        </a:rPr>
                        <a:t>Captar cada familia</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200" dirty="0">
                          <a:solidFill>
                            <a:srgbClr val="252B2B"/>
                          </a:solidFill>
                          <a:latin typeface="Arial" pitchFamily="34" charset="0"/>
                          <a:ea typeface="Arial" pitchFamily="34" charset="-122"/>
                          <a:cs typeface="Arial" pitchFamily="34" charset="-120"/>
                        </a:rPr>
                        <a:t>~250 €</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rgbClr val="293D36"/>
                          </a:solidFill>
                          <a:latin typeface="Arial" pitchFamily="34" charset="0"/>
                          <a:ea typeface="Arial" pitchFamily="34" charset="-122"/>
                          <a:cs typeface="Arial" pitchFamily="34" charset="-120"/>
                        </a:rPr>
                        <a:t>Total a adelantar por hogar</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5E3CC"/>
                    </a:solidFill>
                  </a:tcPr>
                </a:tc>
                <a:tc>
                  <a:txBody>
                    <a:bodyPr/>
                    <a:lstStyle/>
                    <a:p>
                      <a:pPr marL="0" indent="0">
                        <a:buNone/>
                      </a:pPr>
                      <a:r>
                        <a:rPr lang="en-US" sz="1200" b="1" dirty="0">
                          <a:solidFill>
                            <a:srgbClr val="293D36"/>
                          </a:solidFill>
                          <a:latin typeface="Arial" pitchFamily="34" charset="0"/>
                          <a:ea typeface="Arial" pitchFamily="34" charset="-122"/>
                          <a:cs typeface="Arial" pitchFamily="34" charset="-120"/>
                        </a:rPr>
                        <a:t>~820-880 €</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5E3CC"/>
                    </a:solidFill>
                  </a:tcPr>
                </a:tc>
                <a:extLst>
                  <a:ext uri="{0D108BD9-81ED-4DB2-BD59-A6C34878D82A}">
                    <a16:rowId xmlns:a16="http://schemas.microsoft.com/office/drawing/2014/main" val="10004"/>
                  </a:ext>
                </a:extLst>
              </a:tr>
              <a:tr h="411480">
                <a:tc>
                  <a:txBody>
                    <a:bodyPr/>
                    <a:lstStyle/>
                    <a:p>
                      <a:pPr marL="0" indent="0">
                        <a:buNone/>
                      </a:pPr>
                      <a:r>
                        <a:rPr lang="en-US" sz="1200" dirty="0">
                          <a:solidFill>
                            <a:srgbClr val="252B2B"/>
                          </a:solidFill>
                          <a:latin typeface="Arial" pitchFamily="34" charset="0"/>
                          <a:ea typeface="Arial" pitchFamily="34" charset="-122"/>
                          <a:cs typeface="Arial" pitchFamily="34" charset="-120"/>
                        </a:rPr>
                        <a:t>Coste mensual por hogar (nube, SMS, soporte)</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200" dirty="0">
                          <a:solidFill>
                            <a:srgbClr val="252B2B"/>
                          </a:solidFill>
                          <a:latin typeface="Arial" pitchFamily="34" charset="0"/>
                          <a:ea typeface="Arial" pitchFamily="34" charset="-122"/>
                          <a:cs typeface="Arial" pitchFamily="34" charset="-120"/>
                        </a:rPr>
                        <a:t>~27 €/mes</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200" dirty="0">
                          <a:solidFill>
                            <a:srgbClr val="252B2B"/>
                          </a:solidFill>
                          <a:latin typeface="Arial" pitchFamily="34" charset="0"/>
                          <a:ea typeface="Arial" pitchFamily="34" charset="-122"/>
                          <a:cs typeface="Arial" pitchFamily="34" charset="-120"/>
                        </a:rPr>
                        <a:t>Costes fijos de la empresa, sin sueldos</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tc>
                  <a:txBody>
                    <a:bodyPr/>
                    <a:lstStyle/>
                    <a:p>
                      <a:pPr marL="0" indent="0">
                        <a:buNone/>
                      </a:pPr>
                      <a:r>
                        <a:rPr lang="en-US" sz="1200" dirty="0">
                          <a:solidFill>
                            <a:srgbClr val="252B2B"/>
                          </a:solidFill>
                          <a:latin typeface="Arial" pitchFamily="34" charset="0"/>
                          <a:ea typeface="Arial" pitchFamily="34" charset="-122"/>
                          <a:cs typeface="Arial" pitchFamily="34" charset="-120"/>
                        </a:rPr>
                        <a:t>~526 €/mes</a:t>
                      </a:r>
                      <a:endParaRPr lang="en-US" sz="1200" dirty="0">
                        <a:latin typeface="Arial" charset="0"/>
                        <a:ea typeface="Arial" charset="0"/>
                        <a:cs typeface="Arial" charset="0"/>
                      </a:endParaRPr>
                    </a:p>
                  </a:txBody>
                  <a:tcPr marL="73152" marR="73152" marT="27432" marB="27432" anchor="ctr">
                    <a:lnL w="9525" cap="flat" cmpd="sng" algn="ctr">
                      <a:solidFill>
                        <a:srgbClr val="C3D5C8"/>
                      </a:solidFill>
                      <a:prstDash val="solid"/>
                      <a:round/>
                      <a:headEnd type="none" w="med" len="med"/>
                      <a:tailEnd type="none" w="med" len="med"/>
                    </a:lnL>
                    <a:lnR w="9525" cap="flat" cmpd="sng" algn="ctr">
                      <a:solidFill>
                        <a:srgbClr val="C3D5C8"/>
                      </a:solidFill>
                      <a:prstDash val="solid"/>
                      <a:round/>
                      <a:headEnd type="none" w="med" len="med"/>
                      <a:tailEnd type="none" w="med" len="med"/>
                    </a:lnR>
                    <a:lnT w="9525" cap="flat" cmpd="sng" algn="ctr">
                      <a:solidFill>
                        <a:srgbClr val="C3D5C8"/>
                      </a:solidFill>
                      <a:prstDash val="solid"/>
                      <a:round/>
                      <a:headEnd type="none" w="med" len="med"/>
                      <a:tailEnd type="none" w="med" len="med"/>
                    </a:lnT>
                    <a:lnB w="9525" cap="flat" cmpd="sng" algn="ctr">
                      <a:solidFill>
                        <a:srgbClr val="C3D5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Dato eco 1"/>
          <p:cNvSpPr/>
          <p:nvPr/>
        </p:nvSpPr>
        <p:spPr>
          <a:xfrm>
            <a:off x="5486400" y="1097280"/>
            <a:ext cx="1527048" cy="1325880"/>
          </a:xfrm>
          <a:prstGeom prst="rect">
            <a:avLst/>
          </a:prstGeom>
          <a:solidFill>
            <a:schemeClr val="accent2"/>
          </a:solidFill>
          <a:ln/>
        </p:spPr>
        <p:txBody>
          <a:bodyPr/>
          <a:lstStyle/>
          <a:p>
            <a:endParaRPr lang="es-ES"/>
          </a:p>
        </p:txBody>
      </p:sp>
      <p:sp>
        <p:nvSpPr>
          <p:cNvPr id="5" name="Cifra eco 1"/>
          <p:cNvSpPr txBox="1"/>
          <p:nvPr/>
        </p:nvSpPr>
        <p:spPr>
          <a:xfrm>
            <a:off x="5596128" y="1234440"/>
            <a:ext cx="1325880" cy="502920"/>
          </a:xfrm>
          <a:prstGeom prst="rect">
            <a:avLst/>
          </a:prstGeom>
          <a:noFill/>
          <a:ln/>
        </p:spPr>
        <p:txBody>
          <a:bodyPr wrap="square" lIns="0" tIns="0" rIns="0" bIns="0" rtlCol="0" anchor="t"/>
          <a:lstStyle/>
          <a:p>
            <a:pPr marL="0" indent="0">
              <a:buNone/>
            </a:pPr>
            <a:r>
              <a:rPr lang="en-US" sz="2000" b="1" dirty="0">
                <a:solidFill>
                  <a:schemeClr val="tx2"/>
                </a:solidFill>
              </a:rPr>
              <a:t>51-57 €</a:t>
            </a:r>
            <a:endParaRPr lang="en-US" sz="2000" dirty="0"/>
          </a:p>
        </p:txBody>
      </p:sp>
      <p:sp>
        <p:nvSpPr>
          <p:cNvPr id="6" name="Etiqueta eco 1"/>
          <p:cNvSpPr txBox="1"/>
          <p:nvPr/>
        </p:nvSpPr>
        <p:spPr>
          <a:xfrm>
            <a:off x="5596128" y="1783080"/>
            <a:ext cx="1325880" cy="548640"/>
          </a:xfrm>
          <a:prstGeom prst="rect">
            <a:avLst/>
          </a:prstGeom>
          <a:noFill/>
          <a:ln/>
        </p:spPr>
        <p:txBody>
          <a:bodyPr wrap="square" lIns="0" tIns="0" rIns="0" bIns="0" rtlCol="0" anchor="t"/>
          <a:lstStyle/>
          <a:p>
            <a:pPr marL="0" indent="0">
              <a:buNone/>
            </a:pPr>
            <a:r>
              <a:rPr lang="en-US" sz="1100" dirty="0">
                <a:solidFill>
                  <a:schemeClr val="tx1"/>
                </a:solidFill>
              </a:rPr>
              <a:t>precio mínimo al mes</a:t>
            </a:r>
            <a:endParaRPr lang="en-US" sz="1100" dirty="0"/>
          </a:p>
        </p:txBody>
      </p:sp>
      <p:sp>
        <p:nvSpPr>
          <p:cNvPr id="7" name="Dato eco 2"/>
          <p:cNvSpPr/>
          <p:nvPr/>
        </p:nvSpPr>
        <p:spPr>
          <a:xfrm>
            <a:off x="7104888" y="1097280"/>
            <a:ext cx="1527048" cy="1325880"/>
          </a:xfrm>
          <a:prstGeom prst="rect">
            <a:avLst/>
          </a:prstGeom>
          <a:solidFill>
            <a:schemeClr val="accent2"/>
          </a:solidFill>
          <a:ln/>
        </p:spPr>
        <p:txBody>
          <a:bodyPr/>
          <a:lstStyle/>
          <a:p>
            <a:endParaRPr lang="es-ES"/>
          </a:p>
        </p:txBody>
      </p:sp>
      <p:sp>
        <p:nvSpPr>
          <p:cNvPr id="8" name="Cifra eco 2"/>
          <p:cNvSpPr txBox="1"/>
          <p:nvPr/>
        </p:nvSpPr>
        <p:spPr>
          <a:xfrm>
            <a:off x="7214616" y="1234440"/>
            <a:ext cx="1325880" cy="502920"/>
          </a:xfrm>
          <a:prstGeom prst="rect">
            <a:avLst/>
          </a:prstGeom>
          <a:noFill/>
          <a:ln/>
        </p:spPr>
        <p:txBody>
          <a:bodyPr wrap="square" lIns="0" tIns="0" rIns="0" bIns="0" rtlCol="0" anchor="t"/>
          <a:lstStyle/>
          <a:p>
            <a:pPr marL="0" indent="0">
              <a:buNone/>
            </a:pPr>
            <a:r>
              <a:rPr lang="en-US" sz="2000" b="1" dirty="0">
                <a:solidFill>
                  <a:schemeClr val="tx2"/>
                </a:solidFill>
              </a:rPr>
              <a:t>20-25</a:t>
            </a:r>
            <a:endParaRPr lang="en-US" sz="2000" dirty="0"/>
          </a:p>
        </p:txBody>
      </p:sp>
      <p:sp>
        <p:nvSpPr>
          <p:cNvPr id="3" name="Etiqueta eco 2"/>
          <p:cNvSpPr txBox="1"/>
          <p:nvPr/>
        </p:nvSpPr>
        <p:spPr>
          <a:xfrm>
            <a:off x="7214616" y="1783080"/>
            <a:ext cx="1325880" cy="548640"/>
          </a:xfrm>
          <a:prstGeom prst="rect">
            <a:avLst/>
          </a:prstGeom>
          <a:noFill/>
          <a:ln/>
        </p:spPr>
        <p:txBody>
          <a:bodyPr wrap="square" lIns="0" tIns="0" rIns="0" bIns="0" rtlCol="0" anchor="t"/>
          <a:lstStyle/>
          <a:p>
            <a:pPr marL="0" indent="0">
              <a:buNone/>
            </a:pPr>
            <a:r>
              <a:rPr lang="en-US" sz="1100" dirty="0">
                <a:solidFill>
                  <a:schemeClr val="tx1"/>
                </a:solidFill>
              </a:rPr>
              <a:t>hogares para cubrir gastos</a:t>
            </a:r>
            <a:endParaRPr lang="en-US" sz="1100" dirty="0"/>
          </a:p>
        </p:txBody>
      </p:sp>
      <p:sp>
        <p:nvSpPr>
          <p:cNvPr id="10" name="Dato eco 3"/>
          <p:cNvSpPr/>
          <p:nvPr/>
        </p:nvSpPr>
        <p:spPr>
          <a:xfrm>
            <a:off x="5486400" y="2560320"/>
            <a:ext cx="1527048" cy="1325880"/>
          </a:xfrm>
          <a:prstGeom prst="rect">
            <a:avLst/>
          </a:prstGeom>
          <a:solidFill>
            <a:schemeClr val="accent3"/>
          </a:solidFill>
          <a:ln/>
        </p:spPr>
        <p:txBody>
          <a:bodyPr/>
          <a:lstStyle/>
          <a:p>
            <a:endParaRPr lang="es-ES"/>
          </a:p>
        </p:txBody>
      </p:sp>
      <p:sp>
        <p:nvSpPr>
          <p:cNvPr id="11" name="Cifra eco 3"/>
          <p:cNvSpPr txBox="1"/>
          <p:nvPr/>
        </p:nvSpPr>
        <p:spPr>
          <a:xfrm>
            <a:off x="5596128" y="2697480"/>
            <a:ext cx="1325880" cy="502920"/>
          </a:xfrm>
          <a:prstGeom prst="rect">
            <a:avLst/>
          </a:prstGeom>
          <a:noFill/>
          <a:ln/>
        </p:spPr>
        <p:txBody>
          <a:bodyPr wrap="square" lIns="0" tIns="0" rIns="0" bIns="0" rtlCol="0" anchor="t"/>
          <a:lstStyle/>
          <a:p>
            <a:pPr marL="0" indent="0">
              <a:buNone/>
            </a:pPr>
            <a:r>
              <a:rPr lang="en-US" sz="2000" b="1" dirty="0">
                <a:solidFill>
                  <a:schemeClr val="tx2"/>
                </a:solidFill>
              </a:rPr>
              <a:t>~170</a:t>
            </a:r>
            <a:endParaRPr lang="en-US" sz="2000" dirty="0"/>
          </a:p>
        </p:txBody>
      </p:sp>
      <p:sp>
        <p:nvSpPr>
          <p:cNvPr id="12" name="Etiqueta eco 3"/>
          <p:cNvSpPr txBox="1"/>
          <p:nvPr/>
        </p:nvSpPr>
        <p:spPr>
          <a:xfrm>
            <a:off x="5596128" y="3246120"/>
            <a:ext cx="1325880" cy="548640"/>
          </a:xfrm>
          <a:prstGeom prst="rect">
            <a:avLst/>
          </a:prstGeom>
          <a:noFill/>
          <a:ln/>
        </p:spPr>
        <p:txBody>
          <a:bodyPr wrap="square" lIns="0" tIns="0" rIns="0" bIns="0" rtlCol="0" anchor="t"/>
          <a:lstStyle/>
          <a:p>
            <a:pPr marL="0" indent="0">
              <a:buNone/>
            </a:pPr>
            <a:r>
              <a:rPr lang="en-US" sz="1100" dirty="0">
                <a:solidFill>
                  <a:schemeClr val="tx1"/>
                </a:solidFill>
              </a:rPr>
              <a:t>hogares para pagar un sueldo</a:t>
            </a:r>
            <a:endParaRPr lang="en-US" sz="1100" dirty="0"/>
          </a:p>
        </p:txBody>
      </p:sp>
      <p:sp>
        <p:nvSpPr>
          <p:cNvPr id="13" name="Dato eco 4"/>
          <p:cNvSpPr/>
          <p:nvPr/>
        </p:nvSpPr>
        <p:spPr>
          <a:xfrm>
            <a:off x="7104888" y="2560320"/>
            <a:ext cx="1527048" cy="1325880"/>
          </a:xfrm>
          <a:prstGeom prst="rect">
            <a:avLst/>
          </a:prstGeom>
          <a:solidFill>
            <a:schemeClr val="accent3"/>
          </a:solidFill>
          <a:ln/>
        </p:spPr>
        <p:txBody>
          <a:bodyPr/>
          <a:lstStyle/>
          <a:p>
            <a:endParaRPr lang="es-ES"/>
          </a:p>
        </p:txBody>
      </p:sp>
      <p:sp>
        <p:nvSpPr>
          <p:cNvPr id="14" name="Cifra eco 4"/>
          <p:cNvSpPr txBox="1"/>
          <p:nvPr/>
        </p:nvSpPr>
        <p:spPr>
          <a:xfrm>
            <a:off x="7214616" y="2697480"/>
            <a:ext cx="1325880" cy="502920"/>
          </a:xfrm>
          <a:prstGeom prst="rect">
            <a:avLst/>
          </a:prstGeom>
          <a:noFill/>
          <a:ln/>
        </p:spPr>
        <p:txBody>
          <a:bodyPr wrap="square" lIns="0" tIns="0" rIns="0" bIns="0" rtlCol="0" anchor="t"/>
          <a:lstStyle/>
          <a:p>
            <a:pPr marL="0" indent="0">
              <a:buNone/>
            </a:pPr>
            <a:r>
              <a:rPr lang="en-US" sz="2000" b="1" dirty="0">
                <a:solidFill>
                  <a:schemeClr val="tx2"/>
                </a:solidFill>
              </a:rPr>
              <a:t>38-67 k€</a:t>
            </a:r>
            <a:endParaRPr lang="en-US" sz="2000" dirty="0"/>
          </a:p>
        </p:txBody>
      </p:sp>
      <p:sp>
        <p:nvSpPr>
          <p:cNvPr id="15" name="Etiqueta eco 4"/>
          <p:cNvSpPr txBox="1"/>
          <p:nvPr/>
        </p:nvSpPr>
        <p:spPr>
          <a:xfrm>
            <a:off x="7214616" y="3246120"/>
            <a:ext cx="1325880" cy="548640"/>
          </a:xfrm>
          <a:prstGeom prst="rect">
            <a:avLst/>
          </a:prstGeom>
          <a:noFill/>
          <a:ln/>
        </p:spPr>
        <p:txBody>
          <a:bodyPr wrap="square" lIns="0" tIns="0" rIns="0" bIns="0" rtlCol="0" anchor="t"/>
          <a:lstStyle/>
          <a:p>
            <a:pPr marL="0" indent="0">
              <a:buNone/>
            </a:pPr>
            <a:r>
              <a:rPr lang="en-US" sz="1100" dirty="0">
                <a:solidFill>
                  <a:schemeClr val="tx1"/>
                </a:solidFill>
              </a:rPr>
              <a:t>de caja necesaria en 3 años</a:t>
            </a:r>
            <a:endParaRPr lang="en-US" sz="1100" dirty="0"/>
          </a:p>
        </p:txBody>
      </p:sp>
      <p:sp>
        <p:nvSpPr>
          <p:cNvPr id="16" name="Nota al pie"/>
          <p:cNvSpPr txBox="1"/>
          <p:nvPr/>
        </p:nvSpPr>
        <p:spPr>
          <a:xfrm>
            <a:off x="1234440" y="4690872"/>
            <a:ext cx="6858000" cy="292608"/>
          </a:xfrm>
          <a:prstGeom prst="rect">
            <a:avLst/>
          </a:prstGeom>
          <a:noFill/>
          <a:ln/>
        </p:spPr>
        <p:txBody>
          <a:bodyPr wrap="square" lIns="0" tIns="0" rIns="0" bIns="0" rtlCol="0" anchor="ctr"/>
          <a:lstStyle/>
          <a:p>
            <a:pPr marL="0" indent="0">
              <a:buNone/>
            </a:pPr>
            <a:r>
              <a:rPr lang="en-US" sz="1000" dirty="0">
                <a:solidFill>
                  <a:schemeClr val="accent5"/>
                </a:solidFill>
              </a:rPr>
              <a:t>Estimaciones de Vita_unit_economics.xlsx. Por confirmar: nube por hogar (podría subir el mínimo a ~160 €) y cuota de autónomos.</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Puntos de dolor de cómo trabajamos</a:t>
            </a:r>
            <a:endParaRPr lang="en-US" sz="3000" dirty="0"/>
          </a:p>
        </p:txBody>
      </p:sp>
      <p:sp>
        <p:nvSpPr>
          <p:cNvPr id="3" name="Dolor 1"/>
          <p:cNvSpPr/>
          <p:nvPr/>
        </p:nvSpPr>
        <p:spPr>
          <a:xfrm>
            <a:off x="457200" y="1143000"/>
            <a:ext cx="2606040" cy="1463040"/>
          </a:xfrm>
          <a:prstGeom prst="rect">
            <a:avLst/>
          </a:prstGeom>
          <a:solidFill>
            <a:schemeClr val="bg1"/>
          </a:solidFill>
          <a:ln/>
        </p:spPr>
        <p:txBody>
          <a:bodyPr/>
          <a:lstStyle/>
          <a:p>
            <a:endParaRPr lang="es-ES"/>
          </a:p>
        </p:txBody>
      </p:sp>
      <p:sp>
        <p:nvSpPr>
          <p:cNvPr id="4" name="Icono dolor 1 fondo"/>
          <p:cNvSpPr/>
          <p:nvPr/>
        </p:nvSpPr>
        <p:spPr>
          <a:xfrm>
            <a:off x="640080" y="1325880"/>
            <a:ext cx="457200" cy="457200"/>
          </a:xfrm>
          <a:prstGeom prst="rect">
            <a:avLst/>
          </a:prstGeom>
          <a:solidFill>
            <a:srgbClr val="F5E3CC"/>
          </a:solidFill>
          <a:ln/>
        </p:spPr>
        <p:txBody>
          <a:bodyPr/>
          <a:lstStyle/>
          <a:p>
            <a:endParaRPr lang="es-ES"/>
          </a:p>
        </p:txBody>
      </p:sp>
      <p:pic>
        <p:nvPicPr>
          <p:cNvPr id="5" name="Icono dolor 1 icono" descr="preencoded.png"/>
          <p:cNvPicPr>
            <a:picLocks noChangeAspect="1"/>
          </p:cNvPicPr>
          <p:nvPr/>
        </p:nvPicPr>
        <p:blipFill>
          <a:blip r:embed="rId3"/>
          <a:stretch>
            <a:fillRect/>
          </a:stretch>
        </p:blipFill>
        <p:spPr>
          <a:xfrm>
            <a:off x="749808" y="1435608"/>
            <a:ext cx="237744" cy="237744"/>
          </a:xfrm>
          <a:prstGeom prst="rect">
            <a:avLst/>
          </a:prstGeom>
        </p:spPr>
      </p:pic>
      <p:sp>
        <p:nvSpPr>
          <p:cNvPr id="6" name="Dolor titulo 1"/>
          <p:cNvSpPr txBox="1"/>
          <p:nvPr/>
        </p:nvSpPr>
        <p:spPr>
          <a:xfrm>
            <a:off x="1234440" y="1325880"/>
            <a:ext cx="1691640" cy="502920"/>
          </a:xfrm>
          <a:prstGeom prst="rect">
            <a:avLst/>
          </a:prstGeom>
          <a:noFill/>
          <a:ln/>
        </p:spPr>
        <p:txBody>
          <a:bodyPr wrap="square" lIns="0" tIns="0" rIns="0" bIns="0" rtlCol="0" anchor="ctr"/>
          <a:lstStyle/>
          <a:p>
            <a:pPr marL="0" indent="0">
              <a:buNone/>
            </a:pPr>
            <a:r>
              <a:rPr lang="en-US" sz="1300" b="1" dirty="0">
                <a:solidFill>
                  <a:schemeClr val="tx2"/>
                </a:solidFill>
              </a:rPr>
              <a:t>Ideas sin filtro ni fecha</a:t>
            </a:r>
            <a:endParaRPr lang="en-US" sz="1300" dirty="0"/>
          </a:p>
        </p:txBody>
      </p:sp>
      <p:sp>
        <p:nvSpPr>
          <p:cNvPr id="7" name="Dolor texto 1"/>
          <p:cNvSpPr txBox="1"/>
          <p:nvPr/>
        </p:nvSpPr>
        <p:spPr>
          <a:xfrm>
            <a:off x="640080" y="1920240"/>
            <a:ext cx="2240280" cy="640080"/>
          </a:xfrm>
          <a:prstGeom prst="rect">
            <a:avLst/>
          </a:prstGeom>
          <a:noFill/>
          <a:ln/>
        </p:spPr>
        <p:txBody>
          <a:bodyPr wrap="square" lIns="0" tIns="0" rIns="0" bIns="0" rtlCol="0" anchor="t"/>
          <a:lstStyle/>
          <a:p>
            <a:pPr marL="0" indent="0">
              <a:buNone/>
            </a:pPr>
            <a:r>
              <a:rPr lang="en-US" sz="1100" dirty="0">
                <a:solidFill>
                  <a:schemeClr val="tx1"/>
                </a:solidFill>
              </a:rPr>
              <a:t>Todo parece prioritario y no hay un objetivo comercial</a:t>
            </a:r>
            <a:endParaRPr lang="en-US" sz="1100" dirty="0"/>
          </a:p>
        </p:txBody>
      </p:sp>
      <p:sp>
        <p:nvSpPr>
          <p:cNvPr id="8" name="Dolor 2"/>
          <p:cNvSpPr/>
          <p:nvPr/>
        </p:nvSpPr>
        <p:spPr>
          <a:xfrm>
            <a:off x="3246120" y="1143000"/>
            <a:ext cx="2606040" cy="1463040"/>
          </a:xfrm>
          <a:prstGeom prst="rect">
            <a:avLst/>
          </a:prstGeom>
          <a:solidFill>
            <a:schemeClr val="bg1"/>
          </a:solidFill>
          <a:ln/>
        </p:spPr>
        <p:txBody>
          <a:bodyPr/>
          <a:lstStyle/>
          <a:p>
            <a:endParaRPr lang="es-ES"/>
          </a:p>
        </p:txBody>
      </p:sp>
      <p:sp>
        <p:nvSpPr>
          <p:cNvPr id="9" name="Icono dolor 2 fondo"/>
          <p:cNvSpPr/>
          <p:nvPr/>
        </p:nvSpPr>
        <p:spPr>
          <a:xfrm>
            <a:off x="3429000" y="1325880"/>
            <a:ext cx="457200" cy="457200"/>
          </a:xfrm>
          <a:prstGeom prst="rect">
            <a:avLst/>
          </a:prstGeom>
          <a:solidFill>
            <a:srgbClr val="F5E3CC"/>
          </a:solidFill>
          <a:ln/>
        </p:spPr>
        <p:txBody>
          <a:bodyPr/>
          <a:lstStyle/>
          <a:p>
            <a:endParaRPr lang="es-ES"/>
          </a:p>
        </p:txBody>
      </p:sp>
      <p:pic>
        <p:nvPicPr>
          <p:cNvPr id="10" name="Icono dolor 2 icono" descr="preencoded.png"/>
          <p:cNvPicPr>
            <a:picLocks noChangeAspect="1"/>
          </p:cNvPicPr>
          <p:nvPr/>
        </p:nvPicPr>
        <p:blipFill>
          <a:blip r:embed="rId4"/>
          <a:stretch>
            <a:fillRect/>
          </a:stretch>
        </p:blipFill>
        <p:spPr>
          <a:xfrm>
            <a:off x="3538728" y="1435608"/>
            <a:ext cx="237744" cy="237744"/>
          </a:xfrm>
          <a:prstGeom prst="rect">
            <a:avLst/>
          </a:prstGeom>
        </p:spPr>
      </p:pic>
      <p:sp>
        <p:nvSpPr>
          <p:cNvPr id="11" name="Dolor titulo 2"/>
          <p:cNvSpPr txBox="1"/>
          <p:nvPr/>
        </p:nvSpPr>
        <p:spPr>
          <a:xfrm>
            <a:off x="4023360" y="1325880"/>
            <a:ext cx="1691640" cy="502920"/>
          </a:xfrm>
          <a:prstGeom prst="rect">
            <a:avLst/>
          </a:prstGeom>
          <a:noFill/>
          <a:ln/>
        </p:spPr>
        <p:txBody>
          <a:bodyPr wrap="square" lIns="0" tIns="0" rIns="0" bIns="0" rtlCol="0" anchor="ctr"/>
          <a:lstStyle/>
          <a:p>
            <a:pPr marL="0" indent="0">
              <a:buNone/>
            </a:pPr>
            <a:r>
              <a:rPr lang="en-US" sz="1300" b="1" dirty="0">
                <a:solidFill>
                  <a:schemeClr val="tx2"/>
                </a:solidFill>
              </a:rPr>
              <a:t>Una sola persona</a:t>
            </a:r>
            <a:endParaRPr lang="en-US" sz="1300" dirty="0"/>
          </a:p>
        </p:txBody>
      </p:sp>
      <p:sp>
        <p:nvSpPr>
          <p:cNvPr id="12" name="Dolor texto 2"/>
          <p:cNvSpPr txBox="1"/>
          <p:nvPr/>
        </p:nvSpPr>
        <p:spPr>
          <a:xfrm>
            <a:off x="3429000" y="1920240"/>
            <a:ext cx="2240280" cy="640080"/>
          </a:xfrm>
          <a:prstGeom prst="rect">
            <a:avLst/>
          </a:prstGeom>
          <a:noFill/>
          <a:ln/>
        </p:spPr>
        <p:txBody>
          <a:bodyPr wrap="square" lIns="0" tIns="0" rIns="0" bIns="0" rtlCol="0" anchor="t"/>
          <a:lstStyle/>
          <a:p>
            <a:pPr marL="0" indent="0">
              <a:buNone/>
            </a:pPr>
            <a:r>
              <a:rPr lang="en-US" sz="1100" dirty="0">
                <a:solidFill>
                  <a:schemeClr val="tx1"/>
                </a:solidFill>
              </a:rPr>
              <a:t>Escribe y despliega todo; si falta, el producto se para</a:t>
            </a:r>
            <a:endParaRPr lang="en-US" sz="1100" dirty="0"/>
          </a:p>
        </p:txBody>
      </p:sp>
      <p:sp>
        <p:nvSpPr>
          <p:cNvPr id="13" name="Dolor 3"/>
          <p:cNvSpPr/>
          <p:nvPr/>
        </p:nvSpPr>
        <p:spPr>
          <a:xfrm>
            <a:off x="6035040" y="1143000"/>
            <a:ext cx="2606040" cy="1463040"/>
          </a:xfrm>
          <a:prstGeom prst="rect">
            <a:avLst/>
          </a:prstGeom>
          <a:solidFill>
            <a:schemeClr val="bg1"/>
          </a:solidFill>
          <a:ln/>
        </p:spPr>
        <p:txBody>
          <a:bodyPr/>
          <a:lstStyle/>
          <a:p>
            <a:endParaRPr lang="es-ES"/>
          </a:p>
        </p:txBody>
      </p:sp>
      <p:sp>
        <p:nvSpPr>
          <p:cNvPr id="14" name="Icono dolor 3 fondo"/>
          <p:cNvSpPr/>
          <p:nvPr/>
        </p:nvSpPr>
        <p:spPr>
          <a:xfrm>
            <a:off x="6217920" y="1325880"/>
            <a:ext cx="457200" cy="457200"/>
          </a:xfrm>
          <a:prstGeom prst="rect">
            <a:avLst/>
          </a:prstGeom>
          <a:solidFill>
            <a:srgbClr val="F5E3CC"/>
          </a:solidFill>
          <a:ln/>
        </p:spPr>
        <p:txBody>
          <a:bodyPr/>
          <a:lstStyle/>
          <a:p>
            <a:endParaRPr lang="es-ES"/>
          </a:p>
        </p:txBody>
      </p:sp>
      <p:pic>
        <p:nvPicPr>
          <p:cNvPr id="15" name="Icono dolor 3 icono" descr="preencoded.png"/>
          <p:cNvPicPr>
            <a:picLocks noChangeAspect="1"/>
          </p:cNvPicPr>
          <p:nvPr/>
        </p:nvPicPr>
        <p:blipFill>
          <a:blip r:embed="rId5"/>
          <a:stretch>
            <a:fillRect/>
          </a:stretch>
        </p:blipFill>
        <p:spPr>
          <a:xfrm>
            <a:off x="6327648" y="1435608"/>
            <a:ext cx="237744" cy="237744"/>
          </a:xfrm>
          <a:prstGeom prst="rect">
            <a:avLst/>
          </a:prstGeom>
        </p:spPr>
      </p:pic>
      <p:sp>
        <p:nvSpPr>
          <p:cNvPr id="16" name="Dolor titulo 3"/>
          <p:cNvSpPr txBox="1"/>
          <p:nvPr/>
        </p:nvSpPr>
        <p:spPr>
          <a:xfrm>
            <a:off x="6812280" y="1325880"/>
            <a:ext cx="1691640" cy="502920"/>
          </a:xfrm>
          <a:prstGeom prst="rect">
            <a:avLst/>
          </a:prstGeom>
          <a:noFill/>
          <a:ln/>
        </p:spPr>
        <p:txBody>
          <a:bodyPr wrap="square" lIns="0" tIns="0" rIns="0" bIns="0" rtlCol="0" anchor="ctr"/>
          <a:lstStyle/>
          <a:p>
            <a:pPr marL="0" indent="0">
              <a:buNone/>
            </a:pPr>
            <a:r>
              <a:rPr lang="en-US" sz="1300" b="1" dirty="0">
                <a:solidFill>
                  <a:schemeClr val="tx2"/>
                </a:solidFill>
              </a:rPr>
              <a:t>Trabajo a ráfagas</a:t>
            </a:r>
            <a:endParaRPr lang="en-US" sz="1300" dirty="0"/>
          </a:p>
        </p:txBody>
      </p:sp>
      <p:sp>
        <p:nvSpPr>
          <p:cNvPr id="17" name="Dolor texto 3"/>
          <p:cNvSpPr txBox="1"/>
          <p:nvPr/>
        </p:nvSpPr>
        <p:spPr>
          <a:xfrm>
            <a:off x="6217920" y="1920240"/>
            <a:ext cx="2240280" cy="640080"/>
          </a:xfrm>
          <a:prstGeom prst="rect">
            <a:avLst/>
          </a:prstGeom>
          <a:noFill/>
          <a:ln/>
        </p:spPr>
        <p:txBody>
          <a:bodyPr wrap="square" lIns="0" tIns="0" rIns="0" bIns="0" rtlCol="0" anchor="t"/>
          <a:lstStyle/>
          <a:p>
            <a:pPr marL="0" indent="0">
              <a:buNone/>
            </a:pPr>
            <a:r>
              <a:rPr lang="en-US" sz="1100" dirty="0">
                <a:solidFill>
                  <a:schemeClr val="tx1"/>
                </a:solidFill>
              </a:rPr>
              <a:t>Semanas intensas, huecos largos y cosas a medias</a:t>
            </a:r>
            <a:endParaRPr lang="en-US" sz="1100" dirty="0"/>
          </a:p>
        </p:txBody>
      </p:sp>
      <p:sp>
        <p:nvSpPr>
          <p:cNvPr id="18" name="Dolor 4"/>
          <p:cNvSpPr/>
          <p:nvPr/>
        </p:nvSpPr>
        <p:spPr>
          <a:xfrm>
            <a:off x="457200" y="2743200"/>
            <a:ext cx="2606040" cy="1463040"/>
          </a:xfrm>
          <a:prstGeom prst="rect">
            <a:avLst/>
          </a:prstGeom>
          <a:solidFill>
            <a:schemeClr val="bg1"/>
          </a:solidFill>
          <a:ln/>
        </p:spPr>
        <p:txBody>
          <a:bodyPr/>
          <a:lstStyle/>
          <a:p>
            <a:endParaRPr lang="es-ES"/>
          </a:p>
        </p:txBody>
      </p:sp>
      <p:sp>
        <p:nvSpPr>
          <p:cNvPr id="19" name="Icono dolor 4 fondo"/>
          <p:cNvSpPr/>
          <p:nvPr/>
        </p:nvSpPr>
        <p:spPr>
          <a:xfrm>
            <a:off x="640080" y="2926080"/>
            <a:ext cx="457200" cy="457200"/>
          </a:xfrm>
          <a:prstGeom prst="rect">
            <a:avLst/>
          </a:prstGeom>
          <a:solidFill>
            <a:srgbClr val="F5E3CC"/>
          </a:solidFill>
          <a:ln/>
        </p:spPr>
        <p:txBody>
          <a:bodyPr/>
          <a:lstStyle/>
          <a:p>
            <a:endParaRPr lang="es-ES"/>
          </a:p>
        </p:txBody>
      </p:sp>
      <p:pic>
        <p:nvPicPr>
          <p:cNvPr id="20" name="Icono dolor 4 icono" descr="preencoded.png"/>
          <p:cNvPicPr>
            <a:picLocks noChangeAspect="1"/>
          </p:cNvPicPr>
          <p:nvPr/>
        </p:nvPicPr>
        <p:blipFill>
          <a:blip r:embed="rId6"/>
          <a:stretch>
            <a:fillRect/>
          </a:stretch>
        </p:blipFill>
        <p:spPr>
          <a:xfrm>
            <a:off x="749808" y="3035808"/>
            <a:ext cx="237744" cy="237744"/>
          </a:xfrm>
          <a:prstGeom prst="rect">
            <a:avLst/>
          </a:prstGeom>
        </p:spPr>
      </p:pic>
      <p:sp>
        <p:nvSpPr>
          <p:cNvPr id="21" name="Dolor titulo 4"/>
          <p:cNvSpPr txBox="1"/>
          <p:nvPr/>
        </p:nvSpPr>
        <p:spPr>
          <a:xfrm>
            <a:off x="1234440" y="2926080"/>
            <a:ext cx="1691640" cy="502920"/>
          </a:xfrm>
          <a:prstGeom prst="rect">
            <a:avLst/>
          </a:prstGeom>
          <a:noFill/>
          <a:ln/>
        </p:spPr>
        <p:txBody>
          <a:bodyPr wrap="square" lIns="0" tIns="0" rIns="0" bIns="0" rtlCol="0" anchor="ctr"/>
          <a:lstStyle/>
          <a:p>
            <a:pPr marL="0" indent="0">
              <a:buNone/>
            </a:pPr>
            <a:r>
              <a:rPr lang="en-US" sz="1300" b="1" dirty="0">
                <a:solidFill>
                  <a:schemeClr val="tx2"/>
                </a:solidFill>
              </a:rPr>
              <a:t>Sin red de seguridad</a:t>
            </a:r>
            <a:endParaRPr lang="en-US" sz="1300" dirty="0"/>
          </a:p>
        </p:txBody>
      </p:sp>
      <p:sp>
        <p:nvSpPr>
          <p:cNvPr id="22" name="Dolor texto 4"/>
          <p:cNvSpPr txBox="1"/>
          <p:nvPr/>
        </p:nvSpPr>
        <p:spPr>
          <a:xfrm>
            <a:off x="640080" y="3520440"/>
            <a:ext cx="2240280" cy="640080"/>
          </a:xfrm>
          <a:prstGeom prst="rect">
            <a:avLst/>
          </a:prstGeom>
          <a:noFill/>
          <a:ln/>
        </p:spPr>
        <p:txBody>
          <a:bodyPr wrap="square" lIns="0" tIns="0" rIns="0" bIns="0" rtlCol="0" anchor="t"/>
          <a:lstStyle/>
          <a:p>
            <a:pPr marL="0" indent="0">
              <a:buNone/>
            </a:pPr>
            <a:r>
              <a:rPr lang="en-US" sz="1100" dirty="0">
                <a:solidFill>
                  <a:schemeClr val="tx1"/>
                </a:solidFill>
              </a:rPr>
              <a:t>Sin CI en 3 repos clave, todo directo a main, despliegue desde un portátil</a:t>
            </a:r>
            <a:endParaRPr lang="en-US" sz="1100" dirty="0"/>
          </a:p>
        </p:txBody>
      </p:sp>
      <p:sp>
        <p:nvSpPr>
          <p:cNvPr id="23" name="Dolor 5"/>
          <p:cNvSpPr/>
          <p:nvPr/>
        </p:nvSpPr>
        <p:spPr>
          <a:xfrm>
            <a:off x="3246120" y="2743200"/>
            <a:ext cx="2606040" cy="1463040"/>
          </a:xfrm>
          <a:prstGeom prst="rect">
            <a:avLst/>
          </a:prstGeom>
          <a:solidFill>
            <a:schemeClr val="bg1"/>
          </a:solidFill>
          <a:ln/>
        </p:spPr>
        <p:txBody>
          <a:bodyPr/>
          <a:lstStyle/>
          <a:p>
            <a:endParaRPr lang="es-ES"/>
          </a:p>
        </p:txBody>
      </p:sp>
      <p:sp>
        <p:nvSpPr>
          <p:cNvPr id="24" name="Icono dolor 5 fondo"/>
          <p:cNvSpPr/>
          <p:nvPr/>
        </p:nvSpPr>
        <p:spPr>
          <a:xfrm>
            <a:off x="3429000" y="2926080"/>
            <a:ext cx="457200" cy="457200"/>
          </a:xfrm>
          <a:prstGeom prst="rect">
            <a:avLst/>
          </a:prstGeom>
          <a:solidFill>
            <a:srgbClr val="F5E3CC"/>
          </a:solidFill>
          <a:ln/>
        </p:spPr>
        <p:txBody>
          <a:bodyPr/>
          <a:lstStyle/>
          <a:p>
            <a:endParaRPr lang="es-ES"/>
          </a:p>
        </p:txBody>
      </p:sp>
      <p:pic>
        <p:nvPicPr>
          <p:cNvPr id="25" name="Icono dolor 5 icono" descr="preencoded.png"/>
          <p:cNvPicPr>
            <a:picLocks noChangeAspect="1"/>
          </p:cNvPicPr>
          <p:nvPr/>
        </p:nvPicPr>
        <p:blipFill>
          <a:blip r:embed="rId7"/>
          <a:stretch>
            <a:fillRect/>
          </a:stretch>
        </p:blipFill>
        <p:spPr>
          <a:xfrm>
            <a:off x="3538728" y="3035808"/>
            <a:ext cx="237744" cy="237744"/>
          </a:xfrm>
          <a:prstGeom prst="rect">
            <a:avLst/>
          </a:prstGeom>
        </p:spPr>
      </p:pic>
      <p:sp>
        <p:nvSpPr>
          <p:cNvPr id="26" name="Dolor titulo 5"/>
          <p:cNvSpPr txBox="1"/>
          <p:nvPr/>
        </p:nvSpPr>
        <p:spPr>
          <a:xfrm>
            <a:off x="4023360" y="2926080"/>
            <a:ext cx="1691640" cy="502920"/>
          </a:xfrm>
          <a:prstGeom prst="rect">
            <a:avLst/>
          </a:prstGeom>
          <a:noFill/>
          <a:ln/>
        </p:spPr>
        <p:txBody>
          <a:bodyPr wrap="square" lIns="0" tIns="0" rIns="0" bIns="0" rtlCol="0" anchor="ctr"/>
          <a:lstStyle/>
          <a:p>
            <a:pPr marL="0" indent="0">
              <a:buNone/>
            </a:pPr>
            <a:r>
              <a:rPr lang="en-US" sz="1300" b="1" dirty="0">
                <a:solidFill>
                  <a:schemeClr val="tx2"/>
                </a:solidFill>
              </a:rPr>
              <a:t>Docs sin estado claro</a:t>
            </a:r>
            <a:endParaRPr lang="en-US" sz="1300" dirty="0"/>
          </a:p>
        </p:txBody>
      </p:sp>
      <p:sp>
        <p:nvSpPr>
          <p:cNvPr id="27" name="Dolor texto 5"/>
          <p:cNvSpPr txBox="1"/>
          <p:nvPr/>
        </p:nvSpPr>
        <p:spPr>
          <a:xfrm>
            <a:off x="3429000" y="3520440"/>
            <a:ext cx="2240280" cy="640080"/>
          </a:xfrm>
          <a:prstGeom prst="rect">
            <a:avLst/>
          </a:prstGeom>
          <a:noFill/>
          <a:ln/>
        </p:spPr>
        <p:txBody>
          <a:bodyPr wrap="square" lIns="0" tIns="0" rIns="0" bIns="0" rtlCol="0" anchor="t"/>
          <a:lstStyle/>
          <a:p>
            <a:pPr marL="0" indent="0">
              <a:buNone/>
            </a:pPr>
            <a:r>
              <a:rPr lang="en-US" sz="1100" dirty="0">
                <a:solidFill>
                  <a:schemeClr val="tx1"/>
                </a:solidFill>
              </a:rPr>
              <a:t>Nadie sabe con certeza qué está hecho</a:t>
            </a:r>
            <a:endParaRPr lang="en-US" sz="1100" dirty="0"/>
          </a:p>
        </p:txBody>
      </p:sp>
      <p:sp>
        <p:nvSpPr>
          <p:cNvPr id="28" name="Dolor 6"/>
          <p:cNvSpPr/>
          <p:nvPr/>
        </p:nvSpPr>
        <p:spPr>
          <a:xfrm>
            <a:off x="6035040" y="2743200"/>
            <a:ext cx="2606040" cy="1463040"/>
          </a:xfrm>
          <a:prstGeom prst="rect">
            <a:avLst/>
          </a:prstGeom>
          <a:solidFill>
            <a:schemeClr val="bg1"/>
          </a:solidFill>
          <a:ln/>
        </p:spPr>
        <p:txBody>
          <a:bodyPr/>
          <a:lstStyle/>
          <a:p>
            <a:endParaRPr lang="es-ES"/>
          </a:p>
        </p:txBody>
      </p:sp>
      <p:sp>
        <p:nvSpPr>
          <p:cNvPr id="29" name="Icono dolor 6 fondo"/>
          <p:cNvSpPr/>
          <p:nvPr/>
        </p:nvSpPr>
        <p:spPr>
          <a:xfrm>
            <a:off x="6217920" y="2926080"/>
            <a:ext cx="457200" cy="457200"/>
          </a:xfrm>
          <a:prstGeom prst="rect">
            <a:avLst/>
          </a:prstGeom>
          <a:solidFill>
            <a:srgbClr val="F5E3CC"/>
          </a:solidFill>
          <a:ln/>
        </p:spPr>
        <p:txBody>
          <a:bodyPr/>
          <a:lstStyle/>
          <a:p>
            <a:endParaRPr lang="es-ES"/>
          </a:p>
        </p:txBody>
      </p:sp>
      <p:pic>
        <p:nvPicPr>
          <p:cNvPr id="30" name="Icono dolor 6 icono" descr="preencoded.png"/>
          <p:cNvPicPr>
            <a:picLocks noChangeAspect="1"/>
          </p:cNvPicPr>
          <p:nvPr/>
        </p:nvPicPr>
        <p:blipFill>
          <a:blip r:embed="rId8"/>
          <a:stretch>
            <a:fillRect/>
          </a:stretch>
        </p:blipFill>
        <p:spPr>
          <a:xfrm>
            <a:off x="6327648" y="3035808"/>
            <a:ext cx="237744" cy="237744"/>
          </a:xfrm>
          <a:prstGeom prst="rect">
            <a:avLst/>
          </a:prstGeom>
        </p:spPr>
      </p:pic>
      <p:sp>
        <p:nvSpPr>
          <p:cNvPr id="31" name="Dolor titulo 6"/>
          <p:cNvSpPr txBox="1"/>
          <p:nvPr/>
        </p:nvSpPr>
        <p:spPr>
          <a:xfrm>
            <a:off x="6812280" y="2926080"/>
            <a:ext cx="1691640" cy="502920"/>
          </a:xfrm>
          <a:prstGeom prst="rect">
            <a:avLst/>
          </a:prstGeom>
          <a:noFill/>
          <a:ln/>
        </p:spPr>
        <p:txBody>
          <a:bodyPr wrap="square" lIns="0" tIns="0" rIns="0" bIns="0" rtlCol="0" anchor="ctr"/>
          <a:lstStyle/>
          <a:p>
            <a:pPr marL="0" indent="0">
              <a:buNone/>
            </a:pPr>
            <a:r>
              <a:rPr lang="en-US" sz="1300" b="1" dirty="0">
                <a:solidFill>
                  <a:schemeClr val="tx2"/>
                </a:solidFill>
              </a:rPr>
              <a:t>Fin de semana</a:t>
            </a:r>
            <a:endParaRPr lang="en-US" sz="1300" dirty="0"/>
          </a:p>
        </p:txBody>
      </p:sp>
      <p:sp>
        <p:nvSpPr>
          <p:cNvPr id="32" name="Dolor texto 6"/>
          <p:cNvSpPr txBox="1"/>
          <p:nvPr/>
        </p:nvSpPr>
        <p:spPr>
          <a:xfrm>
            <a:off x="6217920" y="3520440"/>
            <a:ext cx="2240280" cy="640080"/>
          </a:xfrm>
          <a:prstGeom prst="rect">
            <a:avLst/>
          </a:prstGeom>
          <a:noFill/>
          <a:ln/>
        </p:spPr>
        <p:txBody>
          <a:bodyPr wrap="square" lIns="0" tIns="0" rIns="0" bIns="0" rtlCol="0" anchor="t"/>
          <a:lstStyle/>
          <a:p>
            <a:pPr marL="0" indent="0">
              <a:buNone/>
            </a:pPr>
            <a:r>
              <a:rPr lang="en-US" sz="1100" dirty="0">
                <a:solidFill>
                  <a:schemeClr val="tx1"/>
                </a:solidFill>
              </a:rPr>
              <a:t>El 30 % del trabajo se hace en sábado o domingo</a:t>
            </a:r>
            <a:endParaRPr lang="en-US" sz="1100" dirty="0"/>
          </a:p>
        </p:txBody>
      </p:sp>
      <p:sp>
        <p:nvSpPr>
          <p:cNvPr id="33" name="Nota al pie"/>
          <p:cNvSpPr txBox="1"/>
          <p:nvPr/>
        </p:nvSpPr>
        <p:spPr>
          <a:xfrm>
            <a:off x="1234440" y="4690872"/>
            <a:ext cx="6858000" cy="292608"/>
          </a:xfrm>
          <a:prstGeom prst="rect">
            <a:avLst/>
          </a:prstGeom>
          <a:noFill/>
          <a:ln/>
        </p:spPr>
        <p:txBody>
          <a:bodyPr wrap="square" lIns="0" tIns="0" rIns="0" bIns="0" rtlCol="0" anchor="ctr"/>
          <a:lstStyle/>
          <a:p>
            <a:pPr marL="0" indent="0">
              <a:buNone/>
            </a:pPr>
            <a:r>
              <a:rPr lang="en-US" sz="1000" dirty="0">
                <a:solidFill>
                  <a:schemeClr val="accent5"/>
                </a:solidFill>
              </a:rPr>
              <a:t>Lo que funciona y hay que conservar: velocidad, hardware real, infraestructura como código y una base amplia de tests.</a:t>
            </a:r>
            <a:endParaRPr lang="en-US" sz="1000" dirty="0"/>
          </a:p>
        </p:txBody>
      </p:sp>
      <p:sp>
        <p:nvSpPr>
          <p:cNvPr id="34"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a:solidFill>
                  <a:schemeClr val="tx2"/>
                </a:solidFill>
              </a:rPr>
              <a:t>Propuesta: 3 fases hasta 10 hogares de pago</a:t>
            </a:r>
            <a:endParaRPr lang="en-US" sz="3000" dirty="0"/>
          </a:p>
        </p:txBody>
      </p:sp>
      <p:sp>
        <p:nvSpPr>
          <p:cNvPr id="3" name="Fase 1"/>
          <p:cNvSpPr/>
          <p:nvPr/>
        </p:nvSpPr>
        <p:spPr>
          <a:xfrm>
            <a:off x="457200" y="1097280"/>
            <a:ext cx="2606040" cy="3317065"/>
          </a:xfrm>
          <a:prstGeom prst="rect">
            <a:avLst/>
          </a:prstGeom>
          <a:solidFill>
            <a:schemeClr val="accent3"/>
          </a:solidFill>
          <a:ln/>
        </p:spPr>
        <p:txBody>
          <a:bodyPr/>
          <a:lstStyle/>
          <a:p>
            <a:endParaRPr lang="es-ES"/>
          </a:p>
        </p:txBody>
      </p:sp>
      <p:sp>
        <p:nvSpPr>
          <p:cNvPr id="4" name="Codigo fase 1"/>
          <p:cNvSpPr txBox="1"/>
          <p:nvPr/>
        </p:nvSpPr>
        <p:spPr>
          <a:xfrm>
            <a:off x="685800" y="1207008"/>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F0</a:t>
            </a:r>
            <a:endParaRPr lang="en-US" sz="2200" dirty="0"/>
          </a:p>
        </p:txBody>
      </p:sp>
      <p:sp>
        <p:nvSpPr>
          <p:cNvPr id="5" name="Nombre fase 1"/>
          <p:cNvSpPr txBox="1"/>
          <p:nvPr/>
        </p:nvSpPr>
        <p:spPr>
          <a:xfrm>
            <a:off x="685800" y="1627632"/>
            <a:ext cx="2194560" cy="292608"/>
          </a:xfrm>
          <a:prstGeom prst="rect">
            <a:avLst/>
          </a:prstGeom>
          <a:noFill/>
          <a:ln/>
        </p:spPr>
        <p:txBody>
          <a:bodyPr wrap="square" lIns="0" tIns="0" rIns="0" bIns="0" rtlCol="0" anchor="t"/>
          <a:lstStyle/>
          <a:p>
            <a:pPr marL="0" indent="0">
              <a:buNone/>
            </a:pPr>
            <a:r>
              <a:rPr lang="en-US" sz="1500" b="1" dirty="0">
                <a:solidFill>
                  <a:schemeClr val="tx2"/>
                </a:solidFill>
              </a:rPr>
              <a:t>Validar sin código</a:t>
            </a:r>
            <a:endParaRPr lang="en-US" sz="1500" dirty="0"/>
          </a:p>
        </p:txBody>
      </p:sp>
      <p:sp>
        <p:nvSpPr>
          <p:cNvPr id="6" name="Duracion fase 1"/>
          <p:cNvSpPr txBox="1"/>
          <p:nvPr/>
        </p:nvSpPr>
        <p:spPr>
          <a:xfrm>
            <a:off x="685800" y="1938528"/>
            <a:ext cx="2194560" cy="411480"/>
          </a:xfrm>
          <a:prstGeom prst="rect">
            <a:avLst/>
          </a:prstGeom>
          <a:noFill/>
          <a:ln/>
        </p:spPr>
        <p:txBody>
          <a:bodyPr wrap="square" lIns="0" tIns="0" rIns="0" bIns="0" rtlCol="0" anchor="t"/>
          <a:lstStyle/>
          <a:p>
            <a:pPr marL="0" indent="0">
              <a:buNone/>
            </a:pPr>
            <a:r>
              <a:rPr lang="en-US" sz="1100" dirty="0" err="1">
                <a:solidFill>
                  <a:schemeClr val="accent5"/>
                </a:solidFill>
              </a:rPr>
              <a:t>Lidera</a:t>
            </a:r>
            <a:r>
              <a:rPr lang="en-US" sz="1100" dirty="0">
                <a:solidFill>
                  <a:schemeClr val="accent5"/>
                </a:solidFill>
              </a:rPr>
              <a:t> Negocio</a:t>
            </a:r>
            <a:endParaRPr lang="en-US" sz="1100" dirty="0"/>
          </a:p>
        </p:txBody>
      </p:sp>
      <p:sp>
        <p:nvSpPr>
          <p:cNvPr id="7" name="Detalle fase 1"/>
          <p:cNvSpPr txBox="1"/>
          <p:nvPr/>
        </p:nvSpPr>
        <p:spPr>
          <a:xfrm>
            <a:off x="685800" y="2377440"/>
            <a:ext cx="2194560" cy="960120"/>
          </a:xfrm>
          <a:prstGeom prst="rect">
            <a:avLst/>
          </a:prstGeom>
          <a:noFill/>
          <a:ln/>
        </p:spPr>
        <p:txBody>
          <a:bodyPr wrap="square" lIns="0" tIns="0" rIns="0" bIns="0" rtlCol="0" anchor="t"/>
          <a:lstStyle/>
          <a:p>
            <a:pPr marL="0" indent="0">
              <a:buNone/>
            </a:pPr>
            <a:r>
              <a:rPr lang="en-US" sz="1200" dirty="0">
                <a:solidFill>
                  <a:schemeClr val="tx1"/>
                </a:solidFill>
              </a:rPr>
              <a:t>Entrevistas, preventa, medir la nube y probar la cámara en casas del equipo</a:t>
            </a:r>
            <a:endParaRPr lang="en-US" sz="1200" dirty="0"/>
          </a:p>
        </p:txBody>
      </p:sp>
      <p:sp>
        <p:nvSpPr>
          <p:cNvPr id="8" name="Gate fondo 1"/>
          <p:cNvSpPr/>
          <p:nvPr/>
        </p:nvSpPr>
        <p:spPr>
          <a:xfrm>
            <a:off x="594360" y="3520441"/>
            <a:ext cx="2331720" cy="740664"/>
          </a:xfrm>
          <a:prstGeom prst="rect">
            <a:avLst/>
          </a:prstGeom>
          <a:solidFill>
            <a:schemeClr val="tx2"/>
          </a:solidFill>
          <a:ln/>
        </p:spPr>
        <p:txBody>
          <a:bodyPr/>
          <a:lstStyle/>
          <a:p>
            <a:endParaRPr lang="es-ES"/>
          </a:p>
        </p:txBody>
      </p:sp>
      <p:sp>
        <p:nvSpPr>
          <p:cNvPr id="9" name="Gate 1"/>
          <p:cNvSpPr txBox="1"/>
          <p:nvPr/>
        </p:nvSpPr>
        <p:spPr>
          <a:xfrm>
            <a:off x="731520" y="3520441"/>
            <a:ext cx="2103120" cy="740664"/>
          </a:xfrm>
          <a:prstGeom prst="rect">
            <a:avLst/>
          </a:prstGeom>
          <a:noFill/>
          <a:ln/>
        </p:spPr>
        <p:txBody>
          <a:bodyPr wrap="square" lIns="0" tIns="0" rIns="0" bIns="0" rtlCol="0" anchor="ctr"/>
          <a:lstStyle/>
          <a:p>
            <a:pPr marL="0" indent="0">
              <a:buNone/>
            </a:pPr>
            <a:r>
              <a:rPr lang="en-US" sz="1100" b="1" dirty="0">
                <a:solidFill>
                  <a:schemeClr val="bg2"/>
                </a:solidFill>
              </a:rPr>
              <a:t>G0: ≥ 5 preventas a 59 € o más. Si no, aparcamos</a:t>
            </a:r>
            <a:endParaRPr lang="en-US" sz="1100" dirty="0"/>
          </a:p>
        </p:txBody>
      </p:sp>
      <p:sp>
        <p:nvSpPr>
          <p:cNvPr id="10" name="Fase 2"/>
          <p:cNvSpPr/>
          <p:nvPr/>
        </p:nvSpPr>
        <p:spPr>
          <a:xfrm>
            <a:off x="3246120" y="1097280"/>
            <a:ext cx="2606040" cy="3317065"/>
          </a:xfrm>
          <a:prstGeom prst="rect">
            <a:avLst/>
          </a:prstGeom>
          <a:solidFill>
            <a:schemeClr val="bg1"/>
          </a:solidFill>
          <a:ln/>
        </p:spPr>
        <p:txBody>
          <a:bodyPr/>
          <a:lstStyle/>
          <a:p>
            <a:endParaRPr lang="es-ES"/>
          </a:p>
        </p:txBody>
      </p:sp>
      <p:sp>
        <p:nvSpPr>
          <p:cNvPr id="11" name="Codigo fase 2"/>
          <p:cNvSpPr txBox="1"/>
          <p:nvPr/>
        </p:nvSpPr>
        <p:spPr>
          <a:xfrm>
            <a:off x="3474720" y="1207008"/>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F1</a:t>
            </a:r>
            <a:endParaRPr lang="en-US" sz="2200" dirty="0"/>
          </a:p>
        </p:txBody>
      </p:sp>
      <p:sp>
        <p:nvSpPr>
          <p:cNvPr id="12" name="Nombre fase 2"/>
          <p:cNvSpPr txBox="1"/>
          <p:nvPr/>
        </p:nvSpPr>
        <p:spPr>
          <a:xfrm>
            <a:off x="3474720" y="1627632"/>
            <a:ext cx="2194560" cy="292608"/>
          </a:xfrm>
          <a:prstGeom prst="rect">
            <a:avLst/>
          </a:prstGeom>
          <a:noFill/>
          <a:ln/>
        </p:spPr>
        <p:txBody>
          <a:bodyPr wrap="square" lIns="0" tIns="0" rIns="0" bIns="0" rtlCol="0" anchor="t"/>
          <a:lstStyle/>
          <a:p>
            <a:pPr marL="0" indent="0">
              <a:buNone/>
            </a:pPr>
            <a:r>
              <a:rPr lang="en-US" sz="1500" b="1" dirty="0">
                <a:solidFill>
                  <a:schemeClr val="tx2"/>
                </a:solidFill>
              </a:rPr>
              <a:t>Producto cobrable</a:t>
            </a:r>
            <a:endParaRPr lang="en-US" sz="1500" dirty="0"/>
          </a:p>
        </p:txBody>
      </p:sp>
      <p:sp>
        <p:nvSpPr>
          <p:cNvPr id="13" name="Duracion fase 2"/>
          <p:cNvSpPr txBox="1"/>
          <p:nvPr/>
        </p:nvSpPr>
        <p:spPr>
          <a:xfrm>
            <a:off x="3474720" y="1938528"/>
            <a:ext cx="2194560" cy="411480"/>
          </a:xfrm>
          <a:prstGeom prst="rect">
            <a:avLst/>
          </a:prstGeom>
          <a:noFill/>
          <a:ln/>
        </p:spPr>
        <p:txBody>
          <a:bodyPr wrap="square" lIns="0" tIns="0" rIns="0" bIns="0" rtlCol="0" anchor="t"/>
          <a:lstStyle/>
          <a:p>
            <a:pPr marL="0" indent="0">
              <a:buNone/>
            </a:pPr>
            <a:r>
              <a:rPr lang="en-US" sz="1100" dirty="0" err="1">
                <a:solidFill>
                  <a:schemeClr val="accent5"/>
                </a:solidFill>
              </a:rPr>
              <a:t>Lidera</a:t>
            </a:r>
            <a:r>
              <a:rPr lang="en-US" sz="1100" dirty="0">
                <a:solidFill>
                  <a:schemeClr val="accent5"/>
                </a:solidFill>
              </a:rPr>
              <a:t> Desarrollo + legal</a:t>
            </a:r>
            <a:endParaRPr lang="en-US" sz="1100" dirty="0"/>
          </a:p>
        </p:txBody>
      </p:sp>
      <p:sp>
        <p:nvSpPr>
          <p:cNvPr id="14" name="Detalle fase 2"/>
          <p:cNvSpPr txBox="1"/>
          <p:nvPr/>
        </p:nvSpPr>
        <p:spPr>
          <a:xfrm>
            <a:off x="3474720" y="2377440"/>
            <a:ext cx="2194560" cy="960120"/>
          </a:xfrm>
          <a:prstGeom prst="rect">
            <a:avLst/>
          </a:prstGeom>
          <a:noFill/>
          <a:ln/>
        </p:spPr>
        <p:txBody>
          <a:bodyPr wrap="square" lIns="0" tIns="0" rIns="0" bIns="0" rtlCol="0" anchor="t"/>
          <a:lstStyle/>
          <a:p>
            <a:pPr marL="0" indent="0">
              <a:buNone/>
            </a:pPr>
            <a:r>
              <a:rPr lang="en-US" sz="1200" dirty="0">
                <a:solidFill>
                  <a:schemeClr val="tx1"/>
                </a:solidFill>
              </a:rPr>
              <a:t>Aviso real con escalado, producción mínima y papeles legales</a:t>
            </a:r>
            <a:endParaRPr lang="en-US" sz="1200" dirty="0"/>
          </a:p>
        </p:txBody>
      </p:sp>
      <p:sp>
        <p:nvSpPr>
          <p:cNvPr id="15" name="Gate fondo 2"/>
          <p:cNvSpPr/>
          <p:nvPr/>
        </p:nvSpPr>
        <p:spPr>
          <a:xfrm>
            <a:off x="3383280" y="3520441"/>
            <a:ext cx="2331720" cy="740664"/>
          </a:xfrm>
          <a:prstGeom prst="rect">
            <a:avLst/>
          </a:prstGeom>
          <a:solidFill>
            <a:schemeClr val="tx2"/>
          </a:solidFill>
          <a:ln/>
        </p:spPr>
        <p:txBody>
          <a:bodyPr/>
          <a:lstStyle/>
          <a:p>
            <a:endParaRPr lang="es-ES"/>
          </a:p>
        </p:txBody>
      </p:sp>
      <p:sp>
        <p:nvSpPr>
          <p:cNvPr id="16" name="Gate 2"/>
          <p:cNvSpPr txBox="1"/>
          <p:nvPr/>
        </p:nvSpPr>
        <p:spPr>
          <a:xfrm>
            <a:off x="3520440" y="3520441"/>
            <a:ext cx="2103120" cy="740664"/>
          </a:xfrm>
          <a:prstGeom prst="rect">
            <a:avLst/>
          </a:prstGeom>
          <a:noFill/>
          <a:ln/>
        </p:spPr>
        <p:txBody>
          <a:bodyPr wrap="square" lIns="0" tIns="0" rIns="0" bIns="0" rtlCol="0" anchor="ctr"/>
          <a:lstStyle/>
          <a:p>
            <a:pPr marL="0" indent="0">
              <a:buNone/>
            </a:pPr>
            <a:r>
              <a:rPr lang="en-US" sz="1100" b="1" dirty="0">
                <a:solidFill>
                  <a:schemeClr val="bg2"/>
                </a:solidFill>
              </a:rPr>
              <a:t>G1: 14 días sin avisos perdidos y pack legal firmado</a:t>
            </a:r>
            <a:endParaRPr lang="en-US" sz="1100" dirty="0"/>
          </a:p>
        </p:txBody>
      </p:sp>
      <p:sp>
        <p:nvSpPr>
          <p:cNvPr id="17" name="Fase 3"/>
          <p:cNvSpPr/>
          <p:nvPr/>
        </p:nvSpPr>
        <p:spPr>
          <a:xfrm>
            <a:off x="6035040" y="1097280"/>
            <a:ext cx="2606040" cy="3317065"/>
          </a:xfrm>
          <a:prstGeom prst="rect">
            <a:avLst/>
          </a:prstGeom>
          <a:solidFill>
            <a:schemeClr val="tx1">
              <a:lumMod val="10000"/>
              <a:lumOff val="90000"/>
            </a:schemeClr>
          </a:solidFill>
          <a:ln/>
        </p:spPr>
        <p:txBody>
          <a:bodyPr/>
          <a:lstStyle/>
          <a:p>
            <a:endParaRPr lang="es-ES"/>
          </a:p>
        </p:txBody>
      </p:sp>
      <p:sp>
        <p:nvSpPr>
          <p:cNvPr id="18" name="Codigo fase 3"/>
          <p:cNvSpPr txBox="1"/>
          <p:nvPr/>
        </p:nvSpPr>
        <p:spPr>
          <a:xfrm>
            <a:off x="6263640" y="1207008"/>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F2</a:t>
            </a:r>
            <a:endParaRPr lang="en-US" sz="2200" dirty="0"/>
          </a:p>
        </p:txBody>
      </p:sp>
      <p:sp>
        <p:nvSpPr>
          <p:cNvPr id="19" name="Nombre fase 3"/>
          <p:cNvSpPr txBox="1"/>
          <p:nvPr/>
        </p:nvSpPr>
        <p:spPr>
          <a:xfrm>
            <a:off x="6263640" y="1627632"/>
            <a:ext cx="2194560" cy="292608"/>
          </a:xfrm>
          <a:prstGeom prst="rect">
            <a:avLst/>
          </a:prstGeom>
          <a:noFill/>
          <a:ln/>
        </p:spPr>
        <p:txBody>
          <a:bodyPr wrap="square" lIns="0" tIns="0" rIns="0" bIns="0" rtlCol="0" anchor="t"/>
          <a:lstStyle/>
          <a:p>
            <a:pPr marL="0" indent="0">
              <a:buNone/>
            </a:pPr>
            <a:r>
              <a:rPr lang="en-US" sz="1500" b="1" dirty="0">
                <a:solidFill>
                  <a:schemeClr val="tx2"/>
                </a:solidFill>
              </a:rPr>
              <a:t>De 1 a 10 hogares</a:t>
            </a:r>
            <a:endParaRPr lang="en-US" sz="1500" dirty="0"/>
          </a:p>
        </p:txBody>
      </p:sp>
      <p:sp>
        <p:nvSpPr>
          <p:cNvPr id="20" name="Duracion fase 3"/>
          <p:cNvSpPr txBox="1"/>
          <p:nvPr/>
        </p:nvSpPr>
        <p:spPr>
          <a:xfrm>
            <a:off x="6263640" y="1938528"/>
            <a:ext cx="2194560" cy="411480"/>
          </a:xfrm>
          <a:prstGeom prst="rect">
            <a:avLst/>
          </a:prstGeom>
          <a:noFill/>
          <a:ln/>
        </p:spPr>
        <p:txBody>
          <a:bodyPr wrap="square" lIns="0" tIns="0" rIns="0" bIns="0" rtlCol="0" anchor="t"/>
          <a:lstStyle/>
          <a:p>
            <a:pPr marL="0" indent="0">
              <a:buNone/>
            </a:pPr>
            <a:r>
              <a:rPr lang="en-US" sz="1100" dirty="0" err="1">
                <a:solidFill>
                  <a:schemeClr val="accent5"/>
                </a:solidFill>
              </a:rPr>
              <a:t>Lidera</a:t>
            </a:r>
            <a:r>
              <a:rPr lang="en-US" sz="1100" dirty="0">
                <a:solidFill>
                  <a:schemeClr val="accent5"/>
                </a:solidFill>
              </a:rPr>
              <a:t> </a:t>
            </a:r>
            <a:r>
              <a:rPr lang="en-US" sz="1100" dirty="0" err="1">
                <a:solidFill>
                  <a:schemeClr val="accent5"/>
                </a:solidFill>
              </a:rPr>
              <a:t>Negocio</a:t>
            </a:r>
            <a:r>
              <a:rPr lang="en-US" sz="1100" dirty="0">
                <a:solidFill>
                  <a:schemeClr val="accent5"/>
                </a:solidFill>
              </a:rPr>
              <a:t> + legal + </a:t>
            </a:r>
            <a:r>
              <a:rPr lang="en-US" sz="1100" dirty="0" err="1">
                <a:solidFill>
                  <a:schemeClr val="accent5"/>
                </a:solidFill>
              </a:rPr>
              <a:t>desarrollo</a:t>
            </a:r>
            <a:endParaRPr lang="en-US" sz="1100" dirty="0"/>
          </a:p>
        </p:txBody>
      </p:sp>
      <p:sp>
        <p:nvSpPr>
          <p:cNvPr id="21" name="Detalle fase 3"/>
          <p:cNvSpPr txBox="1"/>
          <p:nvPr/>
        </p:nvSpPr>
        <p:spPr>
          <a:xfrm>
            <a:off x="6263640" y="2377440"/>
            <a:ext cx="2194560" cy="960120"/>
          </a:xfrm>
          <a:prstGeom prst="rect">
            <a:avLst/>
          </a:prstGeom>
          <a:noFill/>
          <a:ln/>
        </p:spPr>
        <p:txBody>
          <a:bodyPr wrap="square" lIns="0" tIns="0" rIns="0" bIns="0" rtlCol="0" anchor="t"/>
          <a:lstStyle/>
          <a:p>
            <a:pPr marL="0" indent="0">
              <a:buNone/>
            </a:pPr>
            <a:r>
              <a:rPr lang="en-US" sz="1200" dirty="0">
                <a:solidFill>
                  <a:schemeClr val="tx1"/>
                </a:solidFill>
              </a:rPr>
              <a:t>Convertir preventas, vender en una zona, instalar y dar soporte</a:t>
            </a:r>
            <a:endParaRPr lang="en-US" sz="1200" dirty="0"/>
          </a:p>
        </p:txBody>
      </p:sp>
      <p:sp>
        <p:nvSpPr>
          <p:cNvPr id="22" name="Gate fondo 3"/>
          <p:cNvSpPr/>
          <p:nvPr/>
        </p:nvSpPr>
        <p:spPr>
          <a:xfrm>
            <a:off x="6172200" y="3520441"/>
            <a:ext cx="2331720" cy="740664"/>
          </a:xfrm>
          <a:prstGeom prst="rect">
            <a:avLst/>
          </a:prstGeom>
          <a:solidFill>
            <a:schemeClr val="tx2"/>
          </a:solidFill>
          <a:ln/>
        </p:spPr>
        <p:txBody>
          <a:bodyPr/>
          <a:lstStyle/>
          <a:p>
            <a:endParaRPr lang="es-ES"/>
          </a:p>
        </p:txBody>
      </p:sp>
      <p:sp>
        <p:nvSpPr>
          <p:cNvPr id="23" name="Gate 3"/>
          <p:cNvSpPr txBox="1"/>
          <p:nvPr/>
        </p:nvSpPr>
        <p:spPr>
          <a:xfrm>
            <a:off x="6309360" y="3520441"/>
            <a:ext cx="2103120" cy="740664"/>
          </a:xfrm>
          <a:prstGeom prst="rect">
            <a:avLst/>
          </a:prstGeom>
          <a:noFill/>
          <a:ln/>
        </p:spPr>
        <p:txBody>
          <a:bodyPr wrap="square" lIns="0" tIns="0" rIns="0" bIns="0" rtlCol="0" anchor="ctr"/>
          <a:lstStyle/>
          <a:p>
            <a:pPr marL="0" indent="0">
              <a:buNone/>
            </a:pPr>
            <a:r>
              <a:rPr lang="en-US" sz="1100" b="1" dirty="0">
                <a:solidFill>
                  <a:schemeClr val="bg2"/>
                </a:solidFill>
              </a:rPr>
              <a:t>G2: 10 hogares pagando. Si no, en 26 semanas aparcamos</a:t>
            </a:r>
            <a:endParaRPr lang="en-US" sz="1100" dirty="0"/>
          </a:p>
        </p:txBody>
      </p:sp>
      <p:sp>
        <p:nvSpPr>
          <p:cNvPr id="24" name="Nota al pie"/>
          <p:cNvSpPr txBox="1"/>
          <p:nvPr/>
        </p:nvSpPr>
        <p:spPr>
          <a:xfrm>
            <a:off x="1234440" y="4690872"/>
            <a:ext cx="6858000" cy="292608"/>
          </a:xfrm>
          <a:prstGeom prst="rect">
            <a:avLst/>
          </a:prstGeom>
          <a:noFill/>
          <a:ln/>
        </p:spPr>
        <p:txBody>
          <a:bodyPr wrap="square" lIns="0" tIns="0" rIns="0" bIns="0" rtlCol="0" anchor="ctr"/>
          <a:lstStyle/>
          <a:p>
            <a:pPr marL="0" indent="0">
              <a:buNone/>
            </a:pPr>
            <a:r>
              <a:rPr lang="en-US" sz="1000" dirty="0">
                <a:solidFill>
                  <a:schemeClr val="accent5"/>
                </a:solidFill>
              </a:rPr>
              <a:t>Total: </a:t>
            </a:r>
            <a:r>
              <a:rPr lang="en-US" sz="1000" dirty="0" err="1">
                <a:solidFill>
                  <a:schemeClr val="accent5"/>
                </a:solidFill>
              </a:rPr>
              <a:t>unas</a:t>
            </a:r>
            <a:r>
              <a:rPr lang="en-US" sz="1000" dirty="0">
                <a:solidFill>
                  <a:schemeClr val="accent5"/>
                </a:solidFill>
              </a:rPr>
              <a:t> 35 </a:t>
            </a:r>
            <a:r>
              <a:rPr lang="en-US" sz="1000" dirty="0" err="1">
                <a:solidFill>
                  <a:schemeClr val="accent5"/>
                </a:solidFill>
              </a:rPr>
              <a:t>semanas</a:t>
            </a:r>
            <a:r>
              <a:rPr lang="en-US" sz="1000" dirty="0">
                <a:solidFill>
                  <a:schemeClr val="accent5"/>
                </a:solidFill>
              </a:rPr>
              <a:t> (20-56). La </a:t>
            </a:r>
            <a:r>
              <a:rPr lang="en-US" sz="1000" dirty="0" err="1">
                <a:solidFill>
                  <a:schemeClr val="accent5"/>
                </a:solidFill>
              </a:rPr>
              <a:t>primera</a:t>
            </a:r>
            <a:r>
              <a:rPr lang="en-US" sz="1000" dirty="0">
                <a:solidFill>
                  <a:schemeClr val="accent5"/>
                </a:solidFill>
              </a:rPr>
              <a:t> </a:t>
            </a:r>
            <a:r>
              <a:rPr lang="en-US" sz="1000" dirty="0" err="1">
                <a:solidFill>
                  <a:schemeClr val="accent5"/>
                </a:solidFill>
              </a:rPr>
              <a:t>decisión</a:t>
            </a:r>
            <a:r>
              <a:rPr lang="en-US" sz="1000" dirty="0">
                <a:solidFill>
                  <a:schemeClr val="accent5"/>
                </a:solidFill>
              </a:rPr>
              <a:t> de </a:t>
            </a:r>
            <a:r>
              <a:rPr lang="en-US" sz="1000" dirty="0" err="1">
                <a:solidFill>
                  <a:schemeClr val="accent5"/>
                </a:solidFill>
              </a:rPr>
              <a:t>seguir</a:t>
            </a:r>
            <a:r>
              <a:rPr lang="en-US" sz="1000" dirty="0">
                <a:solidFill>
                  <a:schemeClr val="accent5"/>
                </a:solidFill>
              </a:rPr>
              <a:t> o no </a:t>
            </a:r>
            <a:r>
              <a:rPr lang="en-US" sz="1000" dirty="0" err="1">
                <a:solidFill>
                  <a:schemeClr val="accent5"/>
                </a:solidFill>
              </a:rPr>
              <a:t>llega</a:t>
            </a:r>
            <a:r>
              <a:rPr lang="en-US" sz="1000" dirty="0">
                <a:solidFill>
                  <a:schemeClr val="accent5"/>
                </a:solidFill>
              </a:rPr>
              <a:t> </a:t>
            </a:r>
            <a:r>
              <a:rPr lang="en-US" sz="1000" dirty="0" err="1">
                <a:solidFill>
                  <a:schemeClr val="accent5"/>
                </a:solidFill>
              </a:rPr>
              <a:t>en</a:t>
            </a:r>
            <a:r>
              <a:rPr lang="en-US" sz="1000" dirty="0">
                <a:solidFill>
                  <a:schemeClr val="accent5"/>
                </a:solidFill>
              </a:rPr>
              <a:t> ~7 </a:t>
            </a:r>
            <a:r>
              <a:rPr lang="en-US" sz="1000" dirty="0" err="1">
                <a:solidFill>
                  <a:schemeClr val="accent5"/>
                </a:solidFill>
              </a:rPr>
              <a:t>semanas</a:t>
            </a:r>
            <a:r>
              <a:rPr lang="en-US" sz="1000" dirty="0">
                <a:solidFill>
                  <a:schemeClr val="accent5"/>
                </a:solidFill>
              </a:rPr>
              <a:t>, sin </a:t>
            </a:r>
            <a:r>
              <a:rPr lang="en-US" sz="1000" dirty="0" err="1">
                <a:solidFill>
                  <a:schemeClr val="accent5"/>
                </a:solidFill>
              </a:rPr>
              <a:t>código</a:t>
            </a:r>
            <a:r>
              <a:rPr lang="en-US" sz="1000" dirty="0">
                <a:solidFill>
                  <a:schemeClr val="accent5"/>
                </a:solidFill>
              </a:rPr>
              <a:t> nuevo de </a:t>
            </a:r>
            <a:r>
              <a:rPr lang="en-US" sz="1000" dirty="0" err="1">
                <a:solidFill>
                  <a:schemeClr val="accent5"/>
                </a:solidFill>
              </a:rPr>
              <a:t>producto</a:t>
            </a:r>
            <a:r>
              <a:rPr lang="en-US" sz="1000" dirty="0">
                <a:solidFill>
                  <a:schemeClr val="accent5"/>
                </a:solidFill>
              </a:rPr>
              <a:t>.</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Camino de una idea hasta producción</a:t>
            </a:r>
            <a:endParaRPr lang="en-US" sz="3000" dirty="0"/>
          </a:p>
        </p:txBody>
      </p:sp>
      <p:sp>
        <p:nvSpPr>
          <p:cNvPr id="3" name="Paso camino 1"/>
          <p:cNvSpPr/>
          <p:nvPr/>
        </p:nvSpPr>
        <p:spPr>
          <a:xfrm>
            <a:off x="457200" y="1143000"/>
            <a:ext cx="1280160" cy="2514600"/>
          </a:xfrm>
          <a:prstGeom prst="rect">
            <a:avLst/>
          </a:prstGeom>
          <a:solidFill>
            <a:schemeClr val="bg1"/>
          </a:solidFill>
          <a:ln/>
        </p:spPr>
        <p:txBody>
          <a:bodyPr/>
          <a:lstStyle/>
          <a:p>
            <a:endParaRPr lang="es-ES"/>
          </a:p>
        </p:txBody>
      </p:sp>
      <p:sp>
        <p:nvSpPr>
          <p:cNvPr id="4" name="Icono camino 1 fondo"/>
          <p:cNvSpPr/>
          <p:nvPr/>
        </p:nvSpPr>
        <p:spPr>
          <a:xfrm>
            <a:off x="594360" y="1280160"/>
            <a:ext cx="438912" cy="438912"/>
          </a:xfrm>
          <a:prstGeom prst="rect">
            <a:avLst/>
          </a:prstGeom>
          <a:solidFill>
            <a:srgbClr val="293D36"/>
          </a:solidFill>
          <a:ln/>
        </p:spPr>
        <p:txBody>
          <a:bodyPr/>
          <a:lstStyle/>
          <a:p>
            <a:endParaRPr lang="es-ES"/>
          </a:p>
        </p:txBody>
      </p:sp>
      <p:pic>
        <p:nvPicPr>
          <p:cNvPr id="5" name="Icono camino 1 icono" descr="preencoded.png"/>
          <p:cNvPicPr>
            <a:picLocks noChangeAspect="1"/>
          </p:cNvPicPr>
          <p:nvPr/>
        </p:nvPicPr>
        <p:blipFill>
          <a:blip r:embed="rId3"/>
          <a:stretch>
            <a:fillRect/>
          </a:stretch>
        </p:blipFill>
        <p:spPr>
          <a:xfrm>
            <a:off x="699699" y="1385499"/>
            <a:ext cx="228234" cy="228234"/>
          </a:xfrm>
          <a:prstGeom prst="rect">
            <a:avLst/>
          </a:prstGeom>
        </p:spPr>
      </p:pic>
      <p:sp>
        <p:nvSpPr>
          <p:cNvPr id="6" name="Numero camino 1"/>
          <p:cNvSpPr txBox="1"/>
          <p:nvPr/>
        </p:nvSpPr>
        <p:spPr>
          <a:xfrm>
            <a:off x="1188720" y="1280160"/>
            <a:ext cx="411480" cy="438912"/>
          </a:xfrm>
          <a:prstGeom prst="rect">
            <a:avLst/>
          </a:prstGeom>
          <a:noFill/>
          <a:ln/>
        </p:spPr>
        <p:txBody>
          <a:bodyPr wrap="square" lIns="0" tIns="0" rIns="0" bIns="0" rtlCol="0" anchor="ctr"/>
          <a:lstStyle/>
          <a:p>
            <a:pPr marL="0" indent="0" algn="r">
              <a:buNone/>
            </a:pPr>
            <a:r>
              <a:rPr lang="en-US" sz="2000" b="1" dirty="0">
                <a:solidFill>
                  <a:schemeClr val="accent1"/>
                </a:solidFill>
              </a:rPr>
              <a:t>1</a:t>
            </a:r>
            <a:endParaRPr lang="en-US" sz="2000" dirty="0"/>
          </a:p>
        </p:txBody>
      </p:sp>
      <p:sp>
        <p:nvSpPr>
          <p:cNvPr id="7" name="Titulo camino 1"/>
          <p:cNvSpPr txBox="1"/>
          <p:nvPr/>
        </p:nvSpPr>
        <p:spPr>
          <a:xfrm>
            <a:off x="594360" y="1828800"/>
            <a:ext cx="1051560" cy="457200"/>
          </a:xfrm>
          <a:prstGeom prst="rect">
            <a:avLst/>
          </a:prstGeom>
          <a:noFill/>
          <a:ln/>
        </p:spPr>
        <p:txBody>
          <a:bodyPr wrap="square" lIns="0" tIns="0" rIns="0" bIns="0" rtlCol="0" anchor="t"/>
          <a:lstStyle/>
          <a:p>
            <a:pPr marL="0" indent="0">
              <a:buNone/>
            </a:pPr>
            <a:r>
              <a:rPr lang="en-US" sz="1200" b="1" dirty="0">
                <a:solidFill>
                  <a:schemeClr val="tx2"/>
                </a:solidFill>
              </a:rPr>
              <a:t>Ficha y parking</a:t>
            </a:r>
            <a:endParaRPr lang="en-US" sz="1200" dirty="0"/>
          </a:p>
        </p:txBody>
      </p:sp>
      <p:sp>
        <p:nvSpPr>
          <p:cNvPr id="8" name="Texto camino 1"/>
          <p:cNvSpPr txBox="1"/>
          <p:nvPr/>
        </p:nvSpPr>
        <p:spPr>
          <a:xfrm>
            <a:off x="594360" y="2304288"/>
            <a:ext cx="1051560" cy="914400"/>
          </a:xfrm>
          <a:prstGeom prst="rect">
            <a:avLst/>
          </a:prstGeom>
          <a:noFill/>
          <a:ln/>
        </p:spPr>
        <p:txBody>
          <a:bodyPr wrap="square" lIns="0" tIns="0" rIns="0" bIns="0" rtlCol="0" anchor="t"/>
          <a:lstStyle/>
          <a:p>
            <a:pPr marL="0" indent="0">
              <a:buNone/>
            </a:pPr>
            <a:r>
              <a:rPr lang="en-US" sz="1000" dirty="0">
                <a:solidFill>
                  <a:schemeClr val="tx1"/>
                </a:solidFill>
              </a:rPr>
              <a:t>Ficha de 5 líneas. Espera al cierre de la fase.</a:t>
            </a:r>
            <a:endParaRPr lang="en-US" sz="1000" dirty="0"/>
          </a:p>
        </p:txBody>
      </p:sp>
      <p:sp>
        <p:nvSpPr>
          <p:cNvPr id="9" name="Responsable camino 1"/>
          <p:cNvSpPr txBox="1"/>
          <p:nvPr/>
        </p:nvSpPr>
        <p:spPr>
          <a:xfrm>
            <a:off x="594360" y="3246120"/>
            <a:ext cx="1051560" cy="320040"/>
          </a:xfrm>
          <a:prstGeom prst="rect">
            <a:avLst/>
          </a:prstGeom>
          <a:noFill/>
          <a:ln/>
        </p:spPr>
        <p:txBody>
          <a:bodyPr wrap="square" lIns="0" tIns="0" rIns="0" bIns="0" rtlCol="0" anchor="t"/>
          <a:lstStyle/>
          <a:p>
            <a:pPr marL="0" indent="0">
              <a:buNone/>
            </a:pPr>
            <a:r>
              <a:rPr lang="en-US" sz="1000" i="1" dirty="0">
                <a:solidFill>
                  <a:schemeClr val="accent5"/>
                </a:solidFill>
              </a:rPr>
              <a:t>Quien la propone</a:t>
            </a:r>
            <a:endParaRPr lang="en-US" sz="1000" dirty="0"/>
          </a:p>
        </p:txBody>
      </p:sp>
      <p:sp>
        <p:nvSpPr>
          <p:cNvPr id="10" name="Flecha 1"/>
          <p:cNvSpPr/>
          <p:nvPr/>
        </p:nvSpPr>
        <p:spPr>
          <a:xfrm>
            <a:off x="1746504" y="2395728"/>
            <a:ext cx="91440" cy="0"/>
          </a:xfrm>
          <a:prstGeom prst="line">
            <a:avLst/>
          </a:prstGeom>
          <a:noFill/>
          <a:ln w="19050">
            <a:solidFill>
              <a:schemeClr val="accent1"/>
            </a:solidFill>
            <a:prstDash val="solid"/>
            <a:tailEnd type="triangle"/>
          </a:ln>
        </p:spPr>
        <p:txBody>
          <a:bodyPr/>
          <a:lstStyle/>
          <a:p>
            <a:endParaRPr lang="es-ES"/>
          </a:p>
        </p:txBody>
      </p:sp>
      <p:sp>
        <p:nvSpPr>
          <p:cNvPr id="11" name="Paso camino 2"/>
          <p:cNvSpPr/>
          <p:nvPr/>
        </p:nvSpPr>
        <p:spPr>
          <a:xfrm>
            <a:off x="1847088" y="1143000"/>
            <a:ext cx="1280160" cy="2514600"/>
          </a:xfrm>
          <a:prstGeom prst="rect">
            <a:avLst/>
          </a:prstGeom>
          <a:solidFill>
            <a:schemeClr val="bg1"/>
          </a:solidFill>
          <a:ln/>
        </p:spPr>
        <p:txBody>
          <a:bodyPr/>
          <a:lstStyle/>
          <a:p>
            <a:endParaRPr lang="es-ES"/>
          </a:p>
        </p:txBody>
      </p:sp>
      <p:sp>
        <p:nvSpPr>
          <p:cNvPr id="12" name="Icono camino 2 fondo"/>
          <p:cNvSpPr/>
          <p:nvPr/>
        </p:nvSpPr>
        <p:spPr>
          <a:xfrm>
            <a:off x="1984248" y="1280160"/>
            <a:ext cx="438912" cy="438912"/>
          </a:xfrm>
          <a:prstGeom prst="rect">
            <a:avLst/>
          </a:prstGeom>
          <a:solidFill>
            <a:srgbClr val="293D36"/>
          </a:solidFill>
          <a:ln/>
        </p:spPr>
        <p:txBody>
          <a:bodyPr/>
          <a:lstStyle/>
          <a:p>
            <a:endParaRPr lang="es-ES"/>
          </a:p>
        </p:txBody>
      </p:sp>
      <p:pic>
        <p:nvPicPr>
          <p:cNvPr id="13" name="Icono camino 2 icono" descr="preencoded.png"/>
          <p:cNvPicPr>
            <a:picLocks noChangeAspect="1"/>
          </p:cNvPicPr>
          <p:nvPr/>
        </p:nvPicPr>
        <p:blipFill>
          <a:blip r:embed="rId4"/>
          <a:stretch>
            <a:fillRect/>
          </a:stretch>
        </p:blipFill>
        <p:spPr>
          <a:xfrm>
            <a:off x="2089587" y="1385499"/>
            <a:ext cx="228234" cy="228234"/>
          </a:xfrm>
          <a:prstGeom prst="rect">
            <a:avLst/>
          </a:prstGeom>
        </p:spPr>
      </p:pic>
      <p:sp>
        <p:nvSpPr>
          <p:cNvPr id="14" name="Numero camino 2"/>
          <p:cNvSpPr txBox="1"/>
          <p:nvPr/>
        </p:nvSpPr>
        <p:spPr>
          <a:xfrm>
            <a:off x="2578608" y="1280160"/>
            <a:ext cx="411480" cy="438912"/>
          </a:xfrm>
          <a:prstGeom prst="rect">
            <a:avLst/>
          </a:prstGeom>
          <a:noFill/>
          <a:ln/>
        </p:spPr>
        <p:txBody>
          <a:bodyPr wrap="square" lIns="0" tIns="0" rIns="0" bIns="0" rtlCol="0" anchor="ctr"/>
          <a:lstStyle/>
          <a:p>
            <a:pPr marL="0" indent="0" algn="r">
              <a:buNone/>
            </a:pPr>
            <a:r>
              <a:rPr lang="en-US" sz="2000" b="1" dirty="0">
                <a:solidFill>
                  <a:schemeClr val="accent1"/>
                </a:solidFill>
              </a:rPr>
              <a:t>2</a:t>
            </a:r>
            <a:endParaRPr lang="en-US" sz="2000" dirty="0"/>
          </a:p>
        </p:txBody>
      </p:sp>
      <p:sp>
        <p:nvSpPr>
          <p:cNvPr id="15" name="Titulo camino 2"/>
          <p:cNvSpPr txBox="1"/>
          <p:nvPr/>
        </p:nvSpPr>
        <p:spPr>
          <a:xfrm>
            <a:off x="1984248" y="1828800"/>
            <a:ext cx="1051560" cy="457200"/>
          </a:xfrm>
          <a:prstGeom prst="rect">
            <a:avLst/>
          </a:prstGeom>
          <a:noFill/>
          <a:ln/>
        </p:spPr>
        <p:txBody>
          <a:bodyPr wrap="square" lIns="0" tIns="0" rIns="0" bIns="0" rtlCol="0" anchor="t"/>
          <a:lstStyle/>
          <a:p>
            <a:pPr marL="0" indent="0">
              <a:buNone/>
            </a:pPr>
            <a:r>
              <a:rPr lang="en-US" sz="1200" b="1" dirty="0">
                <a:solidFill>
                  <a:schemeClr val="tx2"/>
                </a:solidFill>
              </a:rPr>
              <a:t>Filtro</a:t>
            </a:r>
            <a:endParaRPr lang="en-US" sz="1200" dirty="0"/>
          </a:p>
        </p:txBody>
      </p:sp>
      <p:sp>
        <p:nvSpPr>
          <p:cNvPr id="16" name="Texto camino 2"/>
          <p:cNvSpPr txBox="1"/>
          <p:nvPr/>
        </p:nvSpPr>
        <p:spPr>
          <a:xfrm>
            <a:off x="1984248" y="2304288"/>
            <a:ext cx="1051560" cy="914400"/>
          </a:xfrm>
          <a:prstGeom prst="rect">
            <a:avLst/>
          </a:prstGeom>
          <a:noFill/>
          <a:ln/>
        </p:spPr>
        <p:txBody>
          <a:bodyPr wrap="square" lIns="0" tIns="0" rIns="0" bIns="0" rtlCol="0" anchor="t"/>
          <a:lstStyle/>
          <a:p>
            <a:pPr marL="0" indent="0">
              <a:buNone/>
            </a:pPr>
            <a:r>
              <a:rPr lang="en-US" sz="1000" dirty="0">
                <a:solidFill>
                  <a:schemeClr val="tx1"/>
                </a:solidFill>
              </a:rPr>
              <a:t>≥ 3 clientes la piden, ≤ 2 bloques, no está en la lista de visión.</a:t>
            </a:r>
            <a:endParaRPr lang="en-US" sz="1000" dirty="0"/>
          </a:p>
        </p:txBody>
      </p:sp>
      <p:sp>
        <p:nvSpPr>
          <p:cNvPr id="17" name="Responsable camino 2"/>
          <p:cNvSpPr txBox="1"/>
          <p:nvPr/>
        </p:nvSpPr>
        <p:spPr>
          <a:xfrm>
            <a:off x="1984248" y="3246120"/>
            <a:ext cx="1051560" cy="320040"/>
          </a:xfrm>
          <a:prstGeom prst="rect">
            <a:avLst/>
          </a:prstGeom>
          <a:noFill/>
          <a:ln/>
        </p:spPr>
        <p:txBody>
          <a:bodyPr wrap="square" lIns="0" tIns="0" rIns="0" bIns="0" rtlCol="0" anchor="t"/>
          <a:lstStyle/>
          <a:p>
            <a:pPr marL="0" indent="0">
              <a:buNone/>
            </a:pPr>
            <a:r>
              <a:rPr lang="en-US" sz="1000" i="1" dirty="0">
                <a:solidFill>
                  <a:schemeClr val="accent5"/>
                </a:solidFill>
              </a:rPr>
              <a:t>Trío, al cerrar fase</a:t>
            </a:r>
            <a:endParaRPr lang="en-US" sz="1000" dirty="0"/>
          </a:p>
        </p:txBody>
      </p:sp>
      <p:sp>
        <p:nvSpPr>
          <p:cNvPr id="18" name="Flecha 2"/>
          <p:cNvSpPr/>
          <p:nvPr/>
        </p:nvSpPr>
        <p:spPr>
          <a:xfrm>
            <a:off x="3136392" y="2395728"/>
            <a:ext cx="91440" cy="0"/>
          </a:xfrm>
          <a:prstGeom prst="line">
            <a:avLst/>
          </a:prstGeom>
          <a:noFill/>
          <a:ln w="19050">
            <a:solidFill>
              <a:schemeClr val="accent1"/>
            </a:solidFill>
            <a:prstDash val="solid"/>
            <a:tailEnd type="triangle"/>
          </a:ln>
        </p:spPr>
        <p:txBody>
          <a:bodyPr/>
          <a:lstStyle/>
          <a:p>
            <a:endParaRPr lang="es-ES"/>
          </a:p>
        </p:txBody>
      </p:sp>
      <p:sp>
        <p:nvSpPr>
          <p:cNvPr id="19" name="Paso camino 3"/>
          <p:cNvSpPr/>
          <p:nvPr/>
        </p:nvSpPr>
        <p:spPr>
          <a:xfrm>
            <a:off x="3236976" y="1143000"/>
            <a:ext cx="1280160" cy="2514600"/>
          </a:xfrm>
          <a:prstGeom prst="rect">
            <a:avLst/>
          </a:prstGeom>
          <a:solidFill>
            <a:schemeClr val="bg1"/>
          </a:solidFill>
          <a:ln/>
        </p:spPr>
        <p:txBody>
          <a:bodyPr/>
          <a:lstStyle/>
          <a:p>
            <a:endParaRPr lang="es-ES"/>
          </a:p>
        </p:txBody>
      </p:sp>
      <p:sp>
        <p:nvSpPr>
          <p:cNvPr id="20" name="Icono camino 3 fondo"/>
          <p:cNvSpPr/>
          <p:nvPr/>
        </p:nvSpPr>
        <p:spPr>
          <a:xfrm>
            <a:off x="3374136" y="1280160"/>
            <a:ext cx="438912" cy="438912"/>
          </a:xfrm>
          <a:prstGeom prst="rect">
            <a:avLst/>
          </a:prstGeom>
          <a:solidFill>
            <a:srgbClr val="293D36"/>
          </a:solidFill>
          <a:ln/>
        </p:spPr>
        <p:txBody>
          <a:bodyPr/>
          <a:lstStyle/>
          <a:p>
            <a:endParaRPr lang="es-ES"/>
          </a:p>
        </p:txBody>
      </p:sp>
      <p:pic>
        <p:nvPicPr>
          <p:cNvPr id="21" name="Icono camino 3 icono" descr="preencoded.png"/>
          <p:cNvPicPr>
            <a:picLocks noChangeAspect="1"/>
          </p:cNvPicPr>
          <p:nvPr/>
        </p:nvPicPr>
        <p:blipFill>
          <a:blip r:embed="rId5"/>
          <a:stretch>
            <a:fillRect/>
          </a:stretch>
        </p:blipFill>
        <p:spPr>
          <a:xfrm>
            <a:off x="3479475" y="1385499"/>
            <a:ext cx="228234" cy="228234"/>
          </a:xfrm>
          <a:prstGeom prst="rect">
            <a:avLst/>
          </a:prstGeom>
        </p:spPr>
      </p:pic>
      <p:sp>
        <p:nvSpPr>
          <p:cNvPr id="22" name="Numero camino 3"/>
          <p:cNvSpPr txBox="1"/>
          <p:nvPr/>
        </p:nvSpPr>
        <p:spPr>
          <a:xfrm>
            <a:off x="3968496" y="1280160"/>
            <a:ext cx="411480" cy="438912"/>
          </a:xfrm>
          <a:prstGeom prst="rect">
            <a:avLst/>
          </a:prstGeom>
          <a:noFill/>
          <a:ln/>
        </p:spPr>
        <p:txBody>
          <a:bodyPr wrap="square" lIns="0" tIns="0" rIns="0" bIns="0" rtlCol="0" anchor="ctr"/>
          <a:lstStyle/>
          <a:p>
            <a:pPr marL="0" indent="0" algn="r">
              <a:buNone/>
            </a:pPr>
            <a:r>
              <a:rPr lang="en-US" sz="2000" b="1" dirty="0">
                <a:solidFill>
                  <a:schemeClr val="accent1"/>
                </a:solidFill>
              </a:rPr>
              <a:t>3</a:t>
            </a:r>
            <a:endParaRPr lang="en-US" sz="2000" dirty="0"/>
          </a:p>
        </p:txBody>
      </p:sp>
      <p:sp>
        <p:nvSpPr>
          <p:cNvPr id="23" name="Titulo camino 3"/>
          <p:cNvSpPr txBox="1"/>
          <p:nvPr/>
        </p:nvSpPr>
        <p:spPr>
          <a:xfrm>
            <a:off x="3374136" y="1828800"/>
            <a:ext cx="1051560" cy="457200"/>
          </a:xfrm>
          <a:prstGeom prst="rect">
            <a:avLst/>
          </a:prstGeom>
          <a:noFill/>
          <a:ln/>
        </p:spPr>
        <p:txBody>
          <a:bodyPr wrap="square" lIns="0" tIns="0" rIns="0" bIns="0" rtlCol="0" anchor="t"/>
          <a:lstStyle/>
          <a:p>
            <a:pPr marL="0" indent="0">
              <a:buNone/>
            </a:pPr>
            <a:r>
              <a:rPr lang="en-US" sz="1200" b="1" dirty="0">
                <a:solidFill>
                  <a:schemeClr val="tx2"/>
                </a:solidFill>
              </a:rPr>
              <a:t>Revisión legal</a:t>
            </a:r>
            <a:endParaRPr lang="en-US" sz="1200" dirty="0"/>
          </a:p>
        </p:txBody>
      </p:sp>
      <p:sp>
        <p:nvSpPr>
          <p:cNvPr id="24" name="Texto camino 3"/>
          <p:cNvSpPr txBox="1"/>
          <p:nvPr/>
        </p:nvSpPr>
        <p:spPr>
          <a:xfrm>
            <a:off x="3374136" y="2304288"/>
            <a:ext cx="1051560" cy="914400"/>
          </a:xfrm>
          <a:prstGeom prst="rect">
            <a:avLst/>
          </a:prstGeom>
          <a:noFill/>
          <a:ln/>
        </p:spPr>
        <p:txBody>
          <a:bodyPr wrap="square" lIns="0" tIns="0" rIns="0" bIns="0" rtlCol="0" anchor="t"/>
          <a:lstStyle/>
          <a:p>
            <a:pPr marL="0" indent="0">
              <a:buNone/>
            </a:pPr>
            <a:r>
              <a:rPr lang="en-US" sz="1000" dirty="0">
                <a:solidFill>
                  <a:schemeClr val="tx1"/>
                </a:solidFill>
              </a:rPr>
              <a:t>¿Toca datos de salud o la acerca a producto sanitario?</a:t>
            </a:r>
            <a:endParaRPr lang="en-US" sz="1000" dirty="0"/>
          </a:p>
        </p:txBody>
      </p:sp>
      <p:sp>
        <p:nvSpPr>
          <p:cNvPr id="25" name="Responsable camino 3"/>
          <p:cNvSpPr txBox="1"/>
          <p:nvPr/>
        </p:nvSpPr>
        <p:spPr>
          <a:xfrm>
            <a:off x="3374136" y="3246120"/>
            <a:ext cx="1051560" cy="320040"/>
          </a:xfrm>
          <a:prstGeom prst="rect">
            <a:avLst/>
          </a:prstGeom>
          <a:noFill/>
          <a:ln/>
        </p:spPr>
        <p:txBody>
          <a:bodyPr wrap="square" lIns="0" tIns="0" rIns="0" bIns="0" rtlCol="0" anchor="t"/>
          <a:lstStyle/>
          <a:p>
            <a:pPr marL="0" indent="0">
              <a:buNone/>
            </a:pPr>
            <a:r>
              <a:rPr lang="en-US" sz="1000" i="1" dirty="0">
                <a:solidFill>
                  <a:schemeClr val="accent5"/>
                </a:solidFill>
              </a:rPr>
              <a:t>Legal</a:t>
            </a:r>
            <a:endParaRPr lang="en-US" sz="1000" dirty="0"/>
          </a:p>
        </p:txBody>
      </p:sp>
      <p:sp>
        <p:nvSpPr>
          <p:cNvPr id="26" name="Flecha 3"/>
          <p:cNvSpPr/>
          <p:nvPr/>
        </p:nvSpPr>
        <p:spPr>
          <a:xfrm>
            <a:off x="4526280" y="2395728"/>
            <a:ext cx="91440" cy="0"/>
          </a:xfrm>
          <a:prstGeom prst="line">
            <a:avLst/>
          </a:prstGeom>
          <a:noFill/>
          <a:ln w="19050">
            <a:solidFill>
              <a:schemeClr val="accent1"/>
            </a:solidFill>
            <a:prstDash val="solid"/>
            <a:tailEnd type="triangle"/>
          </a:ln>
        </p:spPr>
        <p:txBody>
          <a:bodyPr/>
          <a:lstStyle/>
          <a:p>
            <a:endParaRPr lang="es-ES"/>
          </a:p>
        </p:txBody>
      </p:sp>
      <p:sp>
        <p:nvSpPr>
          <p:cNvPr id="27" name="Paso camino 4"/>
          <p:cNvSpPr/>
          <p:nvPr/>
        </p:nvSpPr>
        <p:spPr>
          <a:xfrm>
            <a:off x="4626864" y="1143000"/>
            <a:ext cx="1280160" cy="2514600"/>
          </a:xfrm>
          <a:prstGeom prst="rect">
            <a:avLst/>
          </a:prstGeom>
          <a:solidFill>
            <a:schemeClr val="bg1"/>
          </a:solidFill>
          <a:ln/>
        </p:spPr>
        <p:txBody>
          <a:bodyPr/>
          <a:lstStyle/>
          <a:p>
            <a:endParaRPr lang="es-ES"/>
          </a:p>
        </p:txBody>
      </p:sp>
      <p:sp>
        <p:nvSpPr>
          <p:cNvPr id="28" name="Icono camino 4 fondo"/>
          <p:cNvSpPr/>
          <p:nvPr/>
        </p:nvSpPr>
        <p:spPr>
          <a:xfrm>
            <a:off x="4764024" y="1280160"/>
            <a:ext cx="438912" cy="438912"/>
          </a:xfrm>
          <a:prstGeom prst="rect">
            <a:avLst/>
          </a:prstGeom>
          <a:solidFill>
            <a:srgbClr val="293D36"/>
          </a:solidFill>
          <a:ln/>
        </p:spPr>
        <p:txBody>
          <a:bodyPr/>
          <a:lstStyle/>
          <a:p>
            <a:endParaRPr lang="es-ES"/>
          </a:p>
        </p:txBody>
      </p:sp>
      <p:pic>
        <p:nvPicPr>
          <p:cNvPr id="29" name="Icono camino 4 icono" descr="preencoded.png"/>
          <p:cNvPicPr>
            <a:picLocks noChangeAspect="1"/>
          </p:cNvPicPr>
          <p:nvPr/>
        </p:nvPicPr>
        <p:blipFill>
          <a:blip r:embed="rId6"/>
          <a:stretch>
            <a:fillRect/>
          </a:stretch>
        </p:blipFill>
        <p:spPr>
          <a:xfrm>
            <a:off x="4869363" y="1385499"/>
            <a:ext cx="228234" cy="228234"/>
          </a:xfrm>
          <a:prstGeom prst="rect">
            <a:avLst/>
          </a:prstGeom>
        </p:spPr>
      </p:pic>
      <p:sp>
        <p:nvSpPr>
          <p:cNvPr id="30" name="Numero camino 4"/>
          <p:cNvSpPr txBox="1"/>
          <p:nvPr/>
        </p:nvSpPr>
        <p:spPr>
          <a:xfrm>
            <a:off x="5358384" y="1280160"/>
            <a:ext cx="411480" cy="438912"/>
          </a:xfrm>
          <a:prstGeom prst="rect">
            <a:avLst/>
          </a:prstGeom>
          <a:noFill/>
          <a:ln/>
        </p:spPr>
        <p:txBody>
          <a:bodyPr wrap="square" lIns="0" tIns="0" rIns="0" bIns="0" rtlCol="0" anchor="ctr"/>
          <a:lstStyle/>
          <a:p>
            <a:pPr marL="0" indent="0" algn="r">
              <a:buNone/>
            </a:pPr>
            <a:r>
              <a:rPr lang="en-US" sz="2000" b="1" dirty="0">
                <a:solidFill>
                  <a:schemeClr val="accent1"/>
                </a:solidFill>
              </a:rPr>
              <a:t>4</a:t>
            </a:r>
            <a:endParaRPr lang="en-US" sz="2000" dirty="0"/>
          </a:p>
        </p:txBody>
      </p:sp>
      <p:sp>
        <p:nvSpPr>
          <p:cNvPr id="31" name="Titulo camino 4"/>
          <p:cNvSpPr txBox="1"/>
          <p:nvPr/>
        </p:nvSpPr>
        <p:spPr>
          <a:xfrm>
            <a:off x="4764024" y="1828800"/>
            <a:ext cx="1051560" cy="457200"/>
          </a:xfrm>
          <a:prstGeom prst="rect">
            <a:avLst/>
          </a:prstGeom>
          <a:noFill/>
          <a:ln/>
        </p:spPr>
        <p:txBody>
          <a:bodyPr wrap="square" lIns="0" tIns="0" rIns="0" bIns="0" rtlCol="0" anchor="t"/>
          <a:lstStyle/>
          <a:p>
            <a:pPr marL="0" indent="0">
              <a:buNone/>
            </a:pPr>
            <a:r>
              <a:rPr lang="en-US" sz="1200" b="1" dirty="0">
                <a:solidFill>
                  <a:schemeClr val="tx2"/>
                </a:solidFill>
              </a:rPr>
              <a:t>Validar sin código</a:t>
            </a:r>
            <a:endParaRPr lang="en-US" sz="1200" dirty="0"/>
          </a:p>
        </p:txBody>
      </p:sp>
      <p:sp>
        <p:nvSpPr>
          <p:cNvPr id="32" name="Texto camino 4"/>
          <p:cNvSpPr txBox="1"/>
          <p:nvPr/>
        </p:nvSpPr>
        <p:spPr>
          <a:xfrm>
            <a:off x="4764024" y="2304288"/>
            <a:ext cx="1051560" cy="914400"/>
          </a:xfrm>
          <a:prstGeom prst="rect">
            <a:avLst/>
          </a:prstGeom>
          <a:noFill/>
          <a:ln/>
        </p:spPr>
        <p:txBody>
          <a:bodyPr wrap="square" lIns="0" tIns="0" rIns="0" bIns="0" rtlCol="0" anchor="t"/>
          <a:lstStyle/>
          <a:p>
            <a:pPr marL="0" indent="0">
              <a:buNone/>
            </a:pPr>
            <a:r>
              <a:rPr lang="en-US" sz="1000" dirty="0">
                <a:solidFill>
                  <a:schemeClr val="tx1"/>
                </a:solidFill>
              </a:rPr>
              <a:t>Maqueta, entrevistas o preventa antes de programar.</a:t>
            </a:r>
            <a:endParaRPr lang="en-US" sz="1000" dirty="0"/>
          </a:p>
        </p:txBody>
      </p:sp>
      <p:sp>
        <p:nvSpPr>
          <p:cNvPr id="33" name="Responsable camino 4"/>
          <p:cNvSpPr txBox="1"/>
          <p:nvPr/>
        </p:nvSpPr>
        <p:spPr>
          <a:xfrm>
            <a:off x="4764024" y="3246120"/>
            <a:ext cx="1051560" cy="320040"/>
          </a:xfrm>
          <a:prstGeom prst="rect">
            <a:avLst/>
          </a:prstGeom>
          <a:noFill/>
          <a:ln/>
        </p:spPr>
        <p:txBody>
          <a:bodyPr wrap="square" lIns="0" tIns="0" rIns="0" bIns="0" rtlCol="0" anchor="t"/>
          <a:lstStyle/>
          <a:p>
            <a:pPr marL="0" indent="0">
              <a:buNone/>
            </a:pPr>
            <a:r>
              <a:rPr lang="en-US" sz="1000" i="1" dirty="0">
                <a:solidFill>
                  <a:schemeClr val="accent5"/>
                </a:solidFill>
              </a:rPr>
              <a:t>Negocio</a:t>
            </a:r>
            <a:endParaRPr lang="en-US" sz="1000" dirty="0"/>
          </a:p>
        </p:txBody>
      </p:sp>
      <p:sp>
        <p:nvSpPr>
          <p:cNvPr id="34" name="Flecha 4"/>
          <p:cNvSpPr/>
          <p:nvPr/>
        </p:nvSpPr>
        <p:spPr>
          <a:xfrm>
            <a:off x="5916168" y="2395728"/>
            <a:ext cx="91440" cy="0"/>
          </a:xfrm>
          <a:prstGeom prst="line">
            <a:avLst/>
          </a:prstGeom>
          <a:noFill/>
          <a:ln w="19050">
            <a:solidFill>
              <a:schemeClr val="accent1"/>
            </a:solidFill>
            <a:prstDash val="solid"/>
            <a:tailEnd type="triangle"/>
          </a:ln>
        </p:spPr>
        <p:txBody>
          <a:bodyPr/>
          <a:lstStyle/>
          <a:p>
            <a:endParaRPr lang="es-ES"/>
          </a:p>
        </p:txBody>
      </p:sp>
      <p:sp>
        <p:nvSpPr>
          <p:cNvPr id="35" name="Paso camino 5"/>
          <p:cNvSpPr/>
          <p:nvPr/>
        </p:nvSpPr>
        <p:spPr>
          <a:xfrm>
            <a:off x="6016752" y="1143000"/>
            <a:ext cx="1280160" cy="2514600"/>
          </a:xfrm>
          <a:prstGeom prst="rect">
            <a:avLst/>
          </a:prstGeom>
          <a:solidFill>
            <a:schemeClr val="tx2"/>
          </a:solidFill>
          <a:ln/>
        </p:spPr>
        <p:txBody>
          <a:bodyPr/>
          <a:lstStyle/>
          <a:p>
            <a:endParaRPr lang="es-ES"/>
          </a:p>
        </p:txBody>
      </p:sp>
      <p:sp>
        <p:nvSpPr>
          <p:cNvPr id="36" name="Icono camino 5 fondo"/>
          <p:cNvSpPr/>
          <p:nvPr/>
        </p:nvSpPr>
        <p:spPr>
          <a:xfrm>
            <a:off x="6153912" y="1280160"/>
            <a:ext cx="438912" cy="438912"/>
          </a:xfrm>
          <a:prstGeom prst="rect">
            <a:avLst/>
          </a:prstGeom>
          <a:solidFill>
            <a:srgbClr val="5A8777"/>
          </a:solidFill>
          <a:ln/>
        </p:spPr>
        <p:txBody>
          <a:bodyPr/>
          <a:lstStyle/>
          <a:p>
            <a:endParaRPr lang="es-ES"/>
          </a:p>
        </p:txBody>
      </p:sp>
      <p:pic>
        <p:nvPicPr>
          <p:cNvPr id="37" name="Icono camino 5 icono" descr="preencoded.png"/>
          <p:cNvPicPr>
            <a:picLocks noChangeAspect="1"/>
          </p:cNvPicPr>
          <p:nvPr/>
        </p:nvPicPr>
        <p:blipFill>
          <a:blip r:embed="rId7"/>
          <a:stretch>
            <a:fillRect/>
          </a:stretch>
        </p:blipFill>
        <p:spPr>
          <a:xfrm>
            <a:off x="6259251" y="1385499"/>
            <a:ext cx="228234" cy="228234"/>
          </a:xfrm>
          <a:prstGeom prst="rect">
            <a:avLst/>
          </a:prstGeom>
        </p:spPr>
      </p:pic>
      <p:sp>
        <p:nvSpPr>
          <p:cNvPr id="38" name="Numero camino 5"/>
          <p:cNvSpPr txBox="1"/>
          <p:nvPr/>
        </p:nvSpPr>
        <p:spPr>
          <a:xfrm>
            <a:off x="6748272" y="1280160"/>
            <a:ext cx="411480" cy="438912"/>
          </a:xfrm>
          <a:prstGeom prst="rect">
            <a:avLst/>
          </a:prstGeom>
          <a:noFill/>
          <a:ln/>
        </p:spPr>
        <p:txBody>
          <a:bodyPr wrap="square" lIns="0" tIns="0" rIns="0" bIns="0" rtlCol="0" anchor="ctr"/>
          <a:lstStyle/>
          <a:p>
            <a:pPr marL="0" indent="0" algn="r">
              <a:buNone/>
            </a:pPr>
            <a:r>
              <a:rPr lang="en-US" sz="2000" b="1" dirty="0">
                <a:solidFill>
                  <a:schemeClr val="accent2"/>
                </a:solidFill>
              </a:rPr>
              <a:t>5</a:t>
            </a:r>
            <a:endParaRPr lang="en-US" sz="2000" dirty="0"/>
          </a:p>
        </p:txBody>
      </p:sp>
      <p:sp>
        <p:nvSpPr>
          <p:cNvPr id="39" name="Titulo camino 5"/>
          <p:cNvSpPr txBox="1"/>
          <p:nvPr/>
        </p:nvSpPr>
        <p:spPr>
          <a:xfrm>
            <a:off x="6153912" y="1828800"/>
            <a:ext cx="1051560" cy="457200"/>
          </a:xfrm>
          <a:prstGeom prst="rect">
            <a:avLst/>
          </a:prstGeom>
          <a:noFill/>
          <a:ln/>
        </p:spPr>
        <p:txBody>
          <a:bodyPr wrap="square" lIns="0" tIns="0" rIns="0" bIns="0" rtlCol="0" anchor="t"/>
          <a:lstStyle/>
          <a:p>
            <a:pPr marL="0" indent="0">
              <a:buNone/>
            </a:pPr>
            <a:r>
              <a:rPr lang="en-US" sz="1200" b="1" dirty="0">
                <a:solidFill>
                  <a:schemeClr val="bg2"/>
                </a:solidFill>
              </a:rPr>
              <a:t>Definir y construir</a:t>
            </a:r>
            <a:endParaRPr lang="en-US" sz="1200" dirty="0"/>
          </a:p>
        </p:txBody>
      </p:sp>
      <p:sp>
        <p:nvSpPr>
          <p:cNvPr id="40" name="Texto camino 5"/>
          <p:cNvSpPr txBox="1"/>
          <p:nvPr/>
        </p:nvSpPr>
        <p:spPr>
          <a:xfrm>
            <a:off x="6153912" y="2304288"/>
            <a:ext cx="1051560" cy="914400"/>
          </a:xfrm>
          <a:prstGeom prst="rect">
            <a:avLst/>
          </a:prstGeom>
          <a:noFill/>
          <a:ln/>
        </p:spPr>
        <p:txBody>
          <a:bodyPr wrap="square" lIns="0" tIns="0" rIns="0" bIns="0" rtlCol="0" anchor="t"/>
          <a:lstStyle/>
          <a:p>
            <a:pPr marL="0" indent="0">
              <a:buNone/>
            </a:pPr>
            <a:r>
              <a:rPr lang="en-US" sz="1000" dirty="0">
                <a:solidFill>
                  <a:schemeClr val="bg2"/>
                </a:solidFill>
              </a:rPr>
              <a:t>Criterio de éxito, alcance mínimo y una tarea por </a:t>
            </a:r>
            <a:r>
              <a:rPr lang="en-US" sz="1000" dirty="0" err="1">
                <a:solidFill>
                  <a:schemeClr val="bg2"/>
                </a:solidFill>
              </a:rPr>
              <a:t>bloque</a:t>
            </a:r>
            <a:r>
              <a:rPr lang="en-US" sz="1000" dirty="0">
                <a:solidFill>
                  <a:schemeClr val="bg2"/>
                </a:solidFill>
              </a:rPr>
              <a:t>. </a:t>
            </a:r>
            <a:r>
              <a:rPr lang="en-US" sz="1000" dirty="0" err="1">
                <a:solidFill>
                  <a:schemeClr val="bg2"/>
                </a:solidFill>
              </a:rPr>
              <a:t>Propuesta</a:t>
            </a:r>
            <a:r>
              <a:rPr lang="en-US" sz="1000" dirty="0">
                <a:solidFill>
                  <a:schemeClr val="bg2"/>
                </a:solidFill>
              </a:rPr>
              <a:t> de </a:t>
            </a:r>
            <a:r>
              <a:rPr lang="en-US" sz="1000" dirty="0" err="1">
                <a:solidFill>
                  <a:schemeClr val="bg2"/>
                </a:solidFill>
              </a:rPr>
              <a:t>alcance</a:t>
            </a:r>
            <a:endParaRPr lang="en-US" sz="1000" dirty="0"/>
          </a:p>
        </p:txBody>
      </p:sp>
      <p:sp>
        <p:nvSpPr>
          <p:cNvPr id="41" name="Responsable camino 5"/>
          <p:cNvSpPr txBox="1"/>
          <p:nvPr/>
        </p:nvSpPr>
        <p:spPr>
          <a:xfrm>
            <a:off x="6153912" y="3246120"/>
            <a:ext cx="1051560" cy="320040"/>
          </a:xfrm>
          <a:prstGeom prst="rect">
            <a:avLst/>
          </a:prstGeom>
          <a:noFill/>
          <a:ln/>
        </p:spPr>
        <p:txBody>
          <a:bodyPr wrap="square" lIns="0" tIns="0" rIns="0" bIns="0" rtlCol="0" anchor="t"/>
          <a:lstStyle/>
          <a:p>
            <a:pPr marL="0" indent="0">
              <a:buNone/>
            </a:pPr>
            <a:r>
              <a:rPr lang="en-US" sz="1000" i="1" dirty="0">
                <a:solidFill>
                  <a:schemeClr val="accent2"/>
                </a:solidFill>
              </a:rPr>
              <a:t>Desarrollo</a:t>
            </a:r>
            <a:endParaRPr lang="en-US" sz="1000" dirty="0"/>
          </a:p>
        </p:txBody>
      </p:sp>
      <p:sp>
        <p:nvSpPr>
          <p:cNvPr id="42" name="Flecha 5"/>
          <p:cNvSpPr/>
          <p:nvPr/>
        </p:nvSpPr>
        <p:spPr>
          <a:xfrm>
            <a:off x="7306056" y="2395728"/>
            <a:ext cx="91440" cy="0"/>
          </a:xfrm>
          <a:prstGeom prst="line">
            <a:avLst/>
          </a:prstGeom>
          <a:noFill/>
          <a:ln w="19050">
            <a:solidFill>
              <a:schemeClr val="accent1"/>
            </a:solidFill>
            <a:prstDash val="solid"/>
            <a:tailEnd type="triangle"/>
          </a:ln>
        </p:spPr>
        <p:txBody>
          <a:bodyPr/>
          <a:lstStyle/>
          <a:p>
            <a:endParaRPr lang="es-ES"/>
          </a:p>
        </p:txBody>
      </p:sp>
      <p:sp>
        <p:nvSpPr>
          <p:cNvPr id="43" name="Paso camino 6"/>
          <p:cNvSpPr/>
          <p:nvPr/>
        </p:nvSpPr>
        <p:spPr>
          <a:xfrm>
            <a:off x="7406640" y="1143000"/>
            <a:ext cx="1280160" cy="2514600"/>
          </a:xfrm>
          <a:prstGeom prst="rect">
            <a:avLst/>
          </a:prstGeom>
          <a:solidFill>
            <a:schemeClr val="bg1"/>
          </a:solidFill>
          <a:ln/>
        </p:spPr>
        <p:txBody>
          <a:bodyPr/>
          <a:lstStyle/>
          <a:p>
            <a:endParaRPr lang="es-ES"/>
          </a:p>
        </p:txBody>
      </p:sp>
      <p:sp>
        <p:nvSpPr>
          <p:cNvPr id="44" name="Icono camino 6 fondo"/>
          <p:cNvSpPr/>
          <p:nvPr/>
        </p:nvSpPr>
        <p:spPr>
          <a:xfrm>
            <a:off x="7543800" y="1280160"/>
            <a:ext cx="438912" cy="438912"/>
          </a:xfrm>
          <a:prstGeom prst="rect">
            <a:avLst/>
          </a:prstGeom>
          <a:solidFill>
            <a:srgbClr val="293D36"/>
          </a:solidFill>
          <a:ln/>
        </p:spPr>
        <p:txBody>
          <a:bodyPr/>
          <a:lstStyle/>
          <a:p>
            <a:endParaRPr lang="es-ES"/>
          </a:p>
        </p:txBody>
      </p:sp>
      <p:pic>
        <p:nvPicPr>
          <p:cNvPr id="45" name="Icono camino 6 icono" descr="preencoded.png"/>
          <p:cNvPicPr>
            <a:picLocks noChangeAspect="1"/>
          </p:cNvPicPr>
          <p:nvPr/>
        </p:nvPicPr>
        <p:blipFill>
          <a:blip r:embed="rId8"/>
          <a:stretch>
            <a:fillRect/>
          </a:stretch>
        </p:blipFill>
        <p:spPr>
          <a:xfrm>
            <a:off x="7649139" y="1385499"/>
            <a:ext cx="228234" cy="228234"/>
          </a:xfrm>
          <a:prstGeom prst="rect">
            <a:avLst/>
          </a:prstGeom>
        </p:spPr>
      </p:pic>
      <p:sp>
        <p:nvSpPr>
          <p:cNvPr id="46" name="Numero camino 6"/>
          <p:cNvSpPr txBox="1"/>
          <p:nvPr/>
        </p:nvSpPr>
        <p:spPr>
          <a:xfrm>
            <a:off x="8138160" y="1280160"/>
            <a:ext cx="411480" cy="438912"/>
          </a:xfrm>
          <a:prstGeom prst="rect">
            <a:avLst/>
          </a:prstGeom>
          <a:noFill/>
          <a:ln/>
        </p:spPr>
        <p:txBody>
          <a:bodyPr wrap="square" lIns="0" tIns="0" rIns="0" bIns="0" rtlCol="0" anchor="ctr"/>
          <a:lstStyle/>
          <a:p>
            <a:pPr marL="0" indent="0" algn="r">
              <a:buNone/>
            </a:pPr>
            <a:r>
              <a:rPr lang="en-US" sz="2000" b="1" dirty="0">
                <a:solidFill>
                  <a:schemeClr val="accent1"/>
                </a:solidFill>
              </a:rPr>
              <a:t>6</a:t>
            </a:r>
            <a:endParaRPr lang="en-US" sz="2000" dirty="0"/>
          </a:p>
        </p:txBody>
      </p:sp>
      <p:sp>
        <p:nvSpPr>
          <p:cNvPr id="47" name="Titulo camino 6"/>
          <p:cNvSpPr txBox="1"/>
          <p:nvPr/>
        </p:nvSpPr>
        <p:spPr>
          <a:xfrm>
            <a:off x="7543800" y="1828800"/>
            <a:ext cx="1051560" cy="457200"/>
          </a:xfrm>
          <a:prstGeom prst="rect">
            <a:avLst/>
          </a:prstGeom>
          <a:noFill/>
          <a:ln/>
        </p:spPr>
        <p:txBody>
          <a:bodyPr wrap="square" lIns="0" tIns="0" rIns="0" bIns="0" rtlCol="0" anchor="t"/>
          <a:lstStyle/>
          <a:p>
            <a:pPr marL="0" indent="0">
              <a:buNone/>
            </a:pPr>
            <a:r>
              <a:rPr lang="en-US" sz="1200" b="1" dirty="0">
                <a:solidFill>
                  <a:schemeClr val="tx2"/>
                </a:solidFill>
              </a:rPr>
              <a:t>Medir y decidir</a:t>
            </a:r>
            <a:endParaRPr lang="en-US" sz="1200" dirty="0"/>
          </a:p>
        </p:txBody>
      </p:sp>
      <p:sp>
        <p:nvSpPr>
          <p:cNvPr id="48" name="Texto camino 6"/>
          <p:cNvSpPr txBox="1"/>
          <p:nvPr/>
        </p:nvSpPr>
        <p:spPr>
          <a:xfrm>
            <a:off x="7543800" y="2304288"/>
            <a:ext cx="1051560" cy="914400"/>
          </a:xfrm>
          <a:prstGeom prst="rect">
            <a:avLst/>
          </a:prstGeom>
          <a:noFill/>
          <a:ln/>
        </p:spPr>
        <p:txBody>
          <a:bodyPr wrap="square" lIns="0" tIns="0" rIns="0" bIns="0" rtlCol="0" anchor="t"/>
          <a:lstStyle/>
          <a:p>
            <a:pPr marL="0" indent="0">
              <a:buNone/>
            </a:pPr>
            <a:r>
              <a:rPr lang="en-US" sz="1000" dirty="0">
                <a:solidFill>
                  <a:schemeClr val="tx1"/>
                </a:solidFill>
              </a:rPr>
              <a:t>Se queda, se ajusta o se retira, con datos.</a:t>
            </a:r>
            <a:endParaRPr lang="en-US" sz="1000" dirty="0"/>
          </a:p>
        </p:txBody>
      </p:sp>
      <p:sp>
        <p:nvSpPr>
          <p:cNvPr id="49" name="Responsable camino 6"/>
          <p:cNvSpPr txBox="1"/>
          <p:nvPr/>
        </p:nvSpPr>
        <p:spPr>
          <a:xfrm>
            <a:off x="7543800" y="3246120"/>
            <a:ext cx="1051560" cy="320040"/>
          </a:xfrm>
          <a:prstGeom prst="rect">
            <a:avLst/>
          </a:prstGeom>
          <a:noFill/>
          <a:ln/>
        </p:spPr>
        <p:txBody>
          <a:bodyPr wrap="square" lIns="0" tIns="0" rIns="0" bIns="0" rtlCol="0" anchor="t"/>
          <a:lstStyle/>
          <a:p>
            <a:pPr marL="0" indent="0">
              <a:buNone/>
            </a:pPr>
            <a:r>
              <a:rPr lang="en-US" sz="1000" i="1" dirty="0">
                <a:solidFill>
                  <a:schemeClr val="accent5"/>
                </a:solidFill>
              </a:rPr>
              <a:t>Trío</a:t>
            </a:r>
            <a:endParaRPr lang="en-US" sz="1000" dirty="0"/>
          </a:p>
        </p:txBody>
      </p:sp>
      <p:sp>
        <p:nvSpPr>
          <p:cNvPr id="50" name="Salidas"/>
          <p:cNvSpPr/>
          <p:nvPr/>
        </p:nvSpPr>
        <p:spPr>
          <a:xfrm>
            <a:off x="457200" y="3840480"/>
            <a:ext cx="8229600" cy="731520"/>
          </a:xfrm>
          <a:prstGeom prst="rect">
            <a:avLst/>
          </a:prstGeom>
          <a:solidFill>
            <a:schemeClr val="accent3"/>
          </a:solidFill>
          <a:ln/>
        </p:spPr>
        <p:txBody>
          <a:bodyPr/>
          <a:lstStyle/>
          <a:p>
            <a:endParaRPr lang="es-ES"/>
          </a:p>
        </p:txBody>
      </p:sp>
      <p:sp>
        <p:nvSpPr>
          <p:cNvPr id="51" name="Salidas texto"/>
          <p:cNvSpPr txBox="1"/>
          <p:nvPr/>
        </p:nvSpPr>
        <p:spPr>
          <a:xfrm>
            <a:off x="685800" y="3840480"/>
            <a:ext cx="7772400" cy="731520"/>
          </a:xfrm>
          <a:prstGeom prst="rect">
            <a:avLst/>
          </a:prstGeom>
          <a:noFill/>
          <a:ln/>
        </p:spPr>
        <p:txBody>
          <a:bodyPr wrap="square" lIns="0" tIns="0" rIns="0" bIns="0" rtlCol="0" anchor="ctr"/>
          <a:lstStyle/>
          <a:p>
            <a:pPr marL="0" indent="0">
              <a:buNone/>
            </a:pPr>
            <a:r>
              <a:rPr lang="en-US" sz="1200" b="1" dirty="0">
                <a:solidFill>
                  <a:schemeClr val="accent4"/>
                </a:solidFill>
              </a:rPr>
              <a:t>Puertas de salida: </a:t>
            </a:r>
            <a:r>
              <a:rPr lang="en-US" sz="1200" dirty="0">
                <a:solidFill>
                  <a:schemeClr val="tx1"/>
                </a:solidFill>
              </a:rPr>
              <a:t>si falla el paso 2, 3 o 4, la idea vuelve al parking o se descarta. No se salta ningún paso y nada llega a desarrollo sin haber pasado por validación.</a:t>
            </a:r>
            <a:endParaRPr lang="en-US" sz="1200" dirty="0"/>
          </a:p>
        </p:txBody>
      </p:sp>
      <p:sp>
        <p:nvSpPr>
          <p:cNvPr id="52"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Pasos iniciales</a:t>
            </a:r>
            <a:endParaRPr lang="en-US" sz="3000" dirty="0"/>
          </a:p>
        </p:txBody>
      </p:sp>
      <p:sp>
        <p:nvSpPr>
          <p:cNvPr id="3" name="Paso 1"/>
          <p:cNvSpPr/>
          <p:nvPr/>
        </p:nvSpPr>
        <p:spPr>
          <a:xfrm>
            <a:off x="457200" y="1097280"/>
            <a:ext cx="1920240" cy="3474720"/>
          </a:xfrm>
          <a:prstGeom prst="rect">
            <a:avLst/>
          </a:prstGeom>
          <a:solidFill>
            <a:schemeClr val="bg1"/>
          </a:solidFill>
          <a:ln/>
        </p:spPr>
        <p:txBody>
          <a:bodyPr/>
          <a:lstStyle/>
          <a:p>
            <a:endParaRPr lang="es-ES"/>
          </a:p>
        </p:txBody>
      </p:sp>
      <p:sp>
        <p:nvSpPr>
          <p:cNvPr id="4" name="Icono paso 1 fondo"/>
          <p:cNvSpPr/>
          <p:nvPr/>
        </p:nvSpPr>
        <p:spPr>
          <a:xfrm>
            <a:off x="640080" y="1280160"/>
            <a:ext cx="502920" cy="502920"/>
          </a:xfrm>
          <a:prstGeom prst="rect">
            <a:avLst/>
          </a:prstGeom>
          <a:solidFill>
            <a:srgbClr val="293D36"/>
          </a:solidFill>
          <a:ln/>
        </p:spPr>
        <p:txBody>
          <a:bodyPr/>
          <a:lstStyle/>
          <a:p>
            <a:endParaRPr lang="es-ES"/>
          </a:p>
        </p:txBody>
      </p:sp>
      <p:pic>
        <p:nvPicPr>
          <p:cNvPr id="5" name="Icono paso 1 icono" descr="preencoded.png"/>
          <p:cNvPicPr>
            <a:picLocks noChangeAspect="1"/>
          </p:cNvPicPr>
          <p:nvPr/>
        </p:nvPicPr>
        <p:blipFill>
          <a:blip r:embed="rId3"/>
          <a:stretch>
            <a:fillRect/>
          </a:stretch>
        </p:blipFill>
        <p:spPr>
          <a:xfrm>
            <a:off x="760781" y="1400861"/>
            <a:ext cx="261518" cy="261518"/>
          </a:xfrm>
          <a:prstGeom prst="rect">
            <a:avLst/>
          </a:prstGeom>
        </p:spPr>
      </p:pic>
      <p:sp>
        <p:nvSpPr>
          <p:cNvPr id="6" name="Paso titulo 1"/>
          <p:cNvSpPr txBox="1"/>
          <p:nvPr/>
        </p:nvSpPr>
        <p:spPr>
          <a:xfrm>
            <a:off x="640080" y="1901952"/>
            <a:ext cx="1600200" cy="292608"/>
          </a:xfrm>
          <a:prstGeom prst="rect">
            <a:avLst/>
          </a:prstGeom>
          <a:noFill/>
          <a:ln/>
        </p:spPr>
        <p:txBody>
          <a:bodyPr wrap="square" lIns="0" tIns="0" rIns="0" bIns="0" rtlCol="0" anchor="t"/>
          <a:lstStyle/>
          <a:p>
            <a:pPr marL="0" indent="0">
              <a:buNone/>
            </a:pPr>
            <a:r>
              <a:rPr lang="en-US" sz="1400" b="1" dirty="0">
                <a:solidFill>
                  <a:schemeClr val="tx2"/>
                </a:solidFill>
              </a:rPr>
              <a:t>Definir el MVP</a:t>
            </a:r>
            <a:endParaRPr lang="en-US" sz="1400" dirty="0"/>
          </a:p>
        </p:txBody>
      </p:sp>
      <p:sp>
        <p:nvSpPr>
          <p:cNvPr id="7" name="Paso responsable 1"/>
          <p:cNvSpPr txBox="1"/>
          <p:nvPr/>
        </p:nvSpPr>
        <p:spPr>
          <a:xfrm>
            <a:off x="640080" y="2212848"/>
            <a:ext cx="1600200" cy="256032"/>
          </a:xfrm>
          <a:prstGeom prst="rect">
            <a:avLst/>
          </a:prstGeom>
          <a:noFill/>
          <a:ln/>
        </p:spPr>
        <p:txBody>
          <a:bodyPr wrap="square" lIns="0" tIns="0" rIns="0" bIns="0" rtlCol="0" anchor="t"/>
          <a:lstStyle/>
          <a:p>
            <a:pPr marL="0" indent="0">
              <a:buNone/>
            </a:pPr>
            <a:r>
              <a:rPr lang="en-US" sz="1000" dirty="0">
                <a:solidFill>
                  <a:schemeClr val="accent5"/>
                </a:solidFill>
              </a:rPr>
              <a:t>Responsable: Todos</a:t>
            </a:r>
            <a:endParaRPr lang="en-US" sz="1000" dirty="0"/>
          </a:p>
        </p:txBody>
      </p:sp>
      <p:sp>
        <p:nvSpPr>
          <p:cNvPr id="8" name="Paso lista 1"/>
          <p:cNvSpPr txBox="1"/>
          <p:nvPr/>
        </p:nvSpPr>
        <p:spPr>
          <a:xfrm>
            <a:off x="640080" y="2560320"/>
            <a:ext cx="1645920" cy="19202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Aviso real + ver qué ha pasado + escalado</a:t>
            </a:r>
            <a:endParaRPr lang="en-US" sz="1100" dirty="0"/>
          </a:p>
          <a:p>
            <a:pPr marL="342900" indent="-342900">
              <a:spcAft>
                <a:spcPts val="600"/>
              </a:spcAft>
              <a:buSzPct val="100000"/>
              <a:buChar char="•"/>
            </a:pPr>
            <a:r>
              <a:rPr lang="en-US" sz="1100" dirty="0">
                <a:solidFill>
                  <a:schemeClr val="tx1"/>
                </a:solidFill>
              </a:rPr>
              <a:t>Decidir: vídeo, silueta o radar, con las entrevistas</a:t>
            </a:r>
            <a:endParaRPr lang="en-US" sz="1100" dirty="0"/>
          </a:p>
          <a:p>
            <a:pPr marL="342900" indent="-342900">
              <a:spcAft>
                <a:spcPts val="600"/>
              </a:spcAft>
              <a:buSzPct val="100000"/>
              <a:buChar char="•"/>
            </a:pPr>
            <a:r>
              <a:rPr lang="en-US" sz="1100" dirty="0">
                <a:solidFill>
                  <a:schemeClr val="tx1"/>
                </a:solidFill>
              </a:rPr>
              <a:t>Fuera: reloj y reconocimiento facial</a:t>
            </a:r>
            <a:endParaRPr lang="en-US" sz="1100" dirty="0"/>
          </a:p>
        </p:txBody>
      </p:sp>
      <p:sp>
        <p:nvSpPr>
          <p:cNvPr id="9" name="Paso 2"/>
          <p:cNvSpPr/>
          <p:nvPr/>
        </p:nvSpPr>
        <p:spPr>
          <a:xfrm>
            <a:off x="2560320" y="1097280"/>
            <a:ext cx="1920240" cy="3474720"/>
          </a:xfrm>
          <a:prstGeom prst="rect">
            <a:avLst/>
          </a:prstGeom>
          <a:solidFill>
            <a:schemeClr val="bg1"/>
          </a:solidFill>
          <a:ln/>
        </p:spPr>
        <p:txBody>
          <a:bodyPr/>
          <a:lstStyle/>
          <a:p>
            <a:endParaRPr lang="es-ES"/>
          </a:p>
        </p:txBody>
      </p:sp>
      <p:sp>
        <p:nvSpPr>
          <p:cNvPr id="10" name="Icono paso 2 fondo"/>
          <p:cNvSpPr/>
          <p:nvPr/>
        </p:nvSpPr>
        <p:spPr>
          <a:xfrm>
            <a:off x="2743200" y="1280160"/>
            <a:ext cx="502920" cy="502920"/>
          </a:xfrm>
          <a:prstGeom prst="rect">
            <a:avLst/>
          </a:prstGeom>
          <a:solidFill>
            <a:srgbClr val="293D36"/>
          </a:solidFill>
          <a:ln/>
        </p:spPr>
        <p:txBody>
          <a:bodyPr/>
          <a:lstStyle/>
          <a:p>
            <a:endParaRPr lang="es-ES"/>
          </a:p>
        </p:txBody>
      </p:sp>
      <p:pic>
        <p:nvPicPr>
          <p:cNvPr id="11" name="Icono paso 2 icono" descr="preencoded.png"/>
          <p:cNvPicPr>
            <a:picLocks noChangeAspect="1"/>
          </p:cNvPicPr>
          <p:nvPr/>
        </p:nvPicPr>
        <p:blipFill>
          <a:blip r:embed="rId4"/>
          <a:stretch>
            <a:fillRect/>
          </a:stretch>
        </p:blipFill>
        <p:spPr>
          <a:xfrm>
            <a:off x="2863901" y="1400861"/>
            <a:ext cx="261518" cy="261518"/>
          </a:xfrm>
          <a:prstGeom prst="rect">
            <a:avLst/>
          </a:prstGeom>
        </p:spPr>
      </p:pic>
      <p:sp>
        <p:nvSpPr>
          <p:cNvPr id="12" name="Paso titulo 2"/>
          <p:cNvSpPr txBox="1"/>
          <p:nvPr/>
        </p:nvSpPr>
        <p:spPr>
          <a:xfrm>
            <a:off x="2743200" y="1901952"/>
            <a:ext cx="1600200" cy="292608"/>
          </a:xfrm>
          <a:prstGeom prst="rect">
            <a:avLst/>
          </a:prstGeom>
          <a:noFill/>
          <a:ln/>
        </p:spPr>
        <p:txBody>
          <a:bodyPr wrap="square" lIns="0" tIns="0" rIns="0" bIns="0" rtlCol="0" anchor="t"/>
          <a:lstStyle/>
          <a:p>
            <a:pPr marL="0" indent="0">
              <a:buNone/>
            </a:pPr>
            <a:r>
              <a:rPr lang="en-US" sz="1400" b="1" dirty="0">
                <a:solidFill>
                  <a:schemeClr val="tx2"/>
                </a:solidFill>
              </a:rPr>
              <a:t>Empresa</a:t>
            </a:r>
            <a:endParaRPr lang="en-US" sz="1400" dirty="0"/>
          </a:p>
        </p:txBody>
      </p:sp>
      <p:sp>
        <p:nvSpPr>
          <p:cNvPr id="13" name="Paso responsable 2"/>
          <p:cNvSpPr txBox="1"/>
          <p:nvPr/>
        </p:nvSpPr>
        <p:spPr>
          <a:xfrm>
            <a:off x="2743200" y="2212848"/>
            <a:ext cx="1600200" cy="256032"/>
          </a:xfrm>
          <a:prstGeom prst="rect">
            <a:avLst/>
          </a:prstGeom>
          <a:noFill/>
          <a:ln/>
        </p:spPr>
        <p:txBody>
          <a:bodyPr wrap="square" lIns="0" tIns="0" rIns="0" bIns="0" rtlCol="0" anchor="t"/>
          <a:lstStyle/>
          <a:p>
            <a:pPr marL="0" indent="0">
              <a:buNone/>
            </a:pPr>
            <a:r>
              <a:rPr lang="en-US" sz="1000" dirty="0">
                <a:solidFill>
                  <a:schemeClr val="accent5"/>
                </a:solidFill>
              </a:rPr>
              <a:t>Responsable: Legal</a:t>
            </a:r>
            <a:endParaRPr lang="en-US" sz="1000" dirty="0"/>
          </a:p>
        </p:txBody>
      </p:sp>
      <p:sp>
        <p:nvSpPr>
          <p:cNvPr id="14" name="Paso lista 2"/>
          <p:cNvSpPr txBox="1"/>
          <p:nvPr/>
        </p:nvSpPr>
        <p:spPr>
          <a:xfrm>
            <a:off x="2743200" y="2560320"/>
            <a:ext cx="1645920" cy="19202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Forma </a:t>
            </a:r>
            <a:r>
              <a:rPr lang="en-US" sz="1100" dirty="0" err="1">
                <a:solidFill>
                  <a:schemeClr val="tx1"/>
                </a:solidFill>
              </a:rPr>
              <a:t>jurídica</a:t>
            </a:r>
            <a:r>
              <a:rPr lang="en-US" sz="1100" dirty="0">
                <a:solidFill>
                  <a:schemeClr val="tx1"/>
                </a:solidFill>
              </a:rPr>
              <a:t> </a:t>
            </a:r>
          </a:p>
          <a:p>
            <a:pPr marL="342900" indent="-342900">
              <a:spcAft>
                <a:spcPts val="600"/>
              </a:spcAft>
              <a:buSzPct val="100000"/>
              <a:buChar char="•"/>
            </a:pPr>
            <a:r>
              <a:rPr lang="en-US" sz="1100" dirty="0" err="1">
                <a:solidFill>
                  <a:schemeClr val="tx1"/>
                </a:solidFill>
              </a:rPr>
              <a:t>Gestoría</a:t>
            </a:r>
            <a:r>
              <a:rPr lang="en-US" sz="1100" dirty="0">
                <a:solidFill>
                  <a:schemeClr val="tx1"/>
                </a:solidFill>
              </a:rPr>
              <a:t>: cuota de autónomos</a:t>
            </a:r>
            <a:endParaRPr lang="en-US" sz="1100" dirty="0"/>
          </a:p>
          <a:p>
            <a:pPr marL="342900" indent="-342900">
              <a:spcAft>
                <a:spcPts val="600"/>
              </a:spcAft>
              <a:buSzPct val="100000"/>
              <a:buChar char="•"/>
            </a:pPr>
            <a:r>
              <a:rPr lang="en-US" sz="1100" dirty="0">
                <a:solidFill>
                  <a:schemeClr val="tx1"/>
                </a:solidFill>
              </a:rPr>
              <a:t>NIF, razón social, seguro y DPO</a:t>
            </a:r>
          </a:p>
          <a:p>
            <a:pPr marL="342900" indent="-342900">
              <a:spcAft>
                <a:spcPts val="600"/>
              </a:spcAft>
              <a:buSzPct val="100000"/>
              <a:buChar char="•"/>
            </a:pPr>
            <a:r>
              <a:rPr lang="en-US" sz="1100" dirty="0" err="1"/>
              <a:t>Viabilidad</a:t>
            </a:r>
            <a:r>
              <a:rPr lang="en-US" sz="1100" dirty="0"/>
              <a:t> del </a:t>
            </a:r>
            <a:r>
              <a:rPr lang="en-US" sz="1100" dirty="0" err="1"/>
              <a:t>producto</a:t>
            </a:r>
            <a:r>
              <a:rPr lang="en-US" sz="1100" dirty="0"/>
              <a:t> </a:t>
            </a:r>
            <a:r>
              <a:rPr lang="en-US" sz="1100" dirty="0" err="1"/>
              <a:t>en</a:t>
            </a:r>
            <a:r>
              <a:rPr lang="en-US" sz="1100" dirty="0"/>
              <a:t> </a:t>
            </a:r>
            <a:r>
              <a:rPr lang="en-US" sz="1100" dirty="0" err="1"/>
              <a:t>desarrollo</a:t>
            </a:r>
            <a:endParaRPr lang="en-US" sz="1100" dirty="0">
              <a:solidFill>
                <a:schemeClr val="tx1"/>
              </a:solidFill>
            </a:endParaRPr>
          </a:p>
        </p:txBody>
      </p:sp>
      <p:sp>
        <p:nvSpPr>
          <p:cNvPr id="15" name="Paso 3"/>
          <p:cNvSpPr/>
          <p:nvPr/>
        </p:nvSpPr>
        <p:spPr>
          <a:xfrm>
            <a:off x="4663440" y="1097280"/>
            <a:ext cx="1920240" cy="3474720"/>
          </a:xfrm>
          <a:prstGeom prst="rect">
            <a:avLst/>
          </a:prstGeom>
          <a:solidFill>
            <a:schemeClr val="bg1"/>
          </a:solidFill>
          <a:ln/>
        </p:spPr>
        <p:txBody>
          <a:bodyPr/>
          <a:lstStyle/>
          <a:p>
            <a:endParaRPr lang="es-ES"/>
          </a:p>
        </p:txBody>
      </p:sp>
      <p:sp>
        <p:nvSpPr>
          <p:cNvPr id="16" name="Icono paso 3 fondo"/>
          <p:cNvSpPr/>
          <p:nvPr/>
        </p:nvSpPr>
        <p:spPr>
          <a:xfrm>
            <a:off x="4846320" y="1280160"/>
            <a:ext cx="502920" cy="502920"/>
          </a:xfrm>
          <a:prstGeom prst="rect">
            <a:avLst/>
          </a:prstGeom>
          <a:solidFill>
            <a:srgbClr val="293D36"/>
          </a:solidFill>
          <a:ln/>
        </p:spPr>
        <p:txBody>
          <a:bodyPr/>
          <a:lstStyle/>
          <a:p>
            <a:endParaRPr lang="es-ES"/>
          </a:p>
        </p:txBody>
      </p:sp>
      <p:pic>
        <p:nvPicPr>
          <p:cNvPr id="17" name="Icono paso 3 icono" descr="preencoded.png"/>
          <p:cNvPicPr>
            <a:picLocks noChangeAspect="1"/>
          </p:cNvPicPr>
          <p:nvPr/>
        </p:nvPicPr>
        <p:blipFill>
          <a:blip r:embed="rId5"/>
          <a:stretch>
            <a:fillRect/>
          </a:stretch>
        </p:blipFill>
        <p:spPr>
          <a:xfrm>
            <a:off x="4967021" y="1400861"/>
            <a:ext cx="261518" cy="261518"/>
          </a:xfrm>
          <a:prstGeom prst="rect">
            <a:avLst/>
          </a:prstGeom>
        </p:spPr>
      </p:pic>
      <p:sp>
        <p:nvSpPr>
          <p:cNvPr id="18" name="Paso titulo 3"/>
          <p:cNvSpPr txBox="1"/>
          <p:nvPr/>
        </p:nvSpPr>
        <p:spPr>
          <a:xfrm>
            <a:off x="4846320" y="1901952"/>
            <a:ext cx="1600200" cy="292608"/>
          </a:xfrm>
          <a:prstGeom prst="rect">
            <a:avLst/>
          </a:prstGeom>
          <a:noFill/>
          <a:ln/>
        </p:spPr>
        <p:txBody>
          <a:bodyPr wrap="square" lIns="0" tIns="0" rIns="0" bIns="0" rtlCol="0" anchor="t"/>
          <a:lstStyle/>
          <a:p>
            <a:pPr marL="0" indent="0">
              <a:buNone/>
            </a:pPr>
            <a:r>
              <a:rPr lang="en-US" sz="1400" b="1" dirty="0">
                <a:solidFill>
                  <a:schemeClr val="tx2"/>
                </a:solidFill>
              </a:rPr>
              <a:t>Validación</a:t>
            </a:r>
            <a:endParaRPr lang="en-US" sz="1400" dirty="0"/>
          </a:p>
        </p:txBody>
      </p:sp>
      <p:sp>
        <p:nvSpPr>
          <p:cNvPr id="19" name="Paso responsable 3"/>
          <p:cNvSpPr txBox="1"/>
          <p:nvPr/>
        </p:nvSpPr>
        <p:spPr>
          <a:xfrm>
            <a:off x="4846320" y="2212848"/>
            <a:ext cx="1600200" cy="256032"/>
          </a:xfrm>
          <a:prstGeom prst="rect">
            <a:avLst/>
          </a:prstGeom>
          <a:noFill/>
          <a:ln/>
        </p:spPr>
        <p:txBody>
          <a:bodyPr wrap="square" lIns="0" tIns="0" rIns="0" bIns="0" rtlCol="0" anchor="t"/>
          <a:lstStyle/>
          <a:p>
            <a:pPr marL="0" indent="0">
              <a:buNone/>
            </a:pPr>
            <a:r>
              <a:rPr lang="en-US" sz="1000" dirty="0">
                <a:solidFill>
                  <a:schemeClr val="accent5"/>
                </a:solidFill>
              </a:rPr>
              <a:t>Responsable: Negocio</a:t>
            </a:r>
            <a:endParaRPr lang="en-US" sz="1000" dirty="0"/>
          </a:p>
        </p:txBody>
      </p:sp>
      <p:sp>
        <p:nvSpPr>
          <p:cNvPr id="20" name="Paso lista 3"/>
          <p:cNvSpPr txBox="1"/>
          <p:nvPr/>
        </p:nvSpPr>
        <p:spPr>
          <a:xfrm>
            <a:off x="4846320" y="2560320"/>
            <a:ext cx="1645920" cy="19202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Guion y 15-20 entrevistas</a:t>
            </a:r>
            <a:endParaRPr lang="en-US" sz="1100" dirty="0"/>
          </a:p>
          <a:p>
            <a:pPr marL="342900" indent="-342900">
              <a:spcAft>
                <a:spcPts val="600"/>
              </a:spcAft>
              <a:buSzPct val="100000"/>
              <a:buChar char="•"/>
            </a:pPr>
            <a:r>
              <a:rPr lang="en-US" sz="1100" dirty="0">
                <a:solidFill>
                  <a:schemeClr val="tx1"/>
                </a:solidFill>
              </a:rPr>
              <a:t>Preventa con señal reembolsable</a:t>
            </a:r>
            <a:endParaRPr lang="en-US" sz="1100" dirty="0"/>
          </a:p>
          <a:p>
            <a:pPr marL="342900" indent="-342900">
              <a:spcAft>
                <a:spcPts val="600"/>
              </a:spcAft>
              <a:buSzPct val="100000"/>
              <a:buChar char="•"/>
            </a:pPr>
            <a:r>
              <a:rPr lang="en-US" sz="1100" dirty="0">
                <a:solidFill>
                  <a:schemeClr val="tx1"/>
                </a:solidFill>
              </a:rPr>
              <a:t>Presupuesto del kit y 2-3 casas</a:t>
            </a:r>
            <a:endParaRPr lang="en-US" sz="1100" dirty="0"/>
          </a:p>
        </p:txBody>
      </p:sp>
      <p:sp>
        <p:nvSpPr>
          <p:cNvPr id="21" name="Paso 4"/>
          <p:cNvSpPr/>
          <p:nvPr/>
        </p:nvSpPr>
        <p:spPr>
          <a:xfrm>
            <a:off x="6766560" y="1097280"/>
            <a:ext cx="1920240" cy="3474720"/>
          </a:xfrm>
          <a:prstGeom prst="rect">
            <a:avLst/>
          </a:prstGeom>
          <a:solidFill>
            <a:schemeClr val="bg1"/>
          </a:solidFill>
          <a:ln/>
        </p:spPr>
        <p:txBody>
          <a:bodyPr/>
          <a:lstStyle/>
          <a:p>
            <a:endParaRPr lang="es-ES"/>
          </a:p>
        </p:txBody>
      </p:sp>
      <p:sp>
        <p:nvSpPr>
          <p:cNvPr id="22" name="Icono paso 4 fondo"/>
          <p:cNvSpPr/>
          <p:nvPr/>
        </p:nvSpPr>
        <p:spPr>
          <a:xfrm>
            <a:off x="6949440" y="1280160"/>
            <a:ext cx="502920" cy="502920"/>
          </a:xfrm>
          <a:prstGeom prst="rect">
            <a:avLst/>
          </a:prstGeom>
          <a:solidFill>
            <a:srgbClr val="293D36"/>
          </a:solidFill>
          <a:ln/>
        </p:spPr>
        <p:txBody>
          <a:bodyPr/>
          <a:lstStyle/>
          <a:p>
            <a:endParaRPr lang="es-ES"/>
          </a:p>
        </p:txBody>
      </p:sp>
      <p:pic>
        <p:nvPicPr>
          <p:cNvPr id="23" name="Icono paso 4 icono" descr="preencoded.png"/>
          <p:cNvPicPr>
            <a:picLocks noChangeAspect="1"/>
          </p:cNvPicPr>
          <p:nvPr/>
        </p:nvPicPr>
        <p:blipFill>
          <a:blip r:embed="rId6"/>
          <a:stretch>
            <a:fillRect/>
          </a:stretch>
        </p:blipFill>
        <p:spPr>
          <a:xfrm>
            <a:off x="7070141" y="1400861"/>
            <a:ext cx="261518" cy="261518"/>
          </a:xfrm>
          <a:prstGeom prst="rect">
            <a:avLst/>
          </a:prstGeom>
        </p:spPr>
      </p:pic>
      <p:sp>
        <p:nvSpPr>
          <p:cNvPr id="24" name="Paso titulo 4"/>
          <p:cNvSpPr txBox="1"/>
          <p:nvPr/>
        </p:nvSpPr>
        <p:spPr>
          <a:xfrm>
            <a:off x="6949440" y="1901952"/>
            <a:ext cx="1600200" cy="292608"/>
          </a:xfrm>
          <a:prstGeom prst="rect">
            <a:avLst/>
          </a:prstGeom>
          <a:noFill/>
          <a:ln/>
        </p:spPr>
        <p:txBody>
          <a:bodyPr wrap="square" lIns="0" tIns="0" rIns="0" bIns="0" rtlCol="0" anchor="t"/>
          <a:lstStyle/>
          <a:p>
            <a:pPr marL="0" indent="0">
              <a:buNone/>
            </a:pPr>
            <a:r>
              <a:rPr lang="en-US" sz="1400" b="1" dirty="0">
                <a:solidFill>
                  <a:schemeClr val="tx2"/>
                </a:solidFill>
              </a:rPr>
              <a:t>Técnico</a:t>
            </a:r>
            <a:endParaRPr lang="en-US" sz="1400" dirty="0"/>
          </a:p>
        </p:txBody>
      </p:sp>
      <p:sp>
        <p:nvSpPr>
          <p:cNvPr id="25" name="Paso responsable 4"/>
          <p:cNvSpPr txBox="1"/>
          <p:nvPr/>
        </p:nvSpPr>
        <p:spPr>
          <a:xfrm>
            <a:off x="6949440" y="2212848"/>
            <a:ext cx="1600200" cy="256032"/>
          </a:xfrm>
          <a:prstGeom prst="rect">
            <a:avLst/>
          </a:prstGeom>
          <a:noFill/>
          <a:ln/>
        </p:spPr>
        <p:txBody>
          <a:bodyPr wrap="square" lIns="0" tIns="0" rIns="0" bIns="0" rtlCol="0" anchor="t"/>
          <a:lstStyle/>
          <a:p>
            <a:pPr marL="0" indent="0">
              <a:buNone/>
            </a:pPr>
            <a:r>
              <a:rPr lang="en-US" sz="1000" dirty="0">
                <a:solidFill>
                  <a:schemeClr val="accent5"/>
                </a:solidFill>
              </a:rPr>
              <a:t>Responsable: Desarrollo</a:t>
            </a:r>
            <a:endParaRPr lang="en-US" sz="1000" dirty="0"/>
          </a:p>
        </p:txBody>
      </p:sp>
      <p:sp>
        <p:nvSpPr>
          <p:cNvPr id="26" name="Paso lista 4"/>
          <p:cNvSpPr txBox="1"/>
          <p:nvPr/>
        </p:nvSpPr>
        <p:spPr>
          <a:xfrm>
            <a:off x="6949440" y="2560320"/>
            <a:ext cx="1645920" cy="19202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Probar caída → aviso → clip de punta a punta</a:t>
            </a:r>
            <a:endParaRPr lang="en-US" sz="1100" dirty="0"/>
          </a:p>
          <a:p>
            <a:pPr marL="342900" indent="-342900">
              <a:spcAft>
                <a:spcPts val="600"/>
              </a:spcAft>
              <a:buSzPct val="100000"/>
              <a:buChar char="•"/>
            </a:pPr>
            <a:r>
              <a:rPr lang="en-US" sz="1100" dirty="0">
                <a:solidFill>
                  <a:schemeClr val="tx1"/>
                </a:solidFill>
              </a:rPr>
              <a:t>Medir el coste de AWS por hogar</a:t>
            </a:r>
            <a:endParaRPr lang="en-US" sz="1100" dirty="0"/>
          </a:p>
          <a:p>
            <a:pPr marL="342900" indent="-342900">
              <a:spcAft>
                <a:spcPts val="600"/>
              </a:spcAft>
              <a:buSzPct val="100000"/>
              <a:buChar char="•"/>
            </a:pPr>
            <a:r>
              <a:rPr lang="en-US" sz="1100" dirty="0">
                <a:solidFill>
                  <a:schemeClr val="tx1"/>
                </a:solidFill>
              </a:rPr>
              <a:t>Decidir qué hacer con el reloj sin TLS</a:t>
            </a:r>
            <a:endParaRPr lang="en-US" sz="1100" dirty="0"/>
          </a:p>
        </p:txBody>
      </p:sp>
      <p:sp>
        <p:nvSpPr>
          <p:cNvPr id="27"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65E84C-25E6-2931-3FCF-7D9E961F1F85}"/>
              </a:ext>
            </a:extLst>
          </p:cNvPr>
          <p:cNvSpPr>
            <a:spLocks noGrp="1"/>
          </p:cNvSpPr>
          <p:nvPr>
            <p:ph type="title" idx="101"/>
          </p:nvPr>
        </p:nvSpPr>
        <p:spPr>
          <a:xfrm>
            <a:off x="457200" y="1641913"/>
            <a:ext cx="8229600" cy="1859674"/>
          </a:xfrm>
        </p:spPr>
        <p:txBody>
          <a:bodyPr anchor="ctr"/>
          <a:lstStyle/>
          <a:p>
            <a:pPr algn="ctr"/>
            <a:r>
              <a:rPr lang="es-ES" dirty="0"/>
              <a:t>Definición de documento de verdad</a:t>
            </a:r>
            <a:br>
              <a:rPr lang="es-ES" dirty="0"/>
            </a:br>
            <a:r>
              <a:rPr lang="es-ES" dirty="0"/>
              <a:t>+</a:t>
            </a:r>
            <a:br>
              <a:rPr lang="es-ES" dirty="0"/>
            </a:br>
            <a:r>
              <a:rPr lang="es-ES" dirty="0" err="1"/>
              <a:t>Definicion</a:t>
            </a:r>
            <a:r>
              <a:rPr lang="es-ES" dirty="0"/>
              <a:t> del MVP</a:t>
            </a:r>
          </a:p>
        </p:txBody>
      </p:sp>
    </p:spTree>
    <p:extLst>
      <p:ext uri="{BB962C8B-B14F-4D97-AF65-F5344CB8AC3E}">
        <p14:creationId xmlns:p14="http://schemas.microsoft.com/office/powerpoint/2010/main" val="1106650132"/>
      </p:ext>
    </p:extLst>
  </p:cSld>
  <p:clrMapOvr>
    <a:masterClrMapping/>
  </p:clrMapOvr>
</p:sld>
</file>

<file path=ppt/theme/theme1.xml><?xml version="1.0" encoding="utf-8"?>
<a:theme xmlns:a="http://schemas.openxmlformats.org/drawingml/2006/main" name="VITAbyus">
  <a:themeElements>
    <a:clrScheme name="VITAbyus">
      <a:dk1>
        <a:srgbClr val="252B2B"/>
      </a:dk1>
      <a:lt1>
        <a:srgbClr val="FFFFFF"/>
      </a:lt1>
      <a:dk2>
        <a:srgbClr val="293D36"/>
      </a:dk2>
      <a:lt2>
        <a:srgbClr val="F1EEE4"/>
      </a:lt2>
      <a:accent1>
        <a:srgbClr val="5A8777"/>
      </a:accent1>
      <a:accent2>
        <a:srgbClr val="C3D5C8"/>
      </a:accent2>
      <a:accent3>
        <a:srgbClr val="F5E3CC"/>
      </a:accent3>
      <a:accent4>
        <a:srgbClr val="8C3A2B"/>
      </a:accent4>
      <a:accent5>
        <a:srgbClr val="4E5555"/>
      </a:accent5>
      <a:accent6>
        <a:srgbClr val="1B2A25"/>
      </a:accent6>
      <a:hlink>
        <a:srgbClr val="293D36"/>
      </a:hlink>
      <a:folHlink>
        <a:srgbClr val="5A8777"/>
      </a:folHlink>
    </a:clrScheme>
    <a:fontScheme name="VITAby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Modulo</Template>
  <TotalTime>454</TotalTime>
  <Words>2137</Words>
  <Application>Microsoft Macintosh PowerPoint</Application>
  <PresentationFormat>Presentación en pantalla (16:9)</PresentationFormat>
  <Paragraphs>247</Paragraphs>
  <Slides>13</Slides>
  <Notes>12</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13</vt:i4>
      </vt:variant>
    </vt:vector>
  </HeadingPairs>
  <TitlesOfParts>
    <vt:vector size="15" baseType="lpstr">
      <vt:lpstr>Arial</vt:lpstr>
      <vt:lpstr>VITAbyus</vt:lpstr>
      <vt:lpstr>Vita: dónde estamos y cómo seguimos</vt:lpstr>
      <vt:lpstr>Contexto y objetivo de la sesión</vt:lpstr>
      <vt:lpstr>Qué tenemos desarrollado</vt:lpstr>
      <vt:lpstr>Lo que aún no tenemos</vt:lpstr>
      <vt:lpstr>Qué ofrecen otras empresas</vt:lpstr>
      <vt:lpstr>Vita frente al mercado</vt:lpstr>
      <vt:lpstr>Precios frente a la competencia</vt:lpstr>
      <vt:lpstr>Lo que cuesta lo que hacemos</vt:lpstr>
      <vt:lpstr>Puntos de dolor de cómo trabajamos</vt:lpstr>
      <vt:lpstr>Propuesta: 3 fases hasta 10 hogares de pago</vt:lpstr>
      <vt:lpstr>Camino de una idea hasta producción</vt:lpstr>
      <vt:lpstr>Pasos iniciales</vt:lpstr>
      <vt:lpstr>Definición de documento de verdad + Definicion del MVP</vt:lpstr>
    </vt:vector>
  </TitlesOfParts>
  <Company>VITAbyus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 dónde estamos y cómo seguimos</dc:title>
  <dc:subject>PptxGenJS Presentation</dc:subject>
  <dc:creator>Squad de análisis Vita</dc:creator>
  <cp:lastModifiedBy>jaime muñoz</cp:lastModifiedBy>
  <cp:revision>11</cp:revision>
  <dcterms:created xsi:type="dcterms:W3CDTF">2026-10-28T22:48:28Z</dcterms:created>
  <dcterms:modified xsi:type="dcterms:W3CDTF">2026-10-29T06:23:55Z</dcterms:modified>
</cp:coreProperties>
</file>